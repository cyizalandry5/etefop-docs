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1" d="100"/>
          <a:sy n="61" d="100"/>
        </p:scale>
        <p:origin x="61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0475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322576"/>
          </a:xfrm>
          <a:prstGeom prst="rect">
            <a:avLst/>
          </a:prstGeom>
        </p:spPr>
      </p:pic>
      <p:pic>
        <p:nvPicPr>
          <p:cNvPr id="4" name="Image 2" descr="preencoded.png"/>
          <p:cNvPicPr>
            <a:picLocks noChangeAspect="1"/>
          </p:cNvPicPr>
          <p:nvPr/>
        </p:nvPicPr>
        <p:blipFill>
          <a:blip r:embed="rId5"/>
          <a:stretch>
            <a:fillRect/>
          </a:stretch>
        </p:blipFill>
        <p:spPr>
          <a:xfrm>
            <a:off x="685800" y="5733288"/>
            <a:ext cx="13267944" cy="27432"/>
          </a:xfrm>
          <a:prstGeom prst="rect">
            <a:avLst/>
          </a:prstGeom>
        </p:spPr>
      </p:pic>
      <p:pic>
        <p:nvPicPr>
          <p:cNvPr id="5" name="Image 3" descr="preencoded.png"/>
          <p:cNvPicPr>
            <a:picLocks noChangeAspect="1"/>
          </p:cNvPicPr>
          <p:nvPr/>
        </p:nvPicPr>
        <p:blipFill>
          <a:blip r:embed="rId6"/>
          <a:stretch>
            <a:fillRect/>
          </a:stretch>
        </p:blipFill>
        <p:spPr>
          <a:xfrm>
            <a:off x="685800" y="5980176"/>
            <a:ext cx="393192" cy="548640"/>
          </a:xfrm>
          <a:prstGeom prst="rect">
            <a:avLst/>
          </a:prstGeom>
        </p:spPr>
      </p:pic>
      <p:sp>
        <p:nvSpPr>
          <p:cNvPr id="6" name="Text 0"/>
          <p:cNvSpPr/>
          <p:nvPr/>
        </p:nvSpPr>
        <p:spPr>
          <a:xfrm>
            <a:off x="1170432" y="5980176"/>
            <a:ext cx="2414016" cy="347472"/>
          </a:xfrm>
          <a:prstGeom prst="rect">
            <a:avLst/>
          </a:prstGeom>
          <a:noFill/>
          <a:ln/>
        </p:spPr>
        <p:txBody>
          <a:bodyPr wrap="none" lIns="0" tIns="0" rIns="0" bIns="0" rtlCol="0" anchor="ctr"/>
          <a:lstStyle/>
          <a:p>
            <a:pPr marL="0" indent="0" algn="l">
              <a:lnSpc>
                <a:spcPts val="2680"/>
              </a:lnSpc>
              <a:buNone/>
            </a:pPr>
            <a:r>
              <a:rPr lang="en-US" sz="1920" dirty="0">
                <a:solidFill>
                  <a:srgbClr val="000000"/>
                </a:solidFill>
                <a:latin typeface="思源黑体-思源黑体-Medium" pitchFamily="34" charset="0"/>
                <a:ea typeface="思源黑体-思源黑体-Medium" pitchFamily="34" charset="-122"/>
                <a:cs typeface="思源黑体-思源黑体-Medium" pitchFamily="34" charset="-120"/>
              </a:rPr>
              <a:t>Author: Cyiza Landry</a:t>
            </a:r>
            <a:endParaRPr lang="en-US" sz="1920" dirty="0"/>
          </a:p>
        </p:txBody>
      </p:sp>
      <p:sp>
        <p:nvSpPr>
          <p:cNvPr id="7" name="Text 1"/>
          <p:cNvSpPr/>
          <p:nvPr/>
        </p:nvSpPr>
        <p:spPr>
          <a:xfrm>
            <a:off x="1170432" y="6318504"/>
            <a:ext cx="2414016" cy="210312"/>
          </a:xfrm>
          <a:prstGeom prst="rect">
            <a:avLst/>
          </a:prstGeom>
          <a:noFill/>
          <a:ln/>
        </p:spPr>
        <p:txBody>
          <a:bodyPr wrap="none" lIns="0" tIns="0" rIns="0" bIns="0" rtlCol="0" anchor="ctr"/>
          <a:lstStyle/>
          <a:p>
            <a:pPr marL="0" indent="0" algn="l">
              <a:lnSpc>
                <a:spcPts val="1610"/>
              </a:lnSpc>
              <a:buNone/>
            </a:pPr>
            <a:r>
              <a:rPr lang="en-US" sz="1150" dirty="0" smtClean="0">
                <a:solidFill>
                  <a:srgbClr val="000000"/>
                </a:solidFill>
                <a:latin typeface="思源黑体-思源黑体-Medium" pitchFamily="34" charset="0"/>
                <a:ea typeface="思源黑体-思源黑体-Medium" pitchFamily="34" charset="-122"/>
                <a:cs typeface="思源黑体-思源黑体-Medium" pitchFamily="34" charset="-120"/>
              </a:rPr>
              <a:t>ETEFOP TSS</a:t>
            </a:r>
            <a:endParaRPr lang="en-US" sz="1150" dirty="0"/>
          </a:p>
        </p:txBody>
      </p:sp>
      <p:sp>
        <p:nvSpPr>
          <p:cNvPr id="8" name="Text 2"/>
          <p:cNvSpPr/>
          <p:nvPr/>
        </p:nvSpPr>
        <p:spPr>
          <a:xfrm>
            <a:off x="685800" y="3831336"/>
            <a:ext cx="13267944" cy="1682496"/>
          </a:xfrm>
          <a:prstGeom prst="rect">
            <a:avLst/>
          </a:prstGeom>
          <a:noFill/>
          <a:ln/>
        </p:spPr>
        <p:txBody>
          <a:bodyPr wrap="square" lIns="0" tIns="0" rIns="0" bIns="0" rtlCol="0" anchor="ctr"/>
          <a:lstStyle/>
          <a:p>
            <a:pPr marL="0" indent="0" algn="l">
              <a:lnSpc>
                <a:spcPts val="6620"/>
              </a:lnSpc>
              <a:buNone/>
            </a:pPr>
            <a:r>
              <a:rPr lang="en-US" sz="5290" dirty="0">
                <a:solidFill>
                  <a:srgbClr val="000000"/>
                </a:solidFill>
                <a:latin typeface="思源黑体-思源黑体-SemiBold" pitchFamily="34" charset="0"/>
                <a:ea typeface="思源黑体-思源黑体-SemiBold" pitchFamily="34" charset="-122"/>
                <a:cs typeface="思源黑体-思源黑体-SemiBold" pitchFamily="34" charset="-120"/>
              </a:rPr>
              <a:t>Data Preparation and Tooling for Machine Learning</a:t>
            </a:r>
            <a:endParaRPr lang="en-US" sz="529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704088" y="1581912"/>
            <a:ext cx="2871216" cy="1938528"/>
          </a:xfrm>
          <a:prstGeom prst="rect">
            <a:avLst/>
          </a:prstGeom>
        </p:spPr>
      </p:pic>
      <p:pic>
        <p:nvPicPr>
          <p:cNvPr id="5" name="Image 3" descr="preencoded.png"/>
          <p:cNvPicPr>
            <a:picLocks noChangeAspect="1"/>
          </p:cNvPicPr>
          <p:nvPr/>
        </p:nvPicPr>
        <p:blipFill>
          <a:blip r:embed="rId6"/>
          <a:stretch>
            <a:fillRect/>
          </a:stretch>
        </p:blipFill>
        <p:spPr>
          <a:xfrm>
            <a:off x="685800" y="6163056"/>
            <a:ext cx="13267944" cy="27432"/>
          </a:xfrm>
          <a:prstGeom prst="rect">
            <a:avLst/>
          </a:prstGeom>
        </p:spPr>
      </p:pic>
      <p:sp>
        <p:nvSpPr>
          <p:cNvPr id="6" name="Text 0"/>
          <p:cNvSpPr/>
          <p:nvPr/>
        </p:nvSpPr>
        <p:spPr>
          <a:xfrm>
            <a:off x="923544" y="1709928"/>
            <a:ext cx="2423160" cy="246888"/>
          </a:xfrm>
          <a:prstGeom prst="rect">
            <a:avLst/>
          </a:prstGeom>
          <a:noFill/>
          <a:ln/>
        </p:spPr>
        <p:txBody>
          <a:bodyPr wrap="none" lIns="0" tIns="0" rIns="0" bIns="0" rtlCol="0" anchor="ctr"/>
          <a:lstStyle/>
          <a:p>
            <a:pPr marL="0" indent="0" algn="ctr">
              <a:lnSpc>
                <a:spcPts val="1920"/>
              </a:lnSpc>
              <a:buNone/>
            </a:pPr>
            <a:endParaRPr lang="en-US" sz="1530" dirty="0"/>
          </a:p>
        </p:txBody>
      </p:sp>
      <p:sp>
        <p:nvSpPr>
          <p:cNvPr id="7" name="Text 1"/>
          <p:cNvSpPr/>
          <p:nvPr/>
        </p:nvSpPr>
        <p:spPr>
          <a:xfrm>
            <a:off x="923544" y="2130552"/>
            <a:ext cx="2423160" cy="841248"/>
          </a:xfrm>
          <a:prstGeom prst="rect">
            <a:avLst/>
          </a:prstGeom>
          <a:noFill/>
          <a:ln/>
        </p:spPr>
        <p:txBody>
          <a:bodyPr wrap="none" lIns="0" tIns="0" rIns="0" bIns="0" rtlCol="0" anchor="ctr"/>
          <a:lstStyle/>
          <a:p>
            <a:pPr marL="0" indent="0" algn="ctr">
              <a:lnSpc>
                <a:spcPts val="6620"/>
              </a:lnSpc>
              <a:buNone/>
            </a:pPr>
            <a:r>
              <a:rPr lang="en-US" sz="5290" dirty="0">
                <a:solidFill>
                  <a:srgbClr val="000000"/>
                </a:solidFill>
                <a:latin typeface="思源黑体-思源黑体-SemiBold" pitchFamily="34" charset="0"/>
                <a:ea typeface="思源黑体-思源黑体-SemiBold" pitchFamily="34" charset="-122"/>
                <a:cs typeface="思源黑体-思源黑体-SemiBold" pitchFamily="34" charset="-120"/>
              </a:rPr>
              <a:t>01</a:t>
            </a:r>
            <a:endParaRPr lang="en-US" sz="5290" dirty="0"/>
          </a:p>
        </p:txBody>
      </p:sp>
      <p:sp>
        <p:nvSpPr>
          <p:cNvPr id="8" name="Text 2"/>
          <p:cNvSpPr/>
          <p:nvPr/>
        </p:nvSpPr>
        <p:spPr>
          <a:xfrm>
            <a:off x="923544" y="3145536"/>
            <a:ext cx="2423160" cy="246888"/>
          </a:xfrm>
          <a:prstGeom prst="rect">
            <a:avLst/>
          </a:prstGeom>
          <a:noFill/>
          <a:ln/>
        </p:spPr>
        <p:txBody>
          <a:bodyPr wrap="none" lIns="0" tIns="0" rIns="0" bIns="0" rtlCol="0" anchor="ctr"/>
          <a:lstStyle/>
          <a:p>
            <a:pPr marL="0" indent="0" algn="ctr">
              <a:lnSpc>
                <a:spcPts val="1920"/>
              </a:lnSpc>
              <a:buNone/>
            </a:pPr>
            <a:endParaRPr lang="en-US" sz="1530" dirty="0"/>
          </a:p>
        </p:txBody>
      </p:sp>
      <p:sp>
        <p:nvSpPr>
          <p:cNvPr id="9" name="Text 3"/>
          <p:cNvSpPr/>
          <p:nvPr/>
        </p:nvSpPr>
        <p:spPr>
          <a:xfrm>
            <a:off x="685800" y="3941064"/>
            <a:ext cx="13267944" cy="246888"/>
          </a:xfrm>
          <a:prstGeom prst="rect">
            <a:avLst/>
          </a:prstGeom>
          <a:noFill/>
          <a:ln/>
        </p:spPr>
        <p:txBody>
          <a:bodyPr wrap="none" lIns="0" tIns="0" rIns="0" bIns="0" rtlCol="0" anchor="ctr"/>
          <a:lstStyle/>
          <a:p>
            <a:pPr marL="0" indent="0" algn="l">
              <a:lnSpc>
                <a:spcPts val="1920"/>
              </a:lnSpc>
              <a:buNone/>
            </a:pPr>
            <a:endParaRPr lang="en-US" sz="1530" dirty="0"/>
          </a:p>
        </p:txBody>
      </p:sp>
      <p:sp>
        <p:nvSpPr>
          <p:cNvPr id="10" name="Text 4"/>
          <p:cNvSpPr/>
          <p:nvPr/>
        </p:nvSpPr>
        <p:spPr>
          <a:xfrm>
            <a:off x="4160520" y="1581912"/>
            <a:ext cx="9784080" cy="246888"/>
          </a:xfrm>
          <a:prstGeom prst="rect">
            <a:avLst/>
          </a:prstGeom>
          <a:noFill/>
          <a:ln/>
        </p:spPr>
        <p:txBody>
          <a:bodyPr wrap="none" lIns="0" tIns="0" rIns="0" bIns="0" rtlCol="0" anchor="ctr"/>
          <a:lstStyle/>
          <a:p>
            <a:pPr marL="0" indent="0" algn="l">
              <a:lnSpc>
                <a:spcPts val="1920"/>
              </a:lnSpc>
              <a:buNone/>
            </a:pPr>
            <a:endParaRPr lang="en-US" sz="1530" dirty="0"/>
          </a:p>
        </p:txBody>
      </p:sp>
      <p:sp>
        <p:nvSpPr>
          <p:cNvPr id="11" name="Text 5"/>
          <p:cNvSpPr/>
          <p:nvPr/>
        </p:nvSpPr>
        <p:spPr>
          <a:xfrm>
            <a:off x="685800" y="4407408"/>
            <a:ext cx="13267944" cy="246888"/>
          </a:xfrm>
          <a:prstGeom prst="rect">
            <a:avLst/>
          </a:prstGeom>
          <a:noFill/>
          <a:ln/>
        </p:spPr>
        <p:txBody>
          <a:bodyPr wrap="none" lIns="0" tIns="0" rIns="0" bIns="0" rtlCol="0" anchor="ctr"/>
          <a:lstStyle/>
          <a:p>
            <a:pPr marL="0" indent="0" algn="l">
              <a:lnSpc>
                <a:spcPts val="1920"/>
              </a:lnSpc>
              <a:buNone/>
            </a:pPr>
            <a:endParaRPr lang="en-US" sz="1530" dirty="0"/>
          </a:p>
        </p:txBody>
      </p:sp>
      <p:sp>
        <p:nvSpPr>
          <p:cNvPr id="12" name="Text 6"/>
          <p:cNvSpPr/>
          <p:nvPr/>
        </p:nvSpPr>
        <p:spPr>
          <a:xfrm>
            <a:off x="685800" y="4873752"/>
            <a:ext cx="13267944" cy="246888"/>
          </a:xfrm>
          <a:prstGeom prst="rect">
            <a:avLst/>
          </a:prstGeom>
          <a:noFill/>
          <a:ln/>
        </p:spPr>
        <p:txBody>
          <a:bodyPr wrap="none" lIns="0" tIns="0" rIns="0" bIns="0" rtlCol="0" anchor="ctr"/>
          <a:lstStyle/>
          <a:p>
            <a:pPr marL="0" indent="0" algn="l">
              <a:lnSpc>
                <a:spcPts val="1920"/>
              </a:lnSpc>
              <a:buNone/>
            </a:pPr>
            <a:endParaRPr lang="en-US" sz="1530" dirty="0"/>
          </a:p>
        </p:txBody>
      </p:sp>
      <p:sp>
        <p:nvSpPr>
          <p:cNvPr id="13" name="Text 7"/>
          <p:cNvSpPr/>
          <p:nvPr/>
        </p:nvSpPr>
        <p:spPr>
          <a:xfrm>
            <a:off x="685800" y="5330952"/>
            <a:ext cx="13267944" cy="612648"/>
          </a:xfrm>
          <a:prstGeom prst="rect">
            <a:avLst/>
          </a:prstGeom>
          <a:noFill/>
          <a:ln/>
        </p:spPr>
        <p:txBody>
          <a:bodyPr wrap="none" lIns="0" tIns="0" rIns="0" bIns="0" rtlCol="0" anchor="ctr"/>
          <a:lstStyle/>
          <a:p>
            <a:pPr marL="0" indent="0" algn="r">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Answers for Question 3: File Preparation and Tooling</a:t>
            </a:r>
            <a:endParaRPr lang="en-US" sz="3840" dirty="0"/>
          </a:p>
        </p:txBody>
      </p:sp>
      <p:sp>
        <p:nvSpPr>
          <p:cNvPr id="14" name="Text 8"/>
          <p:cNvSpPr/>
          <p:nvPr/>
        </p:nvSpPr>
        <p:spPr>
          <a:xfrm>
            <a:off x="685800" y="6409944"/>
            <a:ext cx="13267944" cy="246888"/>
          </a:xfrm>
          <a:prstGeom prst="rect">
            <a:avLst/>
          </a:prstGeom>
          <a:noFill/>
          <a:ln/>
        </p:spPr>
        <p:txBody>
          <a:bodyPr wrap="non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 </a:t>
            </a:r>
            <a:endParaRPr lang="en-US" sz="15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85800" y="3776472"/>
          <a:ext cx="13249656" cy="3044952"/>
        </p:xfrm>
        <a:graphic>
          <a:graphicData uri="http://schemas.openxmlformats.org/drawingml/2006/table">
            <a:tbl>
              <a:tblPr/>
              <a:tblGrid>
                <a:gridCol w="4416552">
                  <a:extLst>
                    <a:ext uri="{9D8B030D-6E8A-4147-A177-3AD203B41FA5}">
                      <a16:colId xmlns:a16="http://schemas.microsoft.com/office/drawing/2014/main" val="20000"/>
                    </a:ext>
                  </a:extLst>
                </a:gridCol>
                <a:gridCol w="4416552">
                  <a:extLst>
                    <a:ext uri="{9D8B030D-6E8A-4147-A177-3AD203B41FA5}">
                      <a16:colId xmlns:a16="http://schemas.microsoft.com/office/drawing/2014/main" val="20001"/>
                    </a:ext>
                  </a:extLst>
                </a:gridCol>
                <a:gridCol w="4416552">
                  <a:extLst>
                    <a:ext uri="{9D8B030D-6E8A-4147-A177-3AD203B41FA5}">
                      <a16:colId xmlns:a16="http://schemas.microsoft.com/office/drawing/2014/main" val="20002"/>
                    </a:ext>
                  </a:extLst>
                </a:gridCol>
              </a:tblGrid>
              <a:tr h="530352">
                <a:tc>
                  <a:txBody>
                    <a:bodyPr/>
                    <a:lstStyle/>
                    <a:p>
                      <a:pPr marL="0" indent="0" algn="l">
                        <a:lnSpc>
                          <a:spcPts val="1920"/>
                        </a:lnSpc>
                        <a:buNone/>
                      </a:pPr>
                      <a:r>
                        <a:rPr lang="en-US" sz="1530" dirty="0">
                          <a:solidFill>
                            <a:srgbClr val="A6A6A6"/>
                          </a:solidFill>
                          <a:latin typeface="思源黑体-思源黑体-Medium" pitchFamily="34" charset="0"/>
                          <a:ea typeface="思源黑体-思源黑体-Medium" pitchFamily="34" charset="-122"/>
                          <a:cs typeface="思源黑体-思源黑体-Medium" pitchFamily="34" charset="-120"/>
                        </a:rPr>
                        <a:t>File Type</a:t>
                      </a:r>
                      <a:endParaRPr lang="en-US" sz="1200" dirty="0"/>
                    </a:p>
                  </a:txBody>
                  <a:tcPr marL="194310" marR="194310" marT="116840" marB="11684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000000"/>
                    </a:solidFill>
                  </a:tcPr>
                </a:tc>
                <a:tc>
                  <a:txBody>
                    <a:bodyPr/>
                    <a:lstStyle/>
                    <a:p>
                      <a:pPr marL="0" indent="0" algn="l">
                        <a:lnSpc>
                          <a:spcPts val="1920"/>
                        </a:lnSpc>
                        <a:buNone/>
                      </a:pPr>
                      <a:r>
                        <a:rPr lang="en-US" sz="1530" dirty="0">
                          <a:solidFill>
                            <a:srgbClr val="A6A6A6"/>
                          </a:solidFill>
                          <a:latin typeface="思源黑体-思源黑体-Medium" pitchFamily="34" charset="0"/>
                          <a:ea typeface="思源黑体-思源黑体-Medium" pitchFamily="34" charset="-122"/>
                          <a:cs typeface="思源黑体-思源黑体-Medium" pitchFamily="34" charset="-120"/>
                        </a:rPr>
                        <a:t>Suggested Format(s)</a:t>
                      </a:r>
                      <a:endParaRPr lang="en-US" sz="1200" dirty="0"/>
                    </a:p>
                  </a:txBody>
                  <a:tcPr marL="194310" marR="194310" marT="116840" marB="11684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000000"/>
                    </a:solidFill>
                  </a:tcPr>
                </a:tc>
                <a:tc>
                  <a:txBody>
                    <a:bodyPr/>
                    <a:lstStyle/>
                    <a:p>
                      <a:pPr marL="0" indent="0" algn="l">
                        <a:lnSpc>
                          <a:spcPts val="1920"/>
                        </a:lnSpc>
                        <a:buNone/>
                      </a:pPr>
                      <a:r>
                        <a:rPr lang="en-US" sz="1530" dirty="0">
                          <a:solidFill>
                            <a:srgbClr val="A6A6A6"/>
                          </a:solidFill>
                          <a:latin typeface="思源黑体-思源黑体-Medium" pitchFamily="34" charset="0"/>
                          <a:ea typeface="思源黑体-思源黑体-Medium" pitchFamily="34" charset="-122"/>
                          <a:cs typeface="思源黑体-思源黑体-Medium" pitchFamily="34" charset="-120"/>
                        </a:rPr>
                        <a:t>Justification (Why it's suitable)</a:t>
                      </a:r>
                      <a:endParaRPr lang="en-US" sz="1200" dirty="0"/>
                    </a:p>
                  </a:txBody>
                  <a:tcPr marL="194310" marR="194310" marT="116840" marB="11684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1014984">
                <a:tc>
                  <a:txBody>
                    <a:bodyP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Image Data (The actual pictures)</a:t>
                      </a:r>
                      <a:endParaRPr lang="en-US" sz="1200" dirty="0"/>
                    </a:p>
                  </a:txBody>
                  <a:tcPr marL="194310" marR="194310" marT="116840" marB="11684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E7EAEF"/>
                    </a:solidFill>
                  </a:tcPr>
                </a:tc>
                <a:tc>
                  <a:txBody>
                    <a:bodyP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JPEG or PNG</a:t>
                      </a:r>
                      <a:endParaRPr lang="en-US" sz="1200" dirty="0"/>
                    </a:p>
                  </a:txBody>
                  <a:tcPr marL="194310" marR="194310" marT="116840" marB="11684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E7EAEF"/>
                    </a:solidFill>
                  </a:tcPr>
                </a:tc>
                <a:tc>
                  <a:txBody>
                    <a:bodyP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These are standard, universal formats. JPEG is good for surveillance photos (small file size, fast loading).</a:t>
                      </a:r>
                      <a:endParaRPr lang="en-US" sz="1200" dirty="0"/>
                    </a:p>
                  </a:txBody>
                  <a:tcPr marL="194310" marR="194310" marT="116840" marB="11684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E7EAEF"/>
                    </a:solidFill>
                  </a:tcPr>
                </a:tc>
                <a:extLst>
                  <a:ext uri="{0D108BD9-81ED-4DB2-BD59-A6C34878D82A}">
                    <a16:rowId xmlns:a16="http://schemas.microsoft.com/office/drawing/2014/main" val="10001"/>
                  </a:ext>
                </a:extLst>
              </a:tr>
              <a:tr h="1499616">
                <a:tc>
                  <a:txBody>
                    <a:bodyP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Label Data (The list of what's in the pictures)</a:t>
                      </a:r>
                      <a:endParaRPr lang="en-US" sz="1200" dirty="0"/>
                    </a:p>
                  </a:txBody>
                  <a:tcPr marL="194310" marR="194310" marT="116840" marB="11684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E7EAEF"/>
                    </a:solidFill>
                  </a:tcPr>
                </a:tc>
                <a:tc>
                  <a:txBody>
                    <a:bodyP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CSV (Comma Separated Values)</a:t>
                      </a:r>
                      <a:endParaRPr lang="en-US" sz="1200" dirty="0"/>
                    </a:p>
                  </a:txBody>
                  <a:tcPr marL="194310" marR="194310" marT="116840" marB="11684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E7EAEF"/>
                    </a:solidFill>
                  </a:tcPr>
                </a:tc>
                <a:tc>
                  <a:txBody>
                    <a:bodyP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This format is a simple table (like a spreadsheet) that perfectly links each image's file path to its correct label ("Human" or "Pet"). It is easy for Python to read.</a:t>
                      </a:r>
                      <a:endParaRPr lang="en-US" sz="1200" dirty="0"/>
                    </a:p>
                  </a:txBody>
                  <a:tcPr marL="194310" marR="194310" marT="116840" marB="11684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E7EAEF"/>
                    </a:solidFill>
                  </a:tcPr>
                </a:tc>
                <a:extLst>
                  <a:ext uri="{0D108BD9-81ED-4DB2-BD59-A6C34878D82A}">
                    <a16:rowId xmlns:a16="http://schemas.microsoft.com/office/drawing/2014/main" val="10002"/>
                  </a:ext>
                </a:extLst>
              </a:tr>
            </a:tbl>
          </a:graphicData>
        </a:graphic>
      </p:graphicFrame>
      <p:sp>
        <p:nvSpPr>
          <p:cNvPr id="3" name="Text 0"/>
          <p:cNvSpPr/>
          <p:nvPr/>
        </p:nvSpPr>
        <p:spPr>
          <a:xfrm>
            <a:off x="685800" y="1417320"/>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Data File Creation (5 Marks)</a:t>
            </a:r>
            <a:endParaRPr lang="en-US" sz="3840" dirty="0"/>
          </a:p>
        </p:txBody>
      </p:sp>
      <p:sp>
        <p:nvSpPr>
          <p:cNvPr id="5" name="Text 1"/>
          <p:cNvSpPr/>
          <p:nvPr/>
        </p:nvSpPr>
        <p:spPr>
          <a:xfrm>
            <a:off x="685800" y="2249424"/>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Data Format Suggestion and Justification (2 Marks)</a:t>
            </a:r>
            <a:endParaRPr lang="en-US" sz="3840" dirty="0"/>
          </a:p>
        </p:txBody>
      </p:sp>
      <p:sp>
        <p:nvSpPr>
          <p:cNvPr id="6" name="Text 2"/>
          <p:cNvSpPr/>
          <p:nvPr/>
        </p:nvSpPr>
        <p:spPr>
          <a:xfrm>
            <a:off x="685800" y="3072384"/>
            <a:ext cx="13267944" cy="493776"/>
          </a:xfrm>
          <a:prstGeom prst="rect">
            <a:avLst/>
          </a:prstGeom>
          <a:noFill/>
          <a:ln/>
        </p:spPr>
        <p:txBody>
          <a:bodyPr wrap="squar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For an image classification project like the Smart Surveillance System, you need two types of files: the image files themselves, and a file containing their labels (metadata).</a:t>
            </a:r>
            <a:endParaRPr lang="en-US" sz="15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685800" y="2898648"/>
            <a:ext cx="4297680" cy="3877056"/>
          </a:xfrm>
          <a:prstGeom prst="rect">
            <a:avLst/>
          </a:prstGeom>
        </p:spPr>
      </p:pic>
      <p:pic>
        <p:nvPicPr>
          <p:cNvPr id="5" name="Image 3" descr="preencoded.png"/>
          <p:cNvPicPr>
            <a:picLocks noChangeAspect="1"/>
          </p:cNvPicPr>
          <p:nvPr/>
        </p:nvPicPr>
        <p:blipFill>
          <a:blip r:embed="rId5"/>
          <a:stretch>
            <a:fillRect/>
          </a:stretch>
        </p:blipFill>
        <p:spPr>
          <a:xfrm>
            <a:off x="5175504" y="2898648"/>
            <a:ext cx="4297680" cy="3877056"/>
          </a:xfrm>
          <a:prstGeom prst="rect">
            <a:avLst/>
          </a:prstGeom>
        </p:spPr>
      </p:pic>
      <p:pic>
        <p:nvPicPr>
          <p:cNvPr id="6" name="Image 4" descr="preencoded.png"/>
          <p:cNvPicPr>
            <a:picLocks noChangeAspect="1"/>
          </p:cNvPicPr>
          <p:nvPr/>
        </p:nvPicPr>
        <p:blipFill>
          <a:blip r:embed="rId6"/>
          <a:stretch>
            <a:fillRect/>
          </a:stretch>
        </p:blipFill>
        <p:spPr>
          <a:xfrm>
            <a:off x="9656064" y="2898648"/>
            <a:ext cx="4297680" cy="3877056"/>
          </a:xfrm>
          <a:prstGeom prst="rect">
            <a:avLst/>
          </a:prstGeom>
        </p:spPr>
      </p:pic>
      <p:pic>
        <p:nvPicPr>
          <p:cNvPr id="7" name="Image 5" descr="preencoded.png"/>
          <p:cNvPicPr>
            <a:picLocks noChangeAspect="1"/>
          </p:cNvPicPr>
          <p:nvPr/>
        </p:nvPicPr>
        <p:blipFill>
          <a:blip r:embed="rId7"/>
          <a:stretch>
            <a:fillRect/>
          </a:stretch>
        </p:blipFill>
        <p:spPr>
          <a:xfrm>
            <a:off x="914400" y="3712464"/>
            <a:ext cx="3849624" cy="2843784"/>
          </a:xfrm>
          <a:prstGeom prst="rect">
            <a:avLst/>
          </a:prstGeom>
        </p:spPr>
      </p:pic>
      <p:pic>
        <p:nvPicPr>
          <p:cNvPr id="8" name="Image 6" descr="preencoded.png"/>
          <p:cNvPicPr>
            <a:picLocks noChangeAspect="1"/>
          </p:cNvPicPr>
          <p:nvPr/>
        </p:nvPicPr>
        <p:blipFill>
          <a:blip r:embed="rId7"/>
          <a:stretch>
            <a:fillRect/>
          </a:stretch>
        </p:blipFill>
        <p:spPr>
          <a:xfrm>
            <a:off x="5394960" y="3712464"/>
            <a:ext cx="3849624" cy="2843784"/>
          </a:xfrm>
          <a:prstGeom prst="rect">
            <a:avLst/>
          </a:prstGeom>
        </p:spPr>
      </p:pic>
      <p:pic>
        <p:nvPicPr>
          <p:cNvPr id="9" name="Image 7" descr="preencoded.png"/>
          <p:cNvPicPr>
            <a:picLocks noChangeAspect="1"/>
          </p:cNvPicPr>
          <p:nvPr/>
        </p:nvPicPr>
        <p:blipFill>
          <a:blip r:embed="rId7"/>
          <a:stretch>
            <a:fillRect/>
          </a:stretch>
        </p:blipFill>
        <p:spPr>
          <a:xfrm>
            <a:off x="9884664" y="3712464"/>
            <a:ext cx="3849624" cy="2843784"/>
          </a:xfrm>
          <a:prstGeom prst="rect">
            <a:avLst/>
          </a:prstGeom>
        </p:spPr>
      </p:pic>
      <p:pic>
        <p:nvPicPr>
          <p:cNvPr id="10" name="Image 8" descr="preencoded.png"/>
          <p:cNvPicPr>
            <a:picLocks noChangeAspect="1"/>
          </p:cNvPicPr>
          <p:nvPr/>
        </p:nvPicPr>
        <p:blipFill>
          <a:blip r:embed="rId8"/>
          <a:stretch>
            <a:fillRect/>
          </a:stretch>
        </p:blipFill>
        <p:spPr>
          <a:xfrm>
            <a:off x="896112" y="3108960"/>
            <a:ext cx="420624" cy="420624"/>
          </a:xfrm>
          <a:prstGeom prst="rect">
            <a:avLst/>
          </a:prstGeom>
        </p:spPr>
      </p:pic>
      <p:pic>
        <p:nvPicPr>
          <p:cNvPr id="11" name="Image 9" descr="preencoded.png"/>
          <p:cNvPicPr>
            <a:picLocks noChangeAspect="1"/>
          </p:cNvPicPr>
          <p:nvPr/>
        </p:nvPicPr>
        <p:blipFill>
          <a:blip r:embed="rId8"/>
          <a:stretch>
            <a:fillRect/>
          </a:stretch>
        </p:blipFill>
        <p:spPr>
          <a:xfrm>
            <a:off x="5385816" y="3108960"/>
            <a:ext cx="420624" cy="420624"/>
          </a:xfrm>
          <a:prstGeom prst="rect">
            <a:avLst/>
          </a:prstGeom>
        </p:spPr>
      </p:pic>
      <p:pic>
        <p:nvPicPr>
          <p:cNvPr id="12" name="Image 10" descr="preencoded.png"/>
          <p:cNvPicPr>
            <a:picLocks noChangeAspect="1"/>
          </p:cNvPicPr>
          <p:nvPr/>
        </p:nvPicPr>
        <p:blipFill>
          <a:blip r:embed="rId8"/>
          <a:stretch>
            <a:fillRect/>
          </a:stretch>
        </p:blipFill>
        <p:spPr>
          <a:xfrm>
            <a:off x="9866376" y="3108960"/>
            <a:ext cx="420624" cy="420624"/>
          </a:xfrm>
          <a:prstGeom prst="rect">
            <a:avLst/>
          </a:prstGeom>
        </p:spPr>
      </p:pic>
      <p:sp>
        <p:nvSpPr>
          <p:cNvPr id="13" name="Text 0"/>
          <p:cNvSpPr/>
          <p:nvPr/>
        </p:nvSpPr>
        <p:spPr>
          <a:xfrm>
            <a:off x="685800" y="777240"/>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Data File Creation (5 Marks)</a:t>
            </a:r>
            <a:endParaRPr lang="en-US" sz="3840" dirty="0"/>
          </a:p>
        </p:txBody>
      </p:sp>
      <p:sp>
        <p:nvSpPr>
          <p:cNvPr id="14" name="Text 1"/>
          <p:cNvSpPr/>
          <p:nvPr/>
        </p:nvSpPr>
        <p:spPr>
          <a:xfrm>
            <a:off x="685800" y="1609344"/>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File Creation Process (3 Marks)</a:t>
            </a:r>
            <a:endParaRPr lang="en-US" sz="3840" dirty="0"/>
          </a:p>
        </p:txBody>
      </p:sp>
      <p:sp>
        <p:nvSpPr>
          <p:cNvPr id="15" name="Text 2"/>
          <p:cNvSpPr/>
          <p:nvPr/>
        </p:nvSpPr>
        <p:spPr>
          <a:xfrm>
            <a:off x="685800" y="2441448"/>
            <a:ext cx="13267944" cy="246888"/>
          </a:xfrm>
          <a:prstGeom prst="rect">
            <a:avLst/>
          </a:prstGeom>
          <a:noFill/>
          <a:ln/>
        </p:spPr>
        <p:txBody>
          <a:bodyPr wrap="non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The File Creation Process is the logical way you structure your data so the computer can easily find the images and their correct labels.</a:t>
            </a:r>
            <a:endParaRPr lang="en-US" sz="1530" dirty="0"/>
          </a:p>
        </p:txBody>
      </p:sp>
      <p:sp>
        <p:nvSpPr>
          <p:cNvPr id="16" name="Text 3"/>
          <p:cNvSpPr/>
          <p:nvPr/>
        </p:nvSpPr>
        <p:spPr>
          <a:xfrm>
            <a:off x="1033272" y="3145536"/>
            <a:ext cx="146304" cy="365760"/>
          </a:xfrm>
          <a:prstGeom prst="rect">
            <a:avLst/>
          </a:prstGeom>
          <a:noFill/>
          <a:ln/>
        </p:spPr>
        <p:txBody>
          <a:bodyPr wrap="none" lIns="0" tIns="0" rIns="0" bIns="0" rtlCol="0" anchor="ctr"/>
          <a:lstStyle/>
          <a:p>
            <a:pPr marL="0" indent="0" algn="l">
              <a:lnSpc>
                <a:spcPts val="2300"/>
              </a:lnSpc>
              <a:buNone/>
            </a:pPr>
            <a:r>
              <a:rPr lang="en-US" sz="1920" dirty="0">
                <a:solidFill>
                  <a:srgbClr val="454545"/>
                </a:solidFill>
                <a:latin typeface="思源黑体-思源黑体-Medium" pitchFamily="34" charset="0"/>
                <a:ea typeface="思源黑体-思源黑体-Medium" pitchFamily="34" charset="-122"/>
                <a:cs typeface="思源黑体-思源黑体-Medium" pitchFamily="34" charset="-120"/>
              </a:rPr>
              <a:t>1</a:t>
            </a:r>
            <a:endParaRPr lang="en-US" sz="1920" dirty="0"/>
          </a:p>
        </p:txBody>
      </p:sp>
      <p:sp>
        <p:nvSpPr>
          <p:cNvPr id="17" name="Text 4"/>
          <p:cNvSpPr/>
          <p:nvPr/>
        </p:nvSpPr>
        <p:spPr>
          <a:xfrm>
            <a:off x="914400" y="3712464"/>
            <a:ext cx="3849624" cy="612648"/>
          </a:xfrm>
          <a:prstGeom prst="rect">
            <a:avLst/>
          </a:prstGeom>
          <a:noFill/>
          <a:ln/>
        </p:spPr>
        <p:txBody>
          <a:bodyPr wrap="square" lIns="0" tIns="0" rIns="0" bIns="0" rtlCol="0" anchor="ctr"/>
          <a:lstStyle/>
          <a:p>
            <a:pPr marL="0" indent="0" algn="l">
              <a:lnSpc>
                <a:spcPts val="2400"/>
              </a:lnSpc>
              <a:buNone/>
            </a:pPr>
            <a:r>
              <a:rPr lang="en-US" sz="1920" dirty="0">
                <a:solidFill>
                  <a:srgbClr val="000000"/>
                </a:solidFill>
                <a:latin typeface="思源黑体-思源黑体-SemiBold" pitchFamily="34" charset="0"/>
                <a:ea typeface="思源黑体-思源黑体-SemiBold" pitchFamily="34" charset="-122"/>
                <a:cs typeface="思源黑体-思源黑体-SemiBold" pitchFamily="34" charset="-120"/>
              </a:rPr>
              <a:t>Directory Organization (Structure)</a:t>
            </a:r>
            <a:endParaRPr lang="en-US" sz="1920" dirty="0"/>
          </a:p>
        </p:txBody>
      </p:sp>
      <p:sp>
        <p:nvSpPr>
          <p:cNvPr id="18" name="Text 5"/>
          <p:cNvSpPr/>
          <p:nvPr/>
        </p:nvSpPr>
        <p:spPr>
          <a:xfrm>
            <a:off x="914400" y="4498848"/>
            <a:ext cx="3849624" cy="493776"/>
          </a:xfrm>
          <a:prstGeom prst="rect">
            <a:avLst/>
          </a:prstGeom>
          <a:noFill/>
          <a:ln/>
        </p:spPr>
        <p:txBody>
          <a:bodyPr wrap="squar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    • Create a main folder (e.g., surveillance_data).</a:t>
            </a:r>
            <a:endParaRPr lang="en-US" sz="1530" dirty="0"/>
          </a:p>
        </p:txBody>
      </p:sp>
      <p:sp>
        <p:nvSpPr>
          <p:cNvPr id="19" name="Text 6"/>
          <p:cNvSpPr/>
          <p:nvPr/>
        </p:nvSpPr>
        <p:spPr>
          <a:xfrm>
            <a:off x="914400" y="5157216"/>
            <a:ext cx="3849624" cy="493776"/>
          </a:xfrm>
          <a:prstGeom prst="rect">
            <a:avLst/>
          </a:prstGeom>
          <a:noFill/>
          <a:ln/>
        </p:spPr>
        <p:txBody>
          <a:bodyPr wrap="squar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    • Inside, create separate sub-folders for each category: Human and Pet.</a:t>
            </a:r>
            <a:endParaRPr lang="en-US" sz="1530" dirty="0"/>
          </a:p>
        </p:txBody>
      </p:sp>
      <p:sp>
        <p:nvSpPr>
          <p:cNvPr id="20" name="Text 7"/>
          <p:cNvSpPr/>
          <p:nvPr/>
        </p:nvSpPr>
        <p:spPr>
          <a:xfrm>
            <a:off x="914400" y="5824728"/>
            <a:ext cx="3849624" cy="731520"/>
          </a:xfrm>
          <a:prstGeom prst="rect">
            <a:avLst/>
          </a:prstGeom>
          <a:noFill/>
          <a:ln/>
        </p:spPr>
        <p:txBody>
          <a:bodyPr wrap="squar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    • Place all the pre-processed images into their corresponding, correctly labeled folders.</a:t>
            </a:r>
            <a:endParaRPr lang="en-US" sz="1530" dirty="0"/>
          </a:p>
        </p:txBody>
      </p:sp>
      <p:sp>
        <p:nvSpPr>
          <p:cNvPr id="21" name="Text 8"/>
          <p:cNvSpPr/>
          <p:nvPr/>
        </p:nvSpPr>
        <p:spPr>
          <a:xfrm>
            <a:off x="5522976" y="3145536"/>
            <a:ext cx="146304" cy="365760"/>
          </a:xfrm>
          <a:prstGeom prst="rect">
            <a:avLst/>
          </a:prstGeom>
          <a:noFill/>
          <a:ln/>
        </p:spPr>
        <p:txBody>
          <a:bodyPr wrap="none" lIns="0" tIns="0" rIns="0" bIns="0" rtlCol="0" anchor="ctr"/>
          <a:lstStyle/>
          <a:p>
            <a:pPr marL="0" indent="0" algn="l">
              <a:lnSpc>
                <a:spcPts val="2300"/>
              </a:lnSpc>
              <a:buNone/>
            </a:pPr>
            <a:r>
              <a:rPr lang="en-US" sz="1920" dirty="0">
                <a:solidFill>
                  <a:srgbClr val="454545"/>
                </a:solidFill>
                <a:latin typeface="思源黑体-思源黑体-Medium" pitchFamily="34" charset="0"/>
                <a:ea typeface="思源黑体-思源黑体-Medium" pitchFamily="34" charset="-122"/>
                <a:cs typeface="思源黑体-思源黑体-Medium" pitchFamily="34" charset="-120"/>
              </a:rPr>
              <a:t>2</a:t>
            </a:r>
            <a:endParaRPr lang="en-US" sz="1920" dirty="0"/>
          </a:p>
        </p:txBody>
      </p:sp>
      <p:sp>
        <p:nvSpPr>
          <p:cNvPr id="22" name="Text 9"/>
          <p:cNvSpPr/>
          <p:nvPr/>
        </p:nvSpPr>
        <p:spPr>
          <a:xfrm>
            <a:off x="5394960" y="3712464"/>
            <a:ext cx="3849624" cy="310896"/>
          </a:xfrm>
          <a:prstGeom prst="rect">
            <a:avLst/>
          </a:prstGeom>
          <a:noFill/>
          <a:ln/>
        </p:spPr>
        <p:txBody>
          <a:bodyPr wrap="none" lIns="0" tIns="0" rIns="0" bIns="0" rtlCol="0" anchor="ctr"/>
          <a:lstStyle/>
          <a:p>
            <a:pPr marL="0" indent="0" algn="l">
              <a:lnSpc>
                <a:spcPts val="2400"/>
              </a:lnSpc>
              <a:buNone/>
            </a:pPr>
            <a:r>
              <a:rPr lang="en-US" sz="1920" dirty="0">
                <a:solidFill>
                  <a:srgbClr val="000000"/>
                </a:solidFill>
                <a:latin typeface="思源黑体-思源黑体-SemiBold" pitchFamily="34" charset="0"/>
                <a:ea typeface="思源黑体-思源黑体-SemiBold" pitchFamily="34" charset="-122"/>
                <a:cs typeface="思源黑体-思源黑体-SemiBold" pitchFamily="34" charset="-120"/>
              </a:rPr>
              <a:t>Metadata File Generation</a:t>
            </a:r>
            <a:endParaRPr lang="en-US" sz="1920" dirty="0"/>
          </a:p>
        </p:txBody>
      </p:sp>
      <p:sp>
        <p:nvSpPr>
          <p:cNvPr id="23" name="Text 10"/>
          <p:cNvSpPr/>
          <p:nvPr/>
        </p:nvSpPr>
        <p:spPr>
          <a:xfrm>
            <a:off x="5394960" y="4187952"/>
            <a:ext cx="3849624" cy="493776"/>
          </a:xfrm>
          <a:prstGeom prst="rect">
            <a:avLst/>
          </a:prstGeom>
          <a:noFill/>
          <a:ln/>
        </p:spPr>
        <p:txBody>
          <a:bodyPr wrap="squar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    • Run a Python script (using the os library) that scans all these folders.</a:t>
            </a:r>
            <a:endParaRPr lang="en-US" sz="1530" dirty="0"/>
          </a:p>
        </p:txBody>
      </p:sp>
      <p:sp>
        <p:nvSpPr>
          <p:cNvPr id="24" name="Text 11"/>
          <p:cNvSpPr/>
          <p:nvPr/>
        </p:nvSpPr>
        <p:spPr>
          <a:xfrm>
            <a:off x="685800" y="6995160"/>
            <a:ext cx="13267944" cy="246888"/>
          </a:xfrm>
          <a:prstGeom prst="rect">
            <a:avLst/>
          </a:prstGeom>
          <a:noFill/>
          <a:ln/>
        </p:spPr>
        <p:txBody>
          <a:bodyPr wrap="non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file_path, label data/Human/img_001.jpg, Human data/Pet/img_005.jpg, Pet </a:t>
            </a:r>
            <a:endParaRPr lang="en-US" sz="1530" dirty="0"/>
          </a:p>
        </p:txBody>
      </p:sp>
      <p:sp>
        <p:nvSpPr>
          <p:cNvPr id="25" name="Text 12"/>
          <p:cNvSpPr/>
          <p:nvPr/>
        </p:nvSpPr>
        <p:spPr>
          <a:xfrm>
            <a:off x="5394960" y="4855464"/>
            <a:ext cx="3849624" cy="731520"/>
          </a:xfrm>
          <a:prstGeom prst="rect">
            <a:avLst/>
          </a:prstGeom>
          <a:noFill/>
          <a:ln/>
        </p:spPr>
        <p:txBody>
          <a:bodyPr wrap="squar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    • The script creates a CSV file that acts as an index or map for the model, listing every image file path and its category.</a:t>
            </a:r>
            <a:endParaRPr lang="en-US" sz="1530" dirty="0"/>
          </a:p>
        </p:txBody>
      </p:sp>
      <p:sp>
        <p:nvSpPr>
          <p:cNvPr id="26" name="Text 13"/>
          <p:cNvSpPr/>
          <p:nvPr/>
        </p:nvSpPr>
        <p:spPr>
          <a:xfrm>
            <a:off x="10012680" y="3145536"/>
            <a:ext cx="146304" cy="365760"/>
          </a:xfrm>
          <a:prstGeom prst="rect">
            <a:avLst/>
          </a:prstGeom>
          <a:noFill/>
          <a:ln/>
        </p:spPr>
        <p:txBody>
          <a:bodyPr wrap="none" lIns="0" tIns="0" rIns="0" bIns="0" rtlCol="0" anchor="ctr"/>
          <a:lstStyle/>
          <a:p>
            <a:pPr marL="0" indent="0" algn="l">
              <a:lnSpc>
                <a:spcPts val="2300"/>
              </a:lnSpc>
              <a:buNone/>
            </a:pPr>
            <a:r>
              <a:rPr lang="en-US" sz="1920" dirty="0">
                <a:solidFill>
                  <a:srgbClr val="454545"/>
                </a:solidFill>
                <a:latin typeface="思源黑体-思源黑体-Medium" pitchFamily="34" charset="0"/>
                <a:ea typeface="思源黑体-思源黑体-Medium" pitchFamily="34" charset="-122"/>
                <a:cs typeface="思源黑体-思源黑体-Medium" pitchFamily="34" charset="-120"/>
              </a:rPr>
              <a:t>3</a:t>
            </a:r>
            <a:endParaRPr lang="en-US" sz="1920" dirty="0"/>
          </a:p>
        </p:txBody>
      </p:sp>
      <p:sp>
        <p:nvSpPr>
          <p:cNvPr id="27" name="Text 14"/>
          <p:cNvSpPr/>
          <p:nvPr/>
        </p:nvSpPr>
        <p:spPr>
          <a:xfrm>
            <a:off x="9884664" y="3712464"/>
            <a:ext cx="3849624" cy="310896"/>
          </a:xfrm>
          <a:prstGeom prst="rect">
            <a:avLst/>
          </a:prstGeom>
          <a:noFill/>
          <a:ln/>
        </p:spPr>
        <p:txBody>
          <a:bodyPr wrap="none" lIns="0" tIns="0" rIns="0" bIns="0" rtlCol="0" anchor="ctr"/>
          <a:lstStyle/>
          <a:p>
            <a:pPr marL="0" indent="0" algn="l">
              <a:lnSpc>
                <a:spcPts val="2400"/>
              </a:lnSpc>
              <a:buNone/>
            </a:pPr>
            <a:r>
              <a:rPr lang="en-US" sz="1920" dirty="0">
                <a:solidFill>
                  <a:srgbClr val="000000"/>
                </a:solidFill>
                <a:latin typeface="思源黑体-思源黑体-SemiBold" pitchFamily="34" charset="0"/>
                <a:ea typeface="思源黑体-思源黑体-SemiBold" pitchFamily="34" charset="-122"/>
                <a:cs typeface="思源黑体-思源黑体-SemiBold" pitchFamily="34" charset="-120"/>
              </a:rPr>
              <a:t>Example CSV Entry</a:t>
            </a:r>
            <a:endParaRPr lang="en-US" sz="19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3977640"/>
          <a:ext cx="13249656" cy="2560320"/>
        </p:xfrm>
        <a:graphic>
          <a:graphicData uri="http://schemas.openxmlformats.org/drawingml/2006/table">
            <a:tbl>
              <a:tblPr/>
              <a:tblGrid>
                <a:gridCol w="4416552">
                  <a:extLst>
                    <a:ext uri="{9D8B030D-6E8A-4147-A177-3AD203B41FA5}">
                      <a16:colId xmlns:a16="http://schemas.microsoft.com/office/drawing/2014/main" val="20000"/>
                    </a:ext>
                  </a:extLst>
                </a:gridCol>
                <a:gridCol w="4416552">
                  <a:extLst>
                    <a:ext uri="{9D8B030D-6E8A-4147-A177-3AD203B41FA5}">
                      <a16:colId xmlns:a16="http://schemas.microsoft.com/office/drawing/2014/main" val="20001"/>
                    </a:ext>
                  </a:extLst>
                </a:gridCol>
                <a:gridCol w="4416552">
                  <a:extLst>
                    <a:ext uri="{9D8B030D-6E8A-4147-A177-3AD203B41FA5}">
                      <a16:colId xmlns:a16="http://schemas.microsoft.com/office/drawing/2014/main" val="20002"/>
                    </a:ext>
                  </a:extLst>
                </a:gridCol>
              </a:tblGrid>
              <a:tr h="530352">
                <a:tc>
                  <a:txBody>
                    <a:bodyPr/>
                    <a:lstStyle/>
                    <a:p>
                      <a:pPr marL="0" indent="0" algn="l">
                        <a:lnSpc>
                          <a:spcPts val="1920"/>
                        </a:lnSpc>
                        <a:buNone/>
                      </a:pPr>
                      <a:r>
                        <a:rPr lang="en-US" sz="1530" dirty="0">
                          <a:solidFill>
                            <a:srgbClr val="A6A6A6"/>
                          </a:solidFill>
                          <a:latin typeface="思源黑体-思源黑体-Medium" pitchFamily="34" charset="0"/>
                          <a:ea typeface="思源黑体-思源黑体-Medium" pitchFamily="34" charset="-122"/>
                          <a:cs typeface="思源黑体-思源黑体-Medium" pitchFamily="34" charset="-120"/>
                        </a:rPr>
                        <a:t>Item</a:t>
                      </a:r>
                      <a:endParaRPr lang="en-US" sz="1200" dirty="0"/>
                    </a:p>
                  </a:txBody>
                  <a:tcPr marL="194310" marR="194310" marT="116840" marB="11684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000000"/>
                    </a:solidFill>
                  </a:tcPr>
                </a:tc>
                <a:tc>
                  <a:txBody>
                    <a:bodyPr/>
                    <a:lstStyle/>
                    <a:p>
                      <a:pPr marL="0" indent="0" algn="l">
                        <a:lnSpc>
                          <a:spcPts val="1920"/>
                        </a:lnSpc>
                        <a:buNone/>
                      </a:pPr>
                      <a:r>
                        <a:rPr lang="en-US" sz="1530" dirty="0">
                          <a:solidFill>
                            <a:srgbClr val="A6A6A6"/>
                          </a:solidFill>
                          <a:latin typeface="思源黑体-思源黑体-Medium" pitchFamily="34" charset="0"/>
                          <a:ea typeface="思源黑体-思源黑体-Medium" pitchFamily="34" charset="-122"/>
                          <a:cs typeface="思源黑体-思源黑体-Medium" pitchFamily="34" charset="-120"/>
                        </a:rPr>
                        <a:t>Suggestion</a:t>
                      </a:r>
                      <a:endParaRPr lang="en-US" sz="1200" dirty="0"/>
                    </a:p>
                  </a:txBody>
                  <a:tcPr marL="194310" marR="194310" marT="116840" marB="11684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000000"/>
                    </a:solidFill>
                  </a:tcPr>
                </a:tc>
                <a:tc>
                  <a:txBody>
                    <a:bodyPr/>
                    <a:lstStyle/>
                    <a:p>
                      <a:pPr marL="0" indent="0" algn="l">
                        <a:lnSpc>
                          <a:spcPts val="1920"/>
                        </a:lnSpc>
                        <a:buNone/>
                      </a:pPr>
                      <a:r>
                        <a:rPr lang="en-US" sz="1530" dirty="0">
                          <a:solidFill>
                            <a:srgbClr val="A6A6A6"/>
                          </a:solidFill>
                          <a:latin typeface="思源黑体-思源黑体-Medium" pitchFamily="34" charset="0"/>
                          <a:ea typeface="思源黑体-思源黑体-Medium" pitchFamily="34" charset="-122"/>
                          <a:cs typeface="思源黑体-思源黑体-Medium" pitchFamily="34" charset="-120"/>
                        </a:rPr>
                        <a:t>Description</a:t>
                      </a:r>
                      <a:endParaRPr lang="en-US" sz="1200" dirty="0"/>
                    </a:p>
                  </a:txBody>
                  <a:tcPr marL="194310" marR="194310" marT="116840" marB="11684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768096">
                <a:tc>
                  <a:txBody>
                    <a:bodyP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Environment Software (IDE)</a:t>
                      </a:r>
                      <a:endParaRPr lang="en-US" sz="1200" dirty="0"/>
                    </a:p>
                  </a:txBody>
                  <a:tcPr marL="194310" marR="194310" marT="116840" marB="11684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E7EAEF"/>
                    </a:solidFill>
                  </a:tcPr>
                </a:tc>
                <a:tc>
                  <a:txBody>
                    <a:bodyP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Visual Studio Code (VS Code) or Anaconda (e.g., Jupyter Notebook)</a:t>
                      </a:r>
                      <a:endParaRPr lang="en-US" sz="1200" dirty="0"/>
                    </a:p>
                  </a:txBody>
                  <a:tcPr marL="194310" marR="194310" marT="116840" marB="11684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E7EAEF"/>
                    </a:solidFill>
                  </a:tcPr>
                </a:tc>
                <a:tc>
                  <a:txBody>
                    <a:bodyP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These provide a powerful space to write and run your Python code.</a:t>
                      </a:r>
                      <a:endParaRPr lang="en-US" sz="1200" dirty="0"/>
                    </a:p>
                  </a:txBody>
                  <a:tcPr marL="194310" marR="194310" marT="116840" marB="11684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E7EAEF"/>
                    </a:solidFill>
                  </a:tcPr>
                </a:tc>
                <a:extLst>
                  <a:ext uri="{0D108BD9-81ED-4DB2-BD59-A6C34878D82A}">
                    <a16:rowId xmlns:a16="http://schemas.microsoft.com/office/drawing/2014/main" val="10001"/>
                  </a:ext>
                </a:extLst>
              </a:tr>
              <a:tr h="1261872">
                <a:tc>
                  <a:txBody>
                    <a:bodyP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DATASET Importing Technique</a:t>
                      </a:r>
                      <a:endParaRPr lang="en-US" sz="1200" dirty="0"/>
                    </a:p>
                  </a:txBody>
                  <a:tcPr marL="194310" marR="194310" marT="116840" marB="11684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E7EAEF"/>
                    </a:solidFill>
                  </a:tcPr>
                </a:tc>
                <a:tc>
                  <a:txBody>
                    <a:bodyP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A Python function call like pd.read_csv()</a:t>
                      </a:r>
                      <a:endParaRPr lang="en-US" sz="1200" dirty="0"/>
                    </a:p>
                  </a:txBody>
                  <a:tcPr marL="194310" marR="194310" marT="116840" marB="11684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E7EAEF"/>
                    </a:solidFill>
                  </a:tcPr>
                </a:tc>
                <a:tc>
                  <a:txBody>
                    <a:bodyP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This function (from the Pandas library) is used to load the organized CSV metadata file into the computer's memory, turning it into a structured table called a DataFrame.</a:t>
                      </a:r>
                      <a:endParaRPr lang="en-US" sz="1200" dirty="0"/>
                    </a:p>
                  </a:txBody>
                  <a:tcPr marL="194310" marR="194310" marT="116840" marB="11684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E7EAEF"/>
                    </a:solidFill>
                  </a:tcPr>
                </a:tc>
                <a:extLst>
                  <a:ext uri="{0D108BD9-81ED-4DB2-BD59-A6C34878D82A}">
                    <a16:rowId xmlns:a16="http://schemas.microsoft.com/office/drawing/2014/main" val="10002"/>
                  </a:ext>
                </a:extLst>
              </a:tr>
            </a:tbl>
          </a:graphicData>
        </a:graphic>
      </p:graphicFrame>
      <p:sp>
        <p:nvSpPr>
          <p:cNvPr id="4" name="Text 0"/>
          <p:cNvSpPr/>
          <p:nvPr/>
        </p:nvSpPr>
        <p:spPr>
          <a:xfrm>
            <a:off x="685800" y="1709928"/>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Dataset Import (5 Marks)</a:t>
            </a:r>
            <a:endParaRPr lang="en-US" sz="3840" dirty="0"/>
          </a:p>
        </p:txBody>
      </p:sp>
      <p:sp>
        <p:nvSpPr>
          <p:cNvPr id="5" name="Text 1"/>
          <p:cNvSpPr/>
          <p:nvPr/>
        </p:nvSpPr>
        <p:spPr>
          <a:xfrm>
            <a:off x="685800" y="2532888"/>
            <a:ext cx="13267944" cy="1225296"/>
          </a:xfrm>
          <a:prstGeom prst="rect">
            <a:avLst/>
          </a:prstGeom>
          <a:noFill/>
          <a:ln/>
        </p:spPr>
        <p:txBody>
          <a:bodyPr wrap="square" lIns="0" tIns="0" rIns="0" bIns="0" rtlCol="0" anchor="ctr"/>
          <a:lstStyle/>
          <a:p>
            <a:pPr marL="0" indent="0" algn="l">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Environment Software and Importing Technique (2 Marks)</a:t>
            </a:r>
            <a:endParaRPr lang="en-US" sz="38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656064" y="0"/>
            <a:ext cx="4974336" cy="8238744"/>
          </a:xfrm>
          <a:prstGeom prst="rect">
            <a:avLst/>
          </a:prstGeom>
        </p:spPr>
      </p:pic>
      <p:pic>
        <p:nvPicPr>
          <p:cNvPr id="4" name="Image 2" descr="preencoded.png"/>
          <p:cNvPicPr>
            <a:picLocks noChangeAspect="1"/>
          </p:cNvPicPr>
          <p:nvPr/>
        </p:nvPicPr>
        <p:blipFill>
          <a:blip r:embed="rId5"/>
          <a:stretch>
            <a:fillRect/>
          </a:stretch>
        </p:blipFill>
        <p:spPr>
          <a:xfrm>
            <a:off x="704088" y="2971800"/>
            <a:ext cx="8266176" cy="1691640"/>
          </a:xfrm>
          <a:prstGeom prst="rect">
            <a:avLst/>
          </a:prstGeom>
        </p:spPr>
      </p:pic>
      <p:pic>
        <p:nvPicPr>
          <p:cNvPr id="5" name="Image 3" descr="preencoded.png"/>
          <p:cNvPicPr>
            <a:picLocks noChangeAspect="1"/>
          </p:cNvPicPr>
          <p:nvPr/>
        </p:nvPicPr>
        <p:blipFill>
          <a:blip r:embed="rId6"/>
          <a:stretch>
            <a:fillRect/>
          </a:stretch>
        </p:blipFill>
        <p:spPr>
          <a:xfrm>
            <a:off x="704088" y="4873752"/>
            <a:ext cx="8266176" cy="1911096"/>
          </a:xfrm>
          <a:prstGeom prst="rect">
            <a:avLst/>
          </a:prstGeom>
        </p:spPr>
      </p:pic>
      <p:pic>
        <p:nvPicPr>
          <p:cNvPr id="6" name="Image 4" descr="preencoded.png"/>
          <p:cNvPicPr>
            <a:picLocks noChangeAspect="1"/>
          </p:cNvPicPr>
          <p:nvPr/>
        </p:nvPicPr>
        <p:blipFill>
          <a:blip r:embed="rId7"/>
          <a:stretch>
            <a:fillRect/>
          </a:stretch>
        </p:blipFill>
        <p:spPr>
          <a:xfrm>
            <a:off x="685800" y="3264408"/>
            <a:ext cx="8293608" cy="1417320"/>
          </a:xfrm>
          <a:prstGeom prst="rect">
            <a:avLst/>
          </a:prstGeom>
        </p:spPr>
      </p:pic>
      <p:pic>
        <p:nvPicPr>
          <p:cNvPr id="7" name="Image 5" descr="preencoded.png"/>
          <p:cNvPicPr>
            <a:picLocks noChangeAspect="1"/>
          </p:cNvPicPr>
          <p:nvPr/>
        </p:nvPicPr>
        <p:blipFill>
          <a:blip r:embed="rId8"/>
          <a:stretch>
            <a:fillRect/>
          </a:stretch>
        </p:blipFill>
        <p:spPr>
          <a:xfrm>
            <a:off x="685800" y="5166360"/>
            <a:ext cx="8293608" cy="1636776"/>
          </a:xfrm>
          <a:prstGeom prst="rect">
            <a:avLst/>
          </a:prstGeom>
        </p:spPr>
      </p:pic>
      <p:pic>
        <p:nvPicPr>
          <p:cNvPr id="8" name="Image 6" descr="preencoded.png"/>
          <p:cNvPicPr>
            <a:picLocks noChangeAspect="1"/>
          </p:cNvPicPr>
          <p:nvPr/>
        </p:nvPicPr>
        <p:blipFill>
          <a:blip r:embed="rId9"/>
          <a:stretch>
            <a:fillRect/>
          </a:stretch>
        </p:blipFill>
        <p:spPr>
          <a:xfrm>
            <a:off x="685800" y="3182112"/>
            <a:ext cx="8293608" cy="118872"/>
          </a:xfrm>
          <a:prstGeom prst="rect">
            <a:avLst/>
          </a:prstGeom>
        </p:spPr>
      </p:pic>
      <p:pic>
        <p:nvPicPr>
          <p:cNvPr id="9" name="Image 7" descr="preencoded.png"/>
          <p:cNvPicPr>
            <a:picLocks noChangeAspect="1"/>
          </p:cNvPicPr>
          <p:nvPr/>
        </p:nvPicPr>
        <p:blipFill>
          <a:blip r:embed="rId9"/>
          <a:stretch>
            <a:fillRect/>
          </a:stretch>
        </p:blipFill>
        <p:spPr>
          <a:xfrm>
            <a:off x="685800" y="5074920"/>
            <a:ext cx="8293608" cy="118872"/>
          </a:xfrm>
          <a:prstGeom prst="rect">
            <a:avLst/>
          </a:prstGeom>
        </p:spPr>
      </p:pic>
      <p:pic>
        <p:nvPicPr>
          <p:cNvPr id="10" name="Image 8" descr="preencoded.png"/>
          <p:cNvPicPr>
            <a:picLocks noChangeAspect="1"/>
          </p:cNvPicPr>
          <p:nvPr/>
        </p:nvPicPr>
        <p:blipFill>
          <a:blip r:embed="rId10"/>
          <a:stretch>
            <a:fillRect/>
          </a:stretch>
        </p:blipFill>
        <p:spPr>
          <a:xfrm>
            <a:off x="4572000" y="2971800"/>
            <a:ext cx="530352" cy="530352"/>
          </a:xfrm>
          <a:prstGeom prst="rect">
            <a:avLst/>
          </a:prstGeom>
        </p:spPr>
      </p:pic>
      <p:pic>
        <p:nvPicPr>
          <p:cNvPr id="11" name="Image 9" descr="preencoded.png"/>
          <p:cNvPicPr>
            <a:picLocks noChangeAspect="1"/>
          </p:cNvPicPr>
          <p:nvPr/>
        </p:nvPicPr>
        <p:blipFill>
          <a:blip r:embed="rId10"/>
          <a:stretch>
            <a:fillRect/>
          </a:stretch>
        </p:blipFill>
        <p:spPr>
          <a:xfrm>
            <a:off x="4572000" y="4873752"/>
            <a:ext cx="530352" cy="530352"/>
          </a:xfrm>
          <a:prstGeom prst="rect">
            <a:avLst/>
          </a:prstGeom>
        </p:spPr>
      </p:pic>
      <p:sp>
        <p:nvSpPr>
          <p:cNvPr id="12" name="Text 0"/>
          <p:cNvSpPr/>
          <p:nvPr/>
        </p:nvSpPr>
        <p:spPr>
          <a:xfrm>
            <a:off x="685800" y="832104"/>
            <a:ext cx="8293608" cy="557784"/>
          </a:xfrm>
          <a:prstGeom prst="rect">
            <a:avLst/>
          </a:prstGeom>
          <a:noFill/>
          <a:ln/>
        </p:spPr>
        <p:txBody>
          <a:bodyPr wrap="none" lIns="0" tIns="0" rIns="0" bIns="0" rtlCol="0" anchor="ctr"/>
          <a:lstStyle/>
          <a:p>
            <a:pPr marL="0" indent="0" algn="l">
              <a:lnSpc>
                <a:spcPts val="4310"/>
              </a:lnSpc>
              <a:buNone/>
            </a:pPr>
            <a:r>
              <a:rPr lang="en-US" sz="3450" dirty="0">
                <a:solidFill>
                  <a:srgbClr val="000000"/>
                </a:solidFill>
                <a:latin typeface="思源黑体-思源黑体-SemiBold" pitchFamily="34" charset="0"/>
                <a:ea typeface="思源黑体-思源黑体-SemiBold" pitchFamily="34" charset="-122"/>
                <a:cs typeface="思源黑体-思源黑体-SemiBold" pitchFamily="34" charset="-120"/>
              </a:rPr>
              <a:t>Dataset Import (5 Marks)</a:t>
            </a:r>
            <a:endParaRPr lang="en-US" sz="3450" dirty="0"/>
          </a:p>
        </p:txBody>
      </p:sp>
      <p:sp>
        <p:nvSpPr>
          <p:cNvPr id="13" name="Text 1"/>
          <p:cNvSpPr/>
          <p:nvPr/>
        </p:nvSpPr>
        <p:spPr>
          <a:xfrm>
            <a:off x="685800" y="1581912"/>
            <a:ext cx="8293608" cy="557784"/>
          </a:xfrm>
          <a:prstGeom prst="rect">
            <a:avLst/>
          </a:prstGeom>
          <a:noFill/>
          <a:ln/>
        </p:spPr>
        <p:txBody>
          <a:bodyPr wrap="none" lIns="0" tIns="0" rIns="0" bIns="0" rtlCol="0" anchor="ctr"/>
          <a:lstStyle/>
          <a:p>
            <a:pPr marL="0" indent="0" algn="l">
              <a:lnSpc>
                <a:spcPts val="4310"/>
              </a:lnSpc>
              <a:buNone/>
            </a:pPr>
            <a:r>
              <a:rPr lang="en-US" sz="3450" dirty="0">
                <a:solidFill>
                  <a:srgbClr val="000000"/>
                </a:solidFill>
                <a:latin typeface="思源黑体-思源黑体-SemiBold" pitchFamily="34" charset="0"/>
                <a:ea typeface="思源黑体-思源黑体-SemiBold" pitchFamily="34" charset="-122"/>
                <a:cs typeface="思源黑体-思源黑体-SemiBold" pitchFamily="34" charset="-120"/>
              </a:rPr>
              <a:t>Two Main Types of Dataset (1 Mark)</a:t>
            </a:r>
            <a:endParaRPr lang="en-US" sz="3450" dirty="0"/>
          </a:p>
        </p:txBody>
      </p:sp>
      <p:sp>
        <p:nvSpPr>
          <p:cNvPr id="14" name="Text 2"/>
          <p:cNvSpPr/>
          <p:nvPr/>
        </p:nvSpPr>
        <p:spPr>
          <a:xfrm>
            <a:off x="685800" y="2322576"/>
            <a:ext cx="8293608" cy="438912"/>
          </a:xfrm>
          <a:prstGeom prst="rect">
            <a:avLst/>
          </a:prstGeom>
          <a:noFill/>
          <a:ln/>
        </p:spPr>
        <p:txBody>
          <a:bodyPr wrap="square" lIns="0" tIns="0" rIns="0" bIns="0" rtlCol="0" anchor="ctr"/>
          <a:lstStyle/>
          <a:p>
            <a:pPr marL="0" indent="0" algn="l">
              <a:lnSpc>
                <a:spcPts val="1720"/>
              </a:lnSpc>
              <a:buNone/>
            </a:pPr>
            <a:r>
              <a:rPr lang="en-US" sz="1380" dirty="0">
                <a:solidFill>
                  <a:srgbClr val="000000"/>
                </a:solidFill>
                <a:latin typeface="思源黑体-思源黑体-Medium" pitchFamily="34" charset="0"/>
                <a:ea typeface="思源黑体-思源黑体-Medium" pitchFamily="34" charset="-122"/>
                <a:cs typeface="思源黑体-思源黑体-Medium" pitchFamily="34" charset="-120"/>
              </a:rPr>
              <a:t>When preparing to train, you must split your data into two main sets to ensure you can test the model fairly:</a:t>
            </a:r>
            <a:endParaRPr lang="en-US" sz="1380" dirty="0"/>
          </a:p>
        </p:txBody>
      </p:sp>
      <p:sp>
        <p:nvSpPr>
          <p:cNvPr id="15" name="Text 3"/>
          <p:cNvSpPr/>
          <p:nvPr/>
        </p:nvSpPr>
        <p:spPr>
          <a:xfrm>
            <a:off x="896112" y="3648456"/>
            <a:ext cx="7882128" cy="274320"/>
          </a:xfrm>
          <a:prstGeom prst="rect">
            <a:avLst/>
          </a:prstGeom>
          <a:noFill/>
          <a:ln/>
        </p:spPr>
        <p:txBody>
          <a:bodyPr wrap="none" lIns="0" tIns="0" rIns="0" bIns="0" rtlCol="0" anchor="ctr"/>
          <a:lstStyle/>
          <a:p>
            <a:pPr marL="0" indent="0" algn="l">
              <a:lnSpc>
                <a:spcPts val="2150"/>
              </a:lnSpc>
              <a:buNone/>
            </a:pPr>
            <a:r>
              <a:rPr lang="en-US" sz="1720" dirty="0">
                <a:solidFill>
                  <a:srgbClr val="000000"/>
                </a:solidFill>
                <a:latin typeface="思源黑体-思源黑体-SemiBold" pitchFamily="34" charset="0"/>
                <a:ea typeface="思源黑体-思源黑体-SemiBold" pitchFamily="34" charset="-122"/>
                <a:cs typeface="思源黑体-思源黑体-SemiBold" pitchFamily="34" charset="-120"/>
              </a:rPr>
              <a:t>Training Dataset</a:t>
            </a:r>
            <a:endParaRPr lang="en-US" sz="1720" dirty="0"/>
          </a:p>
        </p:txBody>
      </p:sp>
      <p:sp>
        <p:nvSpPr>
          <p:cNvPr id="16" name="Text 4"/>
          <p:cNvSpPr/>
          <p:nvPr/>
        </p:nvSpPr>
        <p:spPr>
          <a:xfrm>
            <a:off x="896112" y="4078224"/>
            <a:ext cx="7882128" cy="219456"/>
          </a:xfrm>
          <a:prstGeom prst="rect">
            <a:avLst/>
          </a:prstGeom>
          <a:noFill/>
          <a:ln/>
        </p:spPr>
        <p:txBody>
          <a:bodyPr wrap="none" lIns="0" tIns="0" rIns="0" bIns="0" rtlCol="0" anchor="ctr"/>
          <a:lstStyle/>
          <a:p>
            <a:pPr marL="0" indent="0" algn="l">
              <a:lnSpc>
                <a:spcPts val="1720"/>
              </a:lnSpc>
              <a:buNone/>
            </a:pPr>
            <a:r>
              <a:rPr lang="en-US" sz="1380" dirty="0">
                <a:solidFill>
                  <a:srgbClr val="000000"/>
                </a:solidFill>
                <a:latin typeface="思源黑体-思源黑体-Medium" pitchFamily="34" charset="0"/>
                <a:ea typeface="思源黑体-思源黑体-Medium" pitchFamily="34" charset="-122"/>
                <a:cs typeface="思源黑体-思源黑体-Medium" pitchFamily="34" charset="-120"/>
              </a:rPr>
              <a:t> Used to teach the AI model (the largest portion, e.g., 70-80% of data).</a:t>
            </a:r>
            <a:endParaRPr lang="en-US" sz="1380" dirty="0"/>
          </a:p>
        </p:txBody>
      </p:sp>
      <p:sp>
        <p:nvSpPr>
          <p:cNvPr id="17" name="Text 5"/>
          <p:cNvSpPr/>
          <p:nvPr/>
        </p:nvSpPr>
        <p:spPr>
          <a:xfrm>
            <a:off x="896112" y="5541264"/>
            <a:ext cx="7882128" cy="274320"/>
          </a:xfrm>
          <a:prstGeom prst="rect">
            <a:avLst/>
          </a:prstGeom>
          <a:noFill/>
          <a:ln/>
        </p:spPr>
        <p:txBody>
          <a:bodyPr wrap="none" lIns="0" tIns="0" rIns="0" bIns="0" rtlCol="0" anchor="ctr"/>
          <a:lstStyle/>
          <a:p>
            <a:pPr marL="0" indent="0" algn="l">
              <a:lnSpc>
                <a:spcPts val="2150"/>
              </a:lnSpc>
              <a:buNone/>
            </a:pPr>
            <a:r>
              <a:rPr lang="en-US" sz="1720" dirty="0">
                <a:solidFill>
                  <a:srgbClr val="000000"/>
                </a:solidFill>
                <a:latin typeface="思源黑体-思源黑体-SemiBold" pitchFamily="34" charset="0"/>
                <a:ea typeface="思源黑体-思源黑体-SemiBold" pitchFamily="34" charset="-122"/>
                <a:cs typeface="思源黑体-思源黑体-SemiBold" pitchFamily="34" charset="-120"/>
              </a:rPr>
              <a:t>Testing Dataset</a:t>
            </a:r>
            <a:endParaRPr lang="en-US" sz="1720" dirty="0"/>
          </a:p>
        </p:txBody>
      </p:sp>
      <p:sp>
        <p:nvSpPr>
          <p:cNvPr id="18" name="Text 6"/>
          <p:cNvSpPr/>
          <p:nvPr/>
        </p:nvSpPr>
        <p:spPr>
          <a:xfrm>
            <a:off x="4754880" y="3054096"/>
            <a:ext cx="155448" cy="374904"/>
          </a:xfrm>
          <a:prstGeom prst="rect">
            <a:avLst/>
          </a:prstGeom>
          <a:noFill/>
          <a:ln/>
        </p:spPr>
        <p:txBody>
          <a:bodyPr wrap="none" lIns="0" tIns="0" rIns="0" bIns="0" rtlCol="0" anchor="ctr"/>
          <a:lstStyle/>
          <a:p>
            <a:pPr marL="0" indent="0" algn="l">
              <a:lnSpc>
                <a:spcPts val="2480"/>
              </a:lnSpc>
              <a:buNone/>
            </a:pPr>
            <a:r>
              <a:rPr lang="en-US" sz="2070" dirty="0">
                <a:solidFill>
                  <a:srgbClr val="454545"/>
                </a:solidFill>
                <a:latin typeface="思源黑体-思源黑体-Medium" pitchFamily="34" charset="0"/>
                <a:ea typeface="思源黑体-思源黑体-Medium" pitchFamily="34" charset="-122"/>
                <a:cs typeface="思源黑体-思源黑体-Medium" pitchFamily="34" charset="-120"/>
              </a:rPr>
              <a:t>1</a:t>
            </a:r>
            <a:endParaRPr lang="en-US" sz="2070" dirty="0"/>
          </a:p>
        </p:txBody>
      </p:sp>
      <p:sp>
        <p:nvSpPr>
          <p:cNvPr id="19" name="Text 7"/>
          <p:cNvSpPr/>
          <p:nvPr/>
        </p:nvSpPr>
        <p:spPr>
          <a:xfrm>
            <a:off x="896112" y="5980176"/>
            <a:ext cx="7882128" cy="438912"/>
          </a:xfrm>
          <a:prstGeom prst="rect">
            <a:avLst/>
          </a:prstGeom>
          <a:noFill/>
          <a:ln/>
        </p:spPr>
        <p:txBody>
          <a:bodyPr wrap="square" lIns="0" tIns="0" rIns="0" bIns="0" rtlCol="0" anchor="ctr"/>
          <a:lstStyle/>
          <a:p>
            <a:pPr marL="0" indent="0" algn="l">
              <a:lnSpc>
                <a:spcPts val="1720"/>
              </a:lnSpc>
              <a:buNone/>
            </a:pPr>
            <a:r>
              <a:rPr lang="en-US" sz="1380" dirty="0">
                <a:solidFill>
                  <a:srgbClr val="000000"/>
                </a:solidFill>
                <a:latin typeface="思源黑体-思源黑体-Medium" pitchFamily="34" charset="0"/>
                <a:ea typeface="思源黑体-思源黑体-Medium" pitchFamily="34" charset="-122"/>
                <a:cs typeface="思源黑体-思源黑体-Medium" pitchFamily="34" charset="-120"/>
              </a:rPr>
              <a:t> Used only at the end to evaluate the model's final, real-world performance on data it has never seen before.</a:t>
            </a:r>
            <a:endParaRPr lang="en-US" sz="1380" dirty="0"/>
          </a:p>
        </p:txBody>
      </p:sp>
      <p:sp>
        <p:nvSpPr>
          <p:cNvPr id="20" name="Text 8"/>
          <p:cNvSpPr/>
          <p:nvPr/>
        </p:nvSpPr>
        <p:spPr>
          <a:xfrm>
            <a:off x="4754880" y="4946904"/>
            <a:ext cx="155448" cy="374904"/>
          </a:xfrm>
          <a:prstGeom prst="rect">
            <a:avLst/>
          </a:prstGeom>
          <a:noFill/>
          <a:ln/>
        </p:spPr>
        <p:txBody>
          <a:bodyPr wrap="none" lIns="0" tIns="0" rIns="0" bIns="0" rtlCol="0" anchor="ctr"/>
          <a:lstStyle/>
          <a:p>
            <a:pPr marL="0" indent="0" algn="l">
              <a:lnSpc>
                <a:spcPts val="2480"/>
              </a:lnSpc>
              <a:buNone/>
            </a:pPr>
            <a:r>
              <a:rPr lang="en-US" sz="2070" dirty="0">
                <a:solidFill>
                  <a:srgbClr val="454545"/>
                </a:solidFill>
                <a:latin typeface="思源黑体-思源黑体-Medium" pitchFamily="34" charset="0"/>
                <a:ea typeface="思源黑体-思源黑体-Medium" pitchFamily="34" charset="-122"/>
                <a:cs typeface="思源黑体-思源黑体-Medium" pitchFamily="34" charset="-120"/>
              </a:rPr>
              <a:t>2</a:t>
            </a:r>
            <a:endParaRPr lang="en-US" sz="2070" dirty="0"/>
          </a:p>
        </p:txBody>
      </p:sp>
      <p:sp>
        <p:nvSpPr>
          <p:cNvPr id="21" name="Text 9"/>
          <p:cNvSpPr/>
          <p:nvPr/>
        </p:nvSpPr>
        <p:spPr>
          <a:xfrm>
            <a:off x="685800" y="6995160"/>
            <a:ext cx="8293608" cy="219456"/>
          </a:xfrm>
          <a:prstGeom prst="rect">
            <a:avLst/>
          </a:prstGeom>
          <a:noFill/>
          <a:ln/>
        </p:spPr>
        <p:txBody>
          <a:bodyPr wrap="none" lIns="0" tIns="0" rIns="0" bIns="0" rtlCol="0" anchor="ctr"/>
          <a:lstStyle/>
          <a:p>
            <a:pPr marL="0" indent="0" algn="l">
              <a:lnSpc>
                <a:spcPts val="1720"/>
              </a:lnSpc>
              <a:buNone/>
            </a:pPr>
            <a:r>
              <a:rPr lang="en-US" sz="1380" dirty="0">
                <a:solidFill>
                  <a:srgbClr val="000000"/>
                </a:solidFill>
                <a:latin typeface="思源黑体-思源黑体-Medium" pitchFamily="34" charset="0"/>
                <a:ea typeface="思源黑体-思源黑体-Medium" pitchFamily="34" charset="-122"/>
                <a:cs typeface="思源黑体-思源黑体-Medium" pitchFamily="34" charset="-120"/>
              </a:rPr>
              <a:t>(Note: Sometimes a third set, Validation Dataset, is used during training to tune the model).</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4974336" cy="8238744"/>
          </a:xfrm>
          <a:prstGeom prst="rect">
            <a:avLst/>
          </a:prstGeom>
        </p:spPr>
      </p:pic>
      <p:pic>
        <p:nvPicPr>
          <p:cNvPr id="4" name="Image 2" descr="preencoded.png"/>
          <p:cNvPicPr>
            <a:picLocks noChangeAspect="1"/>
          </p:cNvPicPr>
          <p:nvPr/>
        </p:nvPicPr>
        <p:blipFill>
          <a:blip r:embed="rId5"/>
          <a:stretch>
            <a:fillRect/>
          </a:stretch>
        </p:blipFill>
        <p:spPr>
          <a:xfrm>
            <a:off x="5660136" y="4059936"/>
            <a:ext cx="8293608" cy="1225296"/>
          </a:xfrm>
          <a:prstGeom prst="rect">
            <a:avLst/>
          </a:prstGeom>
        </p:spPr>
      </p:pic>
      <p:pic>
        <p:nvPicPr>
          <p:cNvPr id="5" name="Image 3" descr="preencoded.png"/>
          <p:cNvPicPr>
            <a:picLocks noChangeAspect="1"/>
          </p:cNvPicPr>
          <p:nvPr/>
        </p:nvPicPr>
        <p:blipFill>
          <a:blip r:embed="rId6"/>
          <a:stretch>
            <a:fillRect/>
          </a:stretch>
        </p:blipFill>
        <p:spPr>
          <a:xfrm>
            <a:off x="5660136" y="5477256"/>
            <a:ext cx="8293608" cy="1472184"/>
          </a:xfrm>
          <a:prstGeom prst="rect">
            <a:avLst/>
          </a:prstGeom>
        </p:spPr>
      </p:pic>
      <p:pic>
        <p:nvPicPr>
          <p:cNvPr id="6" name="Image 4" descr="preencoded.png"/>
          <p:cNvPicPr>
            <a:picLocks noChangeAspect="1"/>
          </p:cNvPicPr>
          <p:nvPr/>
        </p:nvPicPr>
        <p:blipFill>
          <a:blip r:embed="rId7"/>
          <a:stretch>
            <a:fillRect/>
          </a:stretch>
        </p:blipFill>
        <p:spPr>
          <a:xfrm>
            <a:off x="5660136" y="4059936"/>
            <a:ext cx="128016" cy="1225296"/>
          </a:xfrm>
          <a:prstGeom prst="rect">
            <a:avLst/>
          </a:prstGeom>
        </p:spPr>
      </p:pic>
      <p:pic>
        <p:nvPicPr>
          <p:cNvPr id="7" name="Image 5" descr="preencoded.png"/>
          <p:cNvPicPr>
            <a:picLocks noChangeAspect="1"/>
          </p:cNvPicPr>
          <p:nvPr/>
        </p:nvPicPr>
        <p:blipFill>
          <a:blip r:embed="rId8"/>
          <a:stretch>
            <a:fillRect/>
          </a:stretch>
        </p:blipFill>
        <p:spPr>
          <a:xfrm>
            <a:off x="5660136" y="5477256"/>
            <a:ext cx="128016" cy="1472184"/>
          </a:xfrm>
          <a:prstGeom prst="rect">
            <a:avLst/>
          </a:prstGeom>
        </p:spPr>
      </p:pic>
      <p:sp>
        <p:nvSpPr>
          <p:cNvPr id="8" name="Text 0"/>
          <p:cNvSpPr/>
          <p:nvPr/>
        </p:nvSpPr>
        <p:spPr>
          <a:xfrm>
            <a:off x="5660136" y="1078992"/>
            <a:ext cx="8293608" cy="612648"/>
          </a:xfrm>
          <a:prstGeom prst="rect">
            <a:avLst/>
          </a:prstGeom>
          <a:noFill/>
          <a:ln/>
        </p:spPr>
        <p:txBody>
          <a:bodyPr wrap="none" lIns="0" tIns="0" rIns="0" bIns="0" rtlCol="0" anchor="ctr"/>
          <a:lstStyle/>
          <a:p>
            <a:pPr marL="0" indent="0" algn="l">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Dataset Import (5 Marks)</a:t>
            </a:r>
            <a:endParaRPr lang="en-US" sz="3840" dirty="0"/>
          </a:p>
        </p:txBody>
      </p:sp>
      <p:sp>
        <p:nvSpPr>
          <p:cNvPr id="9" name="Text 1"/>
          <p:cNvSpPr/>
          <p:nvPr/>
        </p:nvSpPr>
        <p:spPr>
          <a:xfrm>
            <a:off x="5660136" y="1911096"/>
            <a:ext cx="8293608" cy="1225296"/>
          </a:xfrm>
          <a:prstGeom prst="rect">
            <a:avLst/>
          </a:prstGeom>
          <a:noFill/>
          <a:ln/>
        </p:spPr>
        <p:txBody>
          <a:bodyPr wrap="square" lIns="0" tIns="0" rIns="0" bIns="0" rtlCol="0" anchor="ctr"/>
          <a:lstStyle/>
          <a:p>
            <a:pPr marL="0" indent="0" algn="l">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Role of Development Tools (2 Marks)</a:t>
            </a:r>
            <a:endParaRPr lang="en-US" sz="3840" dirty="0"/>
          </a:p>
        </p:txBody>
      </p:sp>
      <p:sp>
        <p:nvSpPr>
          <p:cNvPr id="10" name="Text 2"/>
          <p:cNvSpPr/>
          <p:nvPr/>
        </p:nvSpPr>
        <p:spPr>
          <a:xfrm>
            <a:off x="5660136" y="3346704"/>
            <a:ext cx="8293608" cy="493776"/>
          </a:xfrm>
          <a:prstGeom prst="rect">
            <a:avLst/>
          </a:prstGeom>
          <a:noFill/>
          <a:ln/>
        </p:spPr>
        <p:txBody>
          <a:bodyPr wrap="squar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Development tools like Anaconda (or its components like Spyder/Jupyter) and VS Code are essential because they:</a:t>
            </a:r>
            <a:endParaRPr lang="en-US" sz="1530" dirty="0"/>
          </a:p>
        </p:txBody>
      </p:sp>
      <p:sp>
        <p:nvSpPr>
          <p:cNvPr id="11" name="Text 3"/>
          <p:cNvSpPr/>
          <p:nvPr/>
        </p:nvSpPr>
        <p:spPr>
          <a:xfrm>
            <a:off x="5952744" y="4187952"/>
            <a:ext cx="7781544" cy="310896"/>
          </a:xfrm>
          <a:prstGeom prst="rect">
            <a:avLst/>
          </a:prstGeom>
          <a:noFill/>
          <a:ln/>
        </p:spPr>
        <p:txBody>
          <a:bodyPr wrap="none" lIns="0" tIns="0" rIns="0" bIns="0" rtlCol="0" anchor="ctr"/>
          <a:lstStyle/>
          <a:p>
            <a:pPr marL="0" indent="0" algn="l">
              <a:lnSpc>
                <a:spcPts val="2400"/>
              </a:lnSpc>
              <a:buNone/>
            </a:pPr>
            <a:r>
              <a:rPr lang="en-US" sz="1920" dirty="0">
                <a:solidFill>
                  <a:srgbClr val="000000"/>
                </a:solidFill>
                <a:latin typeface="思源黑体-思源黑体-SemiBold" pitchFamily="34" charset="0"/>
                <a:ea typeface="思源黑体-思源黑体-SemiBold" pitchFamily="34" charset="-122"/>
                <a:cs typeface="思源黑体-思源黑体-SemiBold" pitchFamily="34" charset="-120"/>
              </a:rPr>
              <a:t>Manage Libraries</a:t>
            </a:r>
            <a:endParaRPr lang="en-US" sz="1920" dirty="0"/>
          </a:p>
        </p:txBody>
      </p:sp>
      <p:sp>
        <p:nvSpPr>
          <p:cNvPr id="12" name="Text 4"/>
          <p:cNvSpPr/>
          <p:nvPr/>
        </p:nvSpPr>
        <p:spPr>
          <a:xfrm>
            <a:off x="5952744" y="4663440"/>
            <a:ext cx="7781544" cy="493776"/>
          </a:xfrm>
          <a:prstGeom prst="rect">
            <a:avLst/>
          </a:prstGeom>
          <a:noFill/>
          <a:ln/>
        </p:spPr>
        <p:txBody>
          <a:bodyPr wrap="squar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 They help you install and organize all the required Python libraries (like Pandas and OpenCV) needed to read, transform, and import your data.</a:t>
            </a:r>
            <a:endParaRPr lang="en-US" sz="1530" dirty="0"/>
          </a:p>
        </p:txBody>
      </p:sp>
      <p:sp>
        <p:nvSpPr>
          <p:cNvPr id="13" name="Text 5"/>
          <p:cNvSpPr/>
          <p:nvPr/>
        </p:nvSpPr>
        <p:spPr>
          <a:xfrm>
            <a:off x="5952744" y="5605272"/>
            <a:ext cx="7781544" cy="310896"/>
          </a:xfrm>
          <a:prstGeom prst="rect">
            <a:avLst/>
          </a:prstGeom>
          <a:noFill/>
          <a:ln/>
        </p:spPr>
        <p:txBody>
          <a:bodyPr wrap="none" lIns="0" tIns="0" rIns="0" bIns="0" rtlCol="0" anchor="ctr"/>
          <a:lstStyle/>
          <a:p>
            <a:pPr marL="0" indent="0" algn="l">
              <a:lnSpc>
                <a:spcPts val="2400"/>
              </a:lnSpc>
              <a:buNone/>
            </a:pPr>
            <a:r>
              <a:rPr lang="en-US" sz="1920" dirty="0">
                <a:solidFill>
                  <a:srgbClr val="000000"/>
                </a:solidFill>
                <a:latin typeface="思源黑体-思源黑体-SemiBold" pitchFamily="34" charset="0"/>
                <a:ea typeface="思源黑体-思源黑体-SemiBold" pitchFamily="34" charset="-122"/>
                <a:cs typeface="思源黑体-思源黑体-SemiBold" pitchFamily="34" charset="-120"/>
              </a:rPr>
              <a:t>Execution Environment</a:t>
            </a:r>
            <a:endParaRPr lang="en-US" sz="1920" dirty="0"/>
          </a:p>
        </p:txBody>
      </p:sp>
      <p:sp>
        <p:nvSpPr>
          <p:cNvPr id="14" name="Text 6"/>
          <p:cNvSpPr/>
          <p:nvPr/>
        </p:nvSpPr>
        <p:spPr>
          <a:xfrm>
            <a:off x="5952744" y="6080760"/>
            <a:ext cx="7781544" cy="731520"/>
          </a:xfrm>
          <a:prstGeom prst="rect">
            <a:avLst/>
          </a:prstGeom>
          <a:noFill/>
          <a:ln/>
        </p:spPr>
        <p:txBody>
          <a:bodyPr wrap="squar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 They provide a stable environment to write, run, and debug the complex Python code required for the importing techniques and data processing without errors. They connect your code to your computer's files and memory.</a:t>
            </a:r>
            <a:endParaRPr lang="en-US" sz="15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685800" y="3593592"/>
            <a:ext cx="13267944" cy="841248"/>
          </a:xfrm>
          <a:prstGeom prst="rect">
            <a:avLst/>
          </a:prstGeom>
          <a:noFill/>
          <a:ln/>
        </p:spPr>
        <p:txBody>
          <a:bodyPr wrap="none" lIns="0" tIns="0" rIns="0" bIns="0" rtlCol="0" anchor="ctr"/>
          <a:lstStyle/>
          <a:p>
            <a:pPr marL="0" indent="0" algn="ctr">
              <a:lnSpc>
                <a:spcPts val="6620"/>
              </a:lnSpc>
              <a:buNone/>
            </a:pPr>
            <a:r>
              <a:rPr lang="en-US" sz="5290" dirty="0">
                <a:solidFill>
                  <a:srgbClr val="000000"/>
                </a:solidFill>
                <a:latin typeface="思源黑体-思源黑体-SemiBold" pitchFamily="34" charset="0"/>
                <a:ea typeface="思源黑体-思源黑体-SemiBold" pitchFamily="34" charset="-122"/>
                <a:cs typeface="思源黑体-思源黑体-SemiBold" pitchFamily="34" charset="-120"/>
              </a:rPr>
              <a:t>Thank You</a:t>
            </a:r>
            <a:endParaRPr lang="en-US" sz="529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630</Words>
  <Application>Microsoft Office PowerPoint</Application>
  <PresentationFormat>Custom</PresentationFormat>
  <Paragraphs>70</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思源黑体-思源黑体-Medium</vt:lpstr>
      <vt:lpstr>思源黑体-思源黑体-SemiBold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IT CYIZA Landry M |+250 780 105 612</dc:creator>
  <cp:lastModifiedBy>Landry</cp:lastModifiedBy>
  <cp:revision>3</cp:revision>
  <dcterms:created xsi:type="dcterms:W3CDTF">2025-10-09T12:42:50Z</dcterms:created>
  <dcterms:modified xsi:type="dcterms:W3CDTF">2025-10-23T08:23:39Z</dcterms:modified>
</cp:coreProperties>
</file>