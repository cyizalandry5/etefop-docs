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7" r:id="rId10"/>
    <p:sldId id="264" r:id="rId11"/>
    <p:sldId id="268" r:id="rId12"/>
    <p:sldId id="265" r:id="rId13"/>
    <p:sldId id="269" r:id="rId14"/>
    <p:sldId id="266" r:id="rId15"/>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1" d="100"/>
          <a:sy n="61" d="100"/>
        </p:scale>
        <p:origin x="61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78692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png"/><Relationship Id="rId7"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2514600"/>
          </a:xfrm>
          <a:prstGeom prst="rect">
            <a:avLst/>
          </a:prstGeom>
        </p:spPr>
      </p:pic>
      <p:pic>
        <p:nvPicPr>
          <p:cNvPr id="4" name="Image 2" descr="preencoded.png"/>
          <p:cNvPicPr>
            <a:picLocks noChangeAspect="1"/>
          </p:cNvPicPr>
          <p:nvPr/>
        </p:nvPicPr>
        <p:blipFill>
          <a:blip r:embed="rId5"/>
          <a:stretch>
            <a:fillRect/>
          </a:stretch>
        </p:blipFill>
        <p:spPr>
          <a:xfrm>
            <a:off x="685800" y="5312664"/>
            <a:ext cx="13267944" cy="27432"/>
          </a:xfrm>
          <a:prstGeom prst="rect">
            <a:avLst/>
          </a:prstGeom>
        </p:spPr>
      </p:pic>
      <p:pic>
        <p:nvPicPr>
          <p:cNvPr id="5" name="Image 3" descr="preencoded.png"/>
          <p:cNvPicPr>
            <a:picLocks noChangeAspect="1"/>
          </p:cNvPicPr>
          <p:nvPr/>
        </p:nvPicPr>
        <p:blipFill>
          <a:blip r:embed="rId6"/>
          <a:stretch>
            <a:fillRect/>
          </a:stretch>
        </p:blipFill>
        <p:spPr>
          <a:xfrm>
            <a:off x="685800" y="5559552"/>
            <a:ext cx="393192" cy="548640"/>
          </a:xfrm>
          <a:prstGeom prst="rect">
            <a:avLst/>
          </a:prstGeom>
        </p:spPr>
      </p:pic>
      <p:sp>
        <p:nvSpPr>
          <p:cNvPr id="6" name="Text 0"/>
          <p:cNvSpPr/>
          <p:nvPr/>
        </p:nvSpPr>
        <p:spPr>
          <a:xfrm>
            <a:off x="1170432" y="5559552"/>
            <a:ext cx="3904488" cy="347472"/>
          </a:xfrm>
          <a:prstGeom prst="rect">
            <a:avLst/>
          </a:prstGeom>
          <a:noFill/>
          <a:ln/>
        </p:spPr>
        <p:txBody>
          <a:bodyPr wrap="none" lIns="0" tIns="0" rIns="0" bIns="0" rtlCol="0" anchor="ctr"/>
          <a:lstStyle/>
          <a:p>
            <a:pPr marL="0" indent="0" algn="l">
              <a:lnSpc>
                <a:spcPts val="2680"/>
              </a:lnSpc>
              <a:buNone/>
            </a:pPr>
            <a:r>
              <a:rPr lang="en-US" sz="1920" dirty="0">
                <a:solidFill>
                  <a:srgbClr val="3B3A59"/>
                </a:solidFill>
                <a:latin typeface="思源黑体-思源黑体-Medium" pitchFamily="34" charset="0"/>
                <a:ea typeface="思源黑体-思源黑体-Medium" pitchFamily="34" charset="-122"/>
                <a:cs typeface="思源黑体-思源黑体-Medium" pitchFamily="34" charset="-120"/>
              </a:rPr>
              <a:t>Author: Landry CYIZA MPAYIMANA</a:t>
            </a:r>
            <a:endParaRPr lang="en-US" sz="1920" dirty="0"/>
          </a:p>
        </p:txBody>
      </p:sp>
      <p:sp>
        <p:nvSpPr>
          <p:cNvPr id="7" name="Text 1"/>
          <p:cNvSpPr/>
          <p:nvPr/>
        </p:nvSpPr>
        <p:spPr>
          <a:xfrm>
            <a:off x="1170432" y="5897880"/>
            <a:ext cx="3904488" cy="210312"/>
          </a:xfrm>
          <a:prstGeom prst="rect">
            <a:avLst/>
          </a:prstGeom>
          <a:noFill/>
          <a:ln/>
        </p:spPr>
        <p:txBody>
          <a:bodyPr wrap="none" lIns="0" tIns="0" rIns="0" bIns="0" rtlCol="0" anchor="ctr"/>
          <a:lstStyle/>
          <a:p>
            <a:pPr marL="0" indent="0" algn="l">
              <a:lnSpc>
                <a:spcPts val="1610"/>
              </a:lnSpc>
              <a:buNone/>
            </a:pPr>
            <a:r>
              <a:rPr lang="en-US" sz="1150" dirty="0" smtClean="0">
                <a:solidFill>
                  <a:srgbClr val="3B3A59"/>
                </a:solidFill>
                <a:latin typeface="思源黑体-思源黑体-Medium" pitchFamily="34" charset="0"/>
                <a:ea typeface="思源黑体-思源黑体-Medium" pitchFamily="34" charset="-122"/>
                <a:cs typeface="思源黑体-思源黑体-Medium" pitchFamily="34" charset="-120"/>
              </a:rPr>
              <a:t>ETEFOP TSS</a:t>
            </a:r>
            <a:endParaRPr lang="en-US" sz="1150" dirty="0"/>
          </a:p>
        </p:txBody>
      </p:sp>
      <p:sp>
        <p:nvSpPr>
          <p:cNvPr id="8" name="Text 2"/>
          <p:cNvSpPr/>
          <p:nvPr/>
        </p:nvSpPr>
        <p:spPr>
          <a:xfrm>
            <a:off x="685800" y="4251960"/>
            <a:ext cx="13267944" cy="841248"/>
          </a:xfrm>
          <a:prstGeom prst="rect">
            <a:avLst/>
          </a:prstGeom>
          <a:noFill/>
          <a:ln/>
        </p:spPr>
        <p:txBody>
          <a:bodyPr wrap="none" lIns="0" tIns="0" rIns="0" bIns="0" rtlCol="0" anchor="ctr"/>
          <a:lstStyle/>
          <a:p>
            <a:pPr marL="0" indent="0" algn="l">
              <a:lnSpc>
                <a:spcPts val="6620"/>
              </a:lnSpc>
              <a:buNone/>
            </a:pPr>
            <a:r>
              <a:rPr lang="en-US" sz="5290" dirty="0">
                <a:solidFill>
                  <a:srgbClr val="2F3550"/>
                </a:solidFill>
                <a:latin typeface="思源黑体-思源黑体-SemiBold" pitchFamily="34" charset="0"/>
                <a:ea typeface="思源黑体-思源黑体-SemiBold" pitchFamily="34" charset="-122"/>
                <a:cs typeface="思源黑体-思源黑体-SemiBold" pitchFamily="34" charset="-120"/>
              </a:rPr>
              <a:t>Data Acquisition and Pre-processing</a:t>
            </a:r>
            <a:endParaRPr lang="en-US" sz="529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685800" y="3118104"/>
            <a:ext cx="13267944" cy="841248"/>
          </a:xfrm>
          <a:prstGeom prst="rect">
            <a:avLst/>
          </a:prstGeom>
          <a:noFill/>
          <a:ln/>
        </p:spPr>
        <p:txBody>
          <a:bodyPr wrap="none" lIns="0" tIns="0" rIns="0" bIns="0" rtlCol="0" anchor="ctr"/>
          <a:lstStyle/>
          <a:p>
            <a:pPr marL="0" indent="0" algn="l">
              <a:lnSpc>
                <a:spcPts val="6620"/>
              </a:lnSpc>
              <a:buNone/>
            </a:pPr>
            <a:r>
              <a:rPr lang="en-US" sz="5290" dirty="0">
                <a:solidFill>
                  <a:srgbClr val="2F3550"/>
                </a:solidFill>
                <a:latin typeface="思源黑体-思源黑体-SemiBold" pitchFamily="34" charset="0"/>
                <a:ea typeface="思源黑体-思源黑体-SemiBold" pitchFamily="34" charset="-122"/>
                <a:cs typeface="思源黑体-思源黑体-SemiBold" pitchFamily="34" charset="-120"/>
              </a:rPr>
              <a:t>CONTENTS</a:t>
            </a:r>
            <a:endParaRPr lang="en-US" sz="5290" dirty="0"/>
          </a:p>
        </p:txBody>
      </p:sp>
      <p:sp>
        <p:nvSpPr>
          <p:cNvPr id="5" name="Text 1"/>
          <p:cNvSpPr/>
          <p:nvPr/>
        </p:nvSpPr>
        <p:spPr>
          <a:xfrm>
            <a:off x="896112" y="4389120"/>
            <a:ext cx="6117336" cy="310896"/>
          </a:xfrm>
          <a:prstGeom prst="rect">
            <a:avLst/>
          </a:prstGeom>
          <a:noFill/>
          <a:ln/>
        </p:spPr>
        <p:txBody>
          <a:bodyPr wrap="none" lIns="0" tIns="0" rIns="0" bIns="0" rtlCol="0" anchor="ctr"/>
          <a:lstStyle/>
          <a:p>
            <a:pPr marL="0" indent="0" algn="l">
              <a:lnSpc>
                <a:spcPts val="2400"/>
              </a:lnSpc>
              <a:buNone/>
            </a:pPr>
            <a:r>
              <a:rPr lang="en-US" sz="1920" dirty="0">
                <a:solidFill>
                  <a:srgbClr val="3B3A59"/>
                </a:solidFill>
                <a:latin typeface="思源黑体-思源黑体-SemiBold" pitchFamily="34" charset="0"/>
                <a:ea typeface="思源黑体-思源黑体-SemiBold" pitchFamily="34" charset="-122"/>
                <a:cs typeface="思源黑体-思源黑体-SemiBold" pitchFamily="34" charset="-120"/>
              </a:rPr>
              <a:t>1. Data Collection (5 Marks)</a:t>
            </a:r>
            <a:endParaRPr lang="en-US" sz="1920" dirty="0"/>
          </a:p>
        </p:txBody>
      </p:sp>
      <p:sp>
        <p:nvSpPr>
          <p:cNvPr id="6" name="Text 2"/>
          <p:cNvSpPr/>
          <p:nvPr/>
        </p:nvSpPr>
        <p:spPr>
          <a:xfrm>
            <a:off x="7626096" y="4389120"/>
            <a:ext cx="6117336" cy="310896"/>
          </a:xfrm>
          <a:prstGeom prst="rect">
            <a:avLst/>
          </a:prstGeom>
          <a:noFill/>
          <a:ln/>
        </p:spPr>
        <p:txBody>
          <a:bodyPr wrap="none" lIns="0" tIns="0" rIns="0" bIns="0" rtlCol="0" anchor="ctr"/>
          <a:lstStyle/>
          <a:p>
            <a:pPr marL="0" indent="0" algn="l">
              <a:lnSpc>
                <a:spcPts val="2400"/>
              </a:lnSpc>
              <a:buNone/>
            </a:pPr>
            <a:r>
              <a:rPr lang="en-US" sz="1920" dirty="0">
                <a:solidFill>
                  <a:srgbClr val="3B3A59"/>
                </a:solidFill>
                <a:latin typeface="思源黑体-思源黑体-SemiBold" pitchFamily="34" charset="0"/>
                <a:ea typeface="思源黑体-思源黑体-SemiBold" pitchFamily="34" charset="-122"/>
                <a:cs typeface="思源黑体-思源黑体-SemiBold" pitchFamily="34" charset="-120"/>
              </a:rPr>
              <a:t>2. Data Pre-processing (10 Marks)</a:t>
            </a:r>
            <a:endParaRPr lang="en-US" sz="192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5"/>
          <a:stretch>
            <a:fillRect/>
          </a:stretch>
        </p:blipFill>
        <p:spPr>
          <a:xfrm>
            <a:off x="704088" y="1380744"/>
            <a:ext cx="2871216" cy="2075688"/>
          </a:xfrm>
          <a:prstGeom prst="rect">
            <a:avLst/>
          </a:prstGeom>
        </p:spPr>
      </p:pic>
      <p:pic>
        <p:nvPicPr>
          <p:cNvPr id="5" name="Image 3" descr="preencoded.png"/>
          <p:cNvPicPr>
            <a:picLocks noChangeAspect="1"/>
          </p:cNvPicPr>
          <p:nvPr/>
        </p:nvPicPr>
        <p:blipFill>
          <a:blip r:embed="rId6"/>
          <a:stretch>
            <a:fillRect/>
          </a:stretch>
        </p:blipFill>
        <p:spPr>
          <a:xfrm>
            <a:off x="685800" y="6300216"/>
            <a:ext cx="13267944" cy="27432"/>
          </a:xfrm>
          <a:prstGeom prst="rect">
            <a:avLst/>
          </a:prstGeom>
        </p:spPr>
      </p:pic>
      <p:sp>
        <p:nvSpPr>
          <p:cNvPr id="6" name="Text 0"/>
          <p:cNvSpPr/>
          <p:nvPr/>
        </p:nvSpPr>
        <p:spPr>
          <a:xfrm>
            <a:off x="923544" y="1499616"/>
            <a:ext cx="2423160" cy="320040"/>
          </a:xfrm>
          <a:prstGeom prst="rect">
            <a:avLst/>
          </a:prstGeom>
          <a:noFill/>
          <a:ln/>
        </p:spPr>
        <p:txBody>
          <a:bodyPr wrap="none" lIns="0" tIns="0" rIns="0" bIns="0" rtlCol="0" anchor="ctr"/>
          <a:lstStyle/>
          <a:p>
            <a:pPr marL="0" indent="0" algn="ctr">
              <a:lnSpc>
                <a:spcPts val="2450"/>
              </a:lnSpc>
              <a:buNone/>
            </a:pPr>
            <a:endParaRPr lang="en-US" sz="1530" dirty="0"/>
          </a:p>
        </p:txBody>
      </p:sp>
      <p:sp>
        <p:nvSpPr>
          <p:cNvPr id="7" name="Text 1"/>
          <p:cNvSpPr/>
          <p:nvPr/>
        </p:nvSpPr>
        <p:spPr>
          <a:xfrm>
            <a:off x="923544" y="1993392"/>
            <a:ext cx="2423160" cy="841248"/>
          </a:xfrm>
          <a:prstGeom prst="rect">
            <a:avLst/>
          </a:prstGeom>
          <a:noFill/>
          <a:ln/>
        </p:spPr>
        <p:txBody>
          <a:bodyPr wrap="none" lIns="0" tIns="0" rIns="0" bIns="0" rtlCol="0" anchor="ctr"/>
          <a:lstStyle/>
          <a:p>
            <a:pPr marL="0" indent="0" algn="ctr">
              <a:lnSpc>
                <a:spcPts val="6620"/>
              </a:lnSpc>
              <a:buNone/>
            </a:pPr>
            <a:r>
              <a:rPr lang="en-US" sz="5290" dirty="0">
                <a:solidFill>
                  <a:srgbClr val="3B3A59"/>
                </a:solidFill>
                <a:latin typeface="思源黑体-思源黑体-SemiBold" pitchFamily="34" charset="0"/>
                <a:ea typeface="思源黑体-思源黑体-SemiBold" pitchFamily="34" charset="-122"/>
                <a:cs typeface="思源黑体-思源黑体-SemiBold" pitchFamily="34" charset="-120"/>
              </a:rPr>
              <a:t>01</a:t>
            </a:r>
            <a:endParaRPr lang="en-US" sz="5290" dirty="0"/>
          </a:p>
        </p:txBody>
      </p:sp>
      <p:sp>
        <p:nvSpPr>
          <p:cNvPr id="8" name="Text 2"/>
          <p:cNvSpPr/>
          <p:nvPr/>
        </p:nvSpPr>
        <p:spPr>
          <a:xfrm>
            <a:off x="923544" y="3008376"/>
            <a:ext cx="2423160" cy="320040"/>
          </a:xfrm>
          <a:prstGeom prst="rect">
            <a:avLst/>
          </a:prstGeom>
          <a:noFill/>
          <a:ln/>
        </p:spPr>
        <p:txBody>
          <a:bodyPr wrap="none" lIns="0" tIns="0" rIns="0" bIns="0" rtlCol="0" anchor="ctr"/>
          <a:lstStyle/>
          <a:p>
            <a:pPr marL="0" indent="0" algn="ctr">
              <a:lnSpc>
                <a:spcPts val="2450"/>
              </a:lnSpc>
              <a:buNone/>
            </a:pPr>
            <a:endParaRPr lang="en-US" sz="1530" dirty="0"/>
          </a:p>
        </p:txBody>
      </p:sp>
      <p:sp>
        <p:nvSpPr>
          <p:cNvPr id="9" name="Text 3"/>
          <p:cNvSpPr/>
          <p:nvPr/>
        </p:nvSpPr>
        <p:spPr>
          <a:xfrm>
            <a:off x="685800" y="3877056"/>
            <a:ext cx="13267944" cy="320040"/>
          </a:xfrm>
          <a:prstGeom prst="rect">
            <a:avLst/>
          </a:prstGeom>
          <a:noFill/>
          <a:ln/>
        </p:spPr>
        <p:txBody>
          <a:bodyPr wrap="none" lIns="0" tIns="0" rIns="0" bIns="0" rtlCol="0" anchor="ctr"/>
          <a:lstStyle/>
          <a:p>
            <a:pPr marL="0" indent="0" algn="l">
              <a:lnSpc>
                <a:spcPts val="2450"/>
              </a:lnSpc>
              <a:buNone/>
            </a:pPr>
            <a:endParaRPr lang="en-US" sz="1530" dirty="0"/>
          </a:p>
        </p:txBody>
      </p:sp>
      <p:sp>
        <p:nvSpPr>
          <p:cNvPr id="10" name="Text 4"/>
          <p:cNvSpPr/>
          <p:nvPr/>
        </p:nvSpPr>
        <p:spPr>
          <a:xfrm>
            <a:off x="4160520" y="1380744"/>
            <a:ext cx="9784080" cy="320040"/>
          </a:xfrm>
          <a:prstGeom prst="rect">
            <a:avLst/>
          </a:prstGeom>
          <a:noFill/>
          <a:ln/>
        </p:spPr>
        <p:txBody>
          <a:bodyPr wrap="none" lIns="0" tIns="0" rIns="0" bIns="0" rtlCol="0" anchor="ctr"/>
          <a:lstStyle/>
          <a:p>
            <a:pPr marL="0" indent="0" algn="l">
              <a:lnSpc>
                <a:spcPts val="2450"/>
              </a:lnSpc>
              <a:buNone/>
            </a:pPr>
            <a:endParaRPr lang="en-US" sz="1530" dirty="0"/>
          </a:p>
        </p:txBody>
      </p:sp>
      <p:sp>
        <p:nvSpPr>
          <p:cNvPr id="11" name="Text 5"/>
          <p:cNvSpPr/>
          <p:nvPr/>
        </p:nvSpPr>
        <p:spPr>
          <a:xfrm>
            <a:off x="685800" y="4407408"/>
            <a:ext cx="13267944" cy="320040"/>
          </a:xfrm>
          <a:prstGeom prst="rect">
            <a:avLst/>
          </a:prstGeom>
          <a:noFill/>
          <a:ln/>
        </p:spPr>
        <p:txBody>
          <a:bodyPr wrap="none" lIns="0" tIns="0" rIns="0" bIns="0" rtlCol="0" anchor="ctr"/>
          <a:lstStyle/>
          <a:p>
            <a:pPr marL="0" indent="0" algn="l">
              <a:lnSpc>
                <a:spcPts val="2450"/>
              </a:lnSpc>
              <a:buNone/>
            </a:pPr>
            <a:endParaRPr lang="en-US" sz="1530" dirty="0"/>
          </a:p>
        </p:txBody>
      </p:sp>
      <p:sp>
        <p:nvSpPr>
          <p:cNvPr id="12" name="Text 6"/>
          <p:cNvSpPr/>
          <p:nvPr/>
        </p:nvSpPr>
        <p:spPr>
          <a:xfrm>
            <a:off x="685800" y="4937760"/>
            <a:ext cx="13267944" cy="320040"/>
          </a:xfrm>
          <a:prstGeom prst="rect">
            <a:avLst/>
          </a:prstGeom>
          <a:noFill/>
          <a:ln/>
        </p:spPr>
        <p:txBody>
          <a:bodyPr wrap="none" lIns="0" tIns="0" rIns="0" bIns="0" rtlCol="0" anchor="ctr"/>
          <a:lstStyle/>
          <a:p>
            <a:pPr marL="0" indent="0" algn="l">
              <a:lnSpc>
                <a:spcPts val="2450"/>
              </a:lnSpc>
              <a:buNone/>
            </a:pPr>
            <a:endParaRPr lang="en-US" sz="1530" dirty="0"/>
          </a:p>
        </p:txBody>
      </p:sp>
      <p:sp>
        <p:nvSpPr>
          <p:cNvPr id="13" name="Text 7"/>
          <p:cNvSpPr/>
          <p:nvPr/>
        </p:nvSpPr>
        <p:spPr>
          <a:xfrm>
            <a:off x="685800" y="5468112"/>
            <a:ext cx="13267944" cy="612648"/>
          </a:xfrm>
          <a:prstGeom prst="rect">
            <a:avLst/>
          </a:prstGeom>
          <a:noFill/>
          <a:ln/>
        </p:spPr>
        <p:txBody>
          <a:bodyPr wrap="none" lIns="0" tIns="0" rIns="0" bIns="0" rtlCol="0" anchor="ctr"/>
          <a:lstStyle/>
          <a:p>
            <a:pPr marL="0" indent="0" algn="r">
              <a:lnSpc>
                <a:spcPts val="4800"/>
              </a:lnSpc>
              <a:buNone/>
            </a:pPr>
            <a:r>
              <a:rPr lang="en-US" sz="3840" dirty="0">
                <a:solidFill>
                  <a:srgbClr val="2F3550"/>
                </a:solidFill>
                <a:latin typeface="思源黑体-思源黑体-SemiBold" pitchFamily="34" charset="0"/>
                <a:ea typeface="思源黑体-思源黑体-SemiBold" pitchFamily="34" charset="-122"/>
                <a:cs typeface="思源黑体-思源黑体-SemiBold" pitchFamily="34" charset="-120"/>
              </a:rPr>
              <a:t>Data Collection (5 Marks)</a:t>
            </a:r>
            <a:endParaRPr lang="en-US" sz="3840" dirty="0"/>
          </a:p>
        </p:txBody>
      </p:sp>
      <p:sp>
        <p:nvSpPr>
          <p:cNvPr id="14" name="Text 8"/>
          <p:cNvSpPr/>
          <p:nvPr/>
        </p:nvSpPr>
        <p:spPr>
          <a:xfrm>
            <a:off x="685800" y="6547104"/>
            <a:ext cx="13267944" cy="320040"/>
          </a:xfrm>
          <a:prstGeom prst="rect">
            <a:avLst/>
          </a:prstGeom>
          <a:noFill/>
          <a:ln/>
        </p:spPr>
        <p:txBody>
          <a:bodyPr wrap="none" lIns="0" tIns="0" rIns="0" bIns="0" rtlCol="0" anchor="ctr"/>
          <a:lstStyle/>
          <a:p>
            <a:pPr marL="0" indent="0" algn="l">
              <a:lnSpc>
                <a:spcPts val="2450"/>
              </a:lnSpc>
              <a:buNone/>
            </a:pPr>
            <a:r>
              <a:rPr lang="en-US" sz="1530" dirty="0">
                <a:solidFill>
                  <a:srgbClr val="3B3A59"/>
                </a:solidFill>
                <a:latin typeface="思源黑体-思源黑体-Medium" pitchFamily="34" charset="0"/>
                <a:ea typeface="思源黑体-思源黑体-Medium" pitchFamily="34" charset="-122"/>
                <a:cs typeface="思源黑体-思源黑体-Medium" pitchFamily="34" charset="-120"/>
              </a:rPr>
              <a:t> </a:t>
            </a:r>
            <a:endParaRPr lang="en-US" sz="153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5766"/>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4974336" cy="8238744"/>
          </a:xfrm>
          <a:prstGeom prst="rect">
            <a:avLst/>
          </a:prstGeom>
        </p:spPr>
      </p:pic>
      <p:sp>
        <p:nvSpPr>
          <p:cNvPr id="4" name="Text 0"/>
          <p:cNvSpPr/>
          <p:nvPr/>
        </p:nvSpPr>
        <p:spPr>
          <a:xfrm>
            <a:off x="5660136" y="3017520"/>
            <a:ext cx="8293608" cy="612648"/>
          </a:xfrm>
          <a:prstGeom prst="rect">
            <a:avLst/>
          </a:prstGeom>
          <a:noFill/>
          <a:ln/>
        </p:spPr>
        <p:txBody>
          <a:bodyPr wrap="none" lIns="0" tIns="0" rIns="0" bIns="0" rtlCol="0" anchor="ctr"/>
          <a:lstStyle/>
          <a:p>
            <a:pPr marL="0" indent="0" algn="l">
              <a:lnSpc>
                <a:spcPts val="4800"/>
              </a:lnSpc>
              <a:buNone/>
            </a:pPr>
            <a:r>
              <a:rPr lang="en-US" sz="3840" dirty="0">
                <a:solidFill>
                  <a:srgbClr val="2F3550"/>
                </a:solidFill>
                <a:latin typeface="思源黑体-思源黑体-SemiBold" pitchFamily="34" charset="0"/>
                <a:ea typeface="思源黑体-思源黑体-SemiBold" pitchFamily="34" charset="-122"/>
                <a:cs typeface="思源黑体-思源黑体-SemiBold" pitchFamily="34" charset="-120"/>
              </a:rPr>
              <a:t>AI Data Category (1 Mark)</a:t>
            </a:r>
            <a:endParaRPr lang="en-US" sz="3840" dirty="0"/>
          </a:p>
        </p:txBody>
      </p:sp>
      <p:sp>
        <p:nvSpPr>
          <p:cNvPr id="5" name="Text 1"/>
          <p:cNvSpPr/>
          <p:nvPr/>
        </p:nvSpPr>
        <p:spPr>
          <a:xfrm>
            <a:off x="5660136" y="3849624"/>
            <a:ext cx="8293608" cy="630936"/>
          </a:xfrm>
          <a:prstGeom prst="rect">
            <a:avLst/>
          </a:prstGeom>
          <a:noFill/>
          <a:ln/>
        </p:spPr>
        <p:txBody>
          <a:bodyPr wrap="square" lIns="0" tIns="0" rIns="0" bIns="0" rtlCol="0" anchor="ctr"/>
          <a:lstStyle/>
          <a:p>
            <a:pPr marL="0" indent="0" algn="l">
              <a:lnSpc>
                <a:spcPts val="2450"/>
              </a:lnSpc>
              <a:buNone/>
            </a:pPr>
            <a:r>
              <a:rPr lang="en-US" sz="1530" dirty="0">
                <a:solidFill>
                  <a:srgbClr val="3B3A59"/>
                </a:solidFill>
                <a:latin typeface="思源黑体-思源黑体-Medium" pitchFamily="34" charset="0"/>
                <a:ea typeface="思源黑体-思源黑体-Medium" pitchFamily="34" charset="-122"/>
                <a:cs typeface="思源黑体-思源黑体-Medium" pitchFamily="34" charset="-120"/>
              </a:rPr>
              <a:t>Since the Smart Surveillance System uses cameras to identify objects, the AI needs visual information.</a:t>
            </a:r>
            <a:endParaRPr lang="en-US" sz="1530" dirty="0"/>
          </a:p>
        </p:txBody>
      </p:sp>
      <p:sp>
        <p:nvSpPr>
          <p:cNvPr id="6" name="Text 2"/>
          <p:cNvSpPr/>
          <p:nvPr/>
        </p:nvSpPr>
        <p:spPr>
          <a:xfrm>
            <a:off x="5660136" y="4690872"/>
            <a:ext cx="8293608" cy="320040"/>
          </a:xfrm>
          <a:prstGeom prst="rect">
            <a:avLst/>
          </a:prstGeom>
          <a:noFill/>
          <a:ln/>
        </p:spPr>
        <p:txBody>
          <a:bodyPr wrap="none" lIns="0" tIns="0" rIns="0" bIns="0" rtlCol="0" anchor="ctr"/>
          <a:lstStyle/>
          <a:p>
            <a:pPr marL="0" indent="0" algn="l">
              <a:lnSpc>
                <a:spcPts val="2450"/>
              </a:lnSpc>
              <a:buNone/>
            </a:pPr>
            <a:r>
              <a:rPr lang="en-US" sz="1530" dirty="0">
                <a:solidFill>
                  <a:srgbClr val="3B3A59"/>
                </a:solidFill>
                <a:latin typeface="思源黑体-思源黑体-Medium" pitchFamily="34" charset="0"/>
                <a:ea typeface="思源黑体-思源黑体-Medium" pitchFamily="34" charset="-122"/>
                <a:cs typeface="思源黑体-思源黑体-Medium" pitchFamily="34" charset="-120"/>
              </a:rPr>
              <a:t>Answer: The appropriate data category for this project is Image Data (or Visual Data).</a:t>
            </a:r>
            <a:endParaRPr lang="en-US" sz="153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5"/>
          <a:stretch>
            <a:fillRect/>
          </a:stretch>
        </p:blipFill>
        <p:spPr>
          <a:xfrm>
            <a:off x="685800" y="2953512"/>
            <a:ext cx="6556248" cy="3310128"/>
          </a:xfrm>
          <a:prstGeom prst="rect">
            <a:avLst/>
          </a:prstGeom>
        </p:spPr>
      </p:pic>
      <p:pic>
        <p:nvPicPr>
          <p:cNvPr id="5" name="Image 3" descr="preencoded.png"/>
          <p:cNvPicPr>
            <a:picLocks noChangeAspect="1"/>
          </p:cNvPicPr>
          <p:nvPr/>
        </p:nvPicPr>
        <p:blipFill>
          <a:blip r:embed="rId6"/>
          <a:stretch>
            <a:fillRect/>
          </a:stretch>
        </p:blipFill>
        <p:spPr>
          <a:xfrm>
            <a:off x="7406640" y="2953512"/>
            <a:ext cx="6556248" cy="3310128"/>
          </a:xfrm>
          <a:prstGeom prst="rect">
            <a:avLst/>
          </a:prstGeom>
        </p:spPr>
      </p:pic>
      <p:pic>
        <p:nvPicPr>
          <p:cNvPr id="6" name="Image 4" descr="preencoded.png"/>
          <p:cNvPicPr>
            <a:picLocks noChangeAspect="1"/>
          </p:cNvPicPr>
          <p:nvPr/>
        </p:nvPicPr>
        <p:blipFill>
          <a:blip r:embed="rId7"/>
          <a:stretch>
            <a:fillRect/>
          </a:stretch>
        </p:blipFill>
        <p:spPr>
          <a:xfrm>
            <a:off x="886968" y="3648456"/>
            <a:ext cx="6163056" cy="2423160"/>
          </a:xfrm>
          <a:prstGeom prst="rect">
            <a:avLst/>
          </a:prstGeom>
        </p:spPr>
      </p:pic>
      <p:pic>
        <p:nvPicPr>
          <p:cNvPr id="7" name="Image 5" descr="preencoded.png"/>
          <p:cNvPicPr>
            <a:picLocks noChangeAspect="1"/>
          </p:cNvPicPr>
          <p:nvPr/>
        </p:nvPicPr>
        <p:blipFill>
          <a:blip r:embed="rId7"/>
          <a:stretch>
            <a:fillRect/>
          </a:stretch>
        </p:blipFill>
        <p:spPr>
          <a:xfrm>
            <a:off x="7598664" y="3648456"/>
            <a:ext cx="6163056" cy="2423160"/>
          </a:xfrm>
          <a:prstGeom prst="rect">
            <a:avLst/>
          </a:prstGeom>
        </p:spPr>
      </p:pic>
      <p:pic>
        <p:nvPicPr>
          <p:cNvPr id="8" name="Image 6" descr="preencoded.png"/>
          <p:cNvPicPr>
            <a:picLocks noChangeAspect="1"/>
          </p:cNvPicPr>
          <p:nvPr/>
        </p:nvPicPr>
        <p:blipFill>
          <a:blip r:embed="rId8"/>
          <a:stretch>
            <a:fillRect/>
          </a:stretch>
        </p:blipFill>
        <p:spPr>
          <a:xfrm>
            <a:off x="868680" y="3136392"/>
            <a:ext cx="365760" cy="365760"/>
          </a:xfrm>
          <a:prstGeom prst="rect">
            <a:avLst/>
          </a:prstGeom>
        </p:spPr>
      </p:pic>
      <p:pic>
        <p:nvPicPr>
          <p:cNvPr id="9" name="Image 7" descr="preencoded.png"/>
          <p:cNvPicPr>
            <a:picLocks noChangeAspect="1"/>
          </p:cNvPicPr>
          <p:nvPr/>
        </p:nvPicPr>
        <p:blipFill>
          <a:blip r:embed="rId8"/>
          <a:stretch>
            <a:fillRect/>
          </a:stretch>
        </p:blipFill>
        <p:spPr>
          <a:xfrm>
            <a:off x="7580376" y="3136392"/>
            <a:ext cx="365760" cy="365760"/>
          </a:xfrm>
          <a:prstGeom prst="rect">
            <a:avLst/>
          </a:prstGeom>
        </p:spPr>
      </p:pic>
      <p:sp>
        <p:nvSpPr>
          <p:cNvPr id="10" name="Text 0"/>
          <p:cNvSpPr/>
          <p:nvPr/>
        </p:nvSpPr>
        <p:spPr>
          <a:xfrm>
            <a:off x="685800" y="1801368"/>
            <a:ext cx="13267944" cy="521208"/>
          </a:xfrm>
          <a:prstGeom prst="rect">
            <a:avLst/>
          </a:prstGeom>
          <a:noFill/>
          <a:ln/>
        </p:spPr>
        <p:txBody>
          <a:bodyPr wrap="none" lIns="0" tIns="0" rIns="0" bIns="0" rtlCol="0" anchor="ctr"/>
          <a:lstStyle/>
          <a:p>
            <a:pPr marL="0" indent="0" algn="l">
              <a:lnSpc>
                <a:spcPts val="4080"/>
              </a:lnSpc>
              <a:buNone/>
            </a:pPr>
            <a:r>
              <a:rPr lang="en-US" sz="3260" dirty="0">
                <a:solidFill>
                  <a:srgbClr val="2F3550"/>
                </a:solidFill>
                <a:latin typeface="思源黑体-思源黑体-SemiBold" pitchFamily="34" charset="0"/>
                <a:ea typeface="思源黑体-思源黑体-SemiBold" pitchFamily="34" charset="-122"/>
                <a:cs typeface="思源黑体-思源黑体-SemiBold" pitchFamily="34" charset="-120"/>
              </a:rPr>
              <a:t>Two Distinct AI-Data Collection Techniques (4 Marks)</a:t>
            </a:r>
            <a:endParaRPr lang="en-US" sz="3260" dirty="0"/>
          </a:p>
        </p:txBody>
      </p:sp>
      <p:sp>
        <p:nvSpPr>
          <p:cNvPr id="11" name="Text 1"/>
          <p:cNvSpPr/>
          <p:nvPr/>
        </p:nvSpPr>
        <p:spPr>
          <a:xfrm>
            <a:off x="685800" y="2505456"/>
            <a:ext cx="13267944" cy="274320"/>
          </a:xfrm>
          <a:prstGeom prst="rect">
            <a:avLst/>
          </a:prstGeom>
          <a:noFill/>
          <a:ln/>
        </p:spPr>
        <p:txBody>
          <a:bodyPr wrap="none" lIns="0" tIns="0" rIns="0" bIns="0" rtlCol="0" anchor="ctr"/>
          <a:lstStyle/>
          <a:p>
            <a:pPr marL="0" indent="0" algn="l">
              <a:lnSpc>
                <a:spcPts val="2080"/>
              </a:lnSpc>
              <a:buNone/>
            </a:pPr>
            <a:r>
              <a:rPr lang="en-US" sz="1300" dirty="0">
                <a:solidFill>
                  <a:srgbClr val="3B3A59"/>
                </a:solidFill>
                <a:latin typeface="思源黑体-思源黑体-Medium" pitchFamily="34" charset="0"/>
                <a:ea typeface="思源黑体-思源黑体-Medium" pitchFamily="34" charset="-122"/>
                <a:cs typeface="思源黑体-思源黑体-Medium" pitchFamily="34" charset="-120"/>
              </a:rPr>
              <a:t>These are the primary methods you use to gather the raw photos of humans and pets:</a:t>
            </a:r>
            <a:endParaRPr lang="en-US" sz="1300" dirty="0"/>
          </a:p>
        </p:txBody>
      </p:sp>
      <p:sp>
        <p:nvSpPr>
          <p:cNvPr id="12" name="Text 2"/>
          <p:cNvSpPr/>
          <p:nvPr/>
        </p:nvSpPr>
        <p:spPr>
          <a:xfrm>
            <a:off x="987552" y="3163824"/>
            <a:ext cx="118872" cy="301752"/>
          </a:xfrm>
          <a:prstGeom prst="rect">
            <a:avLst/>
          </a:prstGeom>
          <a:noFill/>
          <a:ln/>
        </p:spPr>
        <p:txBody>
          <a:bodyPr wrap="none" lIns="0" tIns="0" rIns="0" bIns="0" rtlCol="0" anchor="ctr"/>
          <a:lstStyle/>
          <a:p>
            <a:pPr marL="0" indent="0" algn="l">
              <a:lnSpc>
                <a:spcPts val="1950"/>
              </a:lnSpc>
              <a:buNone/>
            </a:pPr>
            <a:r>
              <a:rPr lang="en-US" sz="1630" dirty="0">
                <a:solidFill>
                  <a:srgbClr val="080808"/>
                </a:solidFill>
                <a:latin typeface="思源黑体-思源黑体-Medium" pitchFamily="34" charset="0"/>
                <a:ea typeface="思源黑体-思源黑体-Medium" pitchFamily="34" charset="-122"/>
                <a:cs typeface="思源黑体-思源黑体-Medium" pitchFamily="34" charset="-120"/>
              </a:rPr>
              <a:t>1</a:t>
            </a:r>
            <a:endParaRPr lang="en-US" sz="1630" dirty="0"/>
          </a:p>
        </p:txBody>
      </p:sp>
      <p:sp>
        <p:nvSpPr>
          <p:cNvPr id="13" name="Text 3"/>
          <p:cNvSpPr/>
          <p:nvPr/>
        </p:nvSpPr>
        <p:spPr>
          <a:xfrm>
            <a:off x="886968" y="3648456"/>
            <a:ext cx="6163056" cy="265176"/>
          </a:xfrm>
          <a:prstGeom prst="rect">
            <a:avLst/>
          </a:prstGeom>
          <a:noFill/>
          <a:ln/>
        </p:spPr>
        <p:txBody>
          <a:bodyPr wrap="none" lIns="0" tIns="0" rIns="0" bIns="0" rtlCol="0" anchor="ctr"/>
          <a:lstStyle/>
          <a:p>
            <a:pPr marL="0" indent="0" algn="l">
              <a:lnSpc>
                <a:spcPts val="2040"/>
              </a:lnSpc>
              <a:buNone/>
            </a:pPr>
            <a:r>
              <a:rPr lang="en-US" sz="1630" dirty="0">
                <a:solidFill>
                  <a:srgbClr val="3B3A59"/>
                </a:solidFill>
                <a:latin typeface="思源黑体-思源黑体-SemiBold" pitchFamily="34" charset="0"/>
                <a:ea typeface="思源黑体-思源黑体-SemiBold" pitchFamily="34" charset="-122"/>
                <a:cs typeface="思源黑体-思源黑体-SemiBold" pitchFamily="34" charset="-120"/>
              </a:rPr>
              <a:t>Technique 1</a:t>
            </a:r>
            <a:endParaRPr lang="en-US" sz="1630" dirty="0"/>
          </a:p>
        </p:txBody>
      </p:sp>
      <p:sp>
        <p:nvSpPr>
          <p:cNvPr id="14" name="Text 4"/>
          <p:cNvSpPr/>
          <p:nvPr/>
        </p:nvSpPr>
        <p:spPr>
          <a:xfrm>
            <a:off x="886968" y="4050792"/>
            <a:ext cx="6163056" cy="1069848"/>
          </a:xfrm>
          <a:prstGeom prst="rect">
            <a:avLst/>
          </a:prstGeom>
          <a:noFill/>
          <a:ln/>
        </p:spPr>
        <p:txBody>
          <a:bodyPr wrap="square" lIns="0" tIns="0" rIns="0" bIns="0" rtlCol="0" anchor="ctr"/>
          <a:lstStyle/>
          <a:p>
            <a:pPr marL="0" indent="0" algn="l">
              <a:lnSpc>
                <a:spcPts val="2080"/>
              </a:lnSpc>
              <a:buNone/>
            </a:pPr>
            <a:r>
              <a:rPr lang="en-US" sz="1300" dirty="0">
                <a:solidFill>
                  <a:srgbClr val="3B3A59"/>
                </a:solidFill>
                <a:latin typeface="思源黑体-思源黑体-Medium" pitchFamily="34" charset="0"/>
                <a:ea typeface="思源黑体-思源黑体-Medium" pitchFamily="34" charset="-122"/>
                <a:cs typeface="思源黑体-思源黑体-Medium" pitchFamily="34" charset="-120"/>
              </a:rPr>
              <a:t> Real-Time/Field Data Capture: You use the actual camera you'll deploy (like an ESP32 or Raspberry Pi) to record footage in the real environment (e.g., the storeroom). This captures unique things like shadows and low-light conditions.</a:t>
            </a:r>
            <a:endParaRPr lang="en-US" sz="1300" dirty="0"/>
          </a:p>
        </p:txBody>
      </p:sp>
      <p:sp>
        <p:nvSpPr>
          <p:cNvPr id="15" name="Text 5"/>
          <p:cNvSpPr/>
          <p:nvPr/>
        </p:nvSpPr>
        <p:spPr>
          <a:xfrm>
            <a:off x="886968" y="5266944"/>
            <a:ext cx="6163056" cy="804672"/>
          </a:xfrm>
          <a:prstGeom prst="rect">
            <a:avLst/>
          </a:prstGeom>
          <a:noFill/>
          <a:ln/>
        </p:spPr>
        <p:txBody>
          <a:bodyPr wrap="square" lIns="0" tIns="0" rIns="0" bIns="0" rtlCol="0" anchor="ctr"/>
          <a:lstStyle/>
          <a:p>
            <a:pPr marL="0" indent="0" algn="l">
              <a:lnSpc>
                <a:spcPts val="2080"/>
              </a:lnSpc>
              <a:buNone/>
            </a:pPr>
            <a:r>
              <a:rPr lang="en-US" sz="1300" dirty="0">
                <a:solidFill>
                  <a:srgbClr val="3B3A59"/>
                </a:solidFill>
                <a:latin typeface="思源黑体-思源黑体-Medium" pitchFamily="34" charset="0"/>
                <a:ea typeface="思源黑体-思源黑体-Medium" pitchFamily="34" charset="-122"/>
                <a:cs typeface="思源黑体-思源黑体-Medium" pitchFamily="34" charset="-120"/>
              </a:rPr>
              <a:t>    • Python Application: We use libraries like OpenCV (cv2) in Python. This library lets your code "talk" to the camera, tell it to take a picture, and save the picture file to your computer.</a:t>
            </a:r>
            <a:endParaRPr lang="en-US" sz="1300" dirty="0"/>
          </a:p>
        </p:txBody>
      </p:sp>
      <p:sp>
        <p:nvSpPr>
          <p:cNvPr id="16" name="Text 6"/>
          <p:cNvSpPr/>
          <p:nvPr/>
        </p:nvSpPr>
        <p:spPr>
          <a:xfrm>
            <a:off x="7708392" y="3163824"/>
            <a:ext cx="118872" cy="301752"/>
          </a:xfrm>
          <a:prstGeom prst="rect">
            <a:avLst/>
          </a:prstGeom>
          <a:noFill/>
          <a:ln/>
        </p:spPr>
        <p:txBody>
          <a:bodyPr wrap="none" lIns="0" tIns="0" rIns="0" bIns="0" rtlCol="0" anchor="ctr"/>
          <a:lstStyle/>
          <a:p>
            <a:pPr marL="0" indent="0" algn="l">
              <a:lnSpc>
                <a:spcPts val="1950"/>
              </a:lnSpc>
              <a:buNone/>
            </a:pPr>
            <a:r>
              <a:rPr lang="en-US" sz="1630" dirty="0">
                <a:solidFill>
                  <a:srgbClr val="080808"/>
                </a:solidFill>
                <a:latin typeface="思源黑体-思源黑体-Medium" pitchFamily="34" charset="0"/>
                <a:ea typeface="思源黑体-思源黑体-Medium" pitchFamily="34" charset="-122"/>
                <a:cs typeface="思源黑体-思源黑体-Medium" pitchFamily="34" charset="-120"/>
              </a:rPr>
              <a:t>2</a:t>
            </a:r>
            <a:endParaRPr lang="en-US" sz="1630" dirty="0"/>
          </a:p>
        </p:txBody>
      </p:sp>
      <p:sp>
        <p:nvSpPr>
          <p:cNvPr id="17" name="Text 7"/>
          <p:cNvSpPr/>
          <p:nvPr/>
        </p:nvSpPr>
        <p:spPr>
          <a:xfrm>
            <a:off x="7598664" y="3648456"/>
            <a:ext cx="6163056" cy="265176"/>
          </a:xfrm>
          <a:prstGeom prst="rect">
            <a:avLst/>
          </a:prstGeom>
          <a:noFill/>
          <a:ln/>
        </p:spPr>
        <p:txBody>
          <a:bodyPr wrap="none" lIns="0" tIns="0" rIns="0" bIns="0" rtlCol="0" anchor="ctr"/>
          <a:lstStyle/>
          <a:p>
            <a:pPr marL="0" indent="0" algn="l">
              <a:lnSpc>
                <a:spcPts val="2040"/>
              </a:lnSpc>
              <a:buNone/>
            </a:pPr>
            <a:r>
              <a:rPr lang="en-US" sz="1630" dirty="0">
                <a:solidFill>
                  <a:srgbClr val="3B3A59"/>
                </a:solidFill>
                <a:latin typeface="思源黑体-思源黑体-SemiBold" pitchFamily="34" charset="0"/>
                <a:ea typeface="思源黑体-思源黑体-SemiBold" pitchFamily="34" charset="-122"/>
                <a:cs typeface="思源黑体-思源黑体-SemiBold" pitchFamily="34" charset="-120"/>
              </a:rPr>
              <a:t>Technique 2</a:t>
            </a:r>
            <a:endParaRPr lang="en-US" sz="1630" dirty="0"/>
          </a:p>
        </p:txBody>
      </p:sp>
      <p:sp>
        <p:nvSpPr>
          <p:cNvPr id="18" name="Text 8"/>
          <p:cNvSpPr/>
          <p:nvPr/>
        </p:nvSpPr>
        <p:spPr>
          <a:xfrm>
            <a:off x="7598664" y="4050792"/>
            <a:ext cx="6163056" cy="804672"/>
          </a:xfrm>
          <a:prstGeom prst="rect">
            <a:avLst/>
          </a:prstGeom>
          <a:noFill/>
          <a:ln/>
        </p:spPr>
        <p:txBody>
          <a:bodyPr wrap="square" lIns="0" tIns="0" rIns="0" bIns="0" rtlCol="0" anchor="ctr"/>
          <a:lstStyle/>
          <a:p>
            <a:pPr marL="0" indent="0" algn="l">
              <a:lnSpc>
                <a:spcPts val="2080"/>
              </a:lnSpc>
              <a:buNone/>
            </a:pPr>
            <a:r>
              <a:rPr lang="en-US" sz="1300" dirty="0">
                <a:solidFill>
                  <a:srgbClr val="3B3A59"/>
                </a:solidFill>
                <a:latin typeface="思源黑体-思源黑体-Medium" pitchFamily="34" charset="0"/>
                <a:ea typeface="思源黑体-思源黑体-Medium" pitchFamily="34" charset="-122"/>
                <a:cs typeface="思源黑体-思源黑体-Medium" pitchFamily="34" charset="-120"/>
              </a:rPr>
              <a:t> Leveraging Open-Source Datasets: You download large, high-quality, pre-labeled collections of images that are freely available online (e.g., from public research databases).</a:t>
            </a:r>
            <a:endParaRPr lang="en-US" sz="1300" dirty="0"/>
          </a:p>
        </p:txBody>
      </p:sp>
      <p:sp>
        <p:nvSpPr>
          <p:cNvPr id="19" name="Text 9"/>
          <p:cNvSpPr/>
          <p:nvPr/>
        </p:nvSpPr>
        <p:spPr>
          <a:xfrm>
            <a:off x="7598664" y="5001768"/>
            <a:ext cx="6163056" cy="804672"/>
          </a:xfrm>
          <a:prstGeom prst="rect">
            <a:avLst/>
          </a:prstGeom>
          <a:noFill/>
          <a:ln/>
        </p:spPr>
        <p:txBody>
          <a:bodyPr wrap="square" lIns="0" tIns="0" rIns="0" bIns="0" rtlCol="0" anchor="ctr"/>
          <a:lstStyle/>
          <a:p>
            <a:pPr marL="0" indent="0" algn="l">
              <a:lnSpc>
                <a:spcPts val="2080"/>
              </a:lnSpc>
              <a:buNone/>
            </a:pPr>
            <a:r>
              <a:rPr lang="en-US" sz="1300" dirty="0">
                <a:solidFill>
                  <a:srgbClr val="3B3A59"/>
                </a:solidFill>
                <a:latin typeface="思源黑体-思源黑体-Medium" pitchFamily="34" charset="0"/>
                <a:ea typeface="思源黑体-思源黑体-Medium" pitchFamily="34" charset="-122"/>
                <a:cs typeface="思源黑体-思源黑体-Medium" pitchFamily="34" charset="-120"/>
              </a:rPr>
              <a:t>    • Python Application: You use Python libraries like requests or simple file download scripts. This is a fast way to get thousands of already-labeled images to make your model strong and diverse from the start.</a:t>
            </a:r>
            <a:endParaRPr lang="en-US" sz="13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5"/>
          <a:stretch>
            <a:fillRect/>
          </a:stretch>
        </p:blipFill>
        <p:spPr>
          <a:xfrm>
            <a:off x="704088" y="1380744"/>
            <a:ext cx="2871216" cy="2075688"/>
          </a:xfrm>
          <a:prstGeom prst="rect">
            <a:avLst/>
          </a:prstGeom>
        </p:spPr>
      </p:pic>
      <p:pic>
        <p:nvPicPr>
          <p:cNvPr id="5" name="Image 3" descr="preencoded.png"/>
          <p:cNvPicPr>
            <a:picLocks noChangeAspect="1"/>
          </p:cNvPicPr>
          <p:nvPr/>
        </p:nvPicPr>
        <p:blipFill>
          <a:blip r:embed="rId6"/>
          <a:stretch>
            <a:fillRect/>
          </a:stretch>
        </p:blipFill>
        <p:spPr>
          <a:xfrm>
            <a:off x="685800" y="6300216"/>
            <a:ext cx="13267944" cy="27432"/>
          </a:xfrm>
          <a:prstGeom prst="rect">
            <a:avLst/>
          </a:prstGeom>
        </p:spPr>
      </p:pic>
      <p:sp>
        <p:nvSpPr>
          <p:cNvPr id="6" name="Text 0"/>
          <p:cNvSpPr/>
          <p:nvPr/>
        </p:nvSpPr>
        <p:spPr>
          <a:xfrm>
            <a:off x="923544" y="1499616"/>
            <a:ext cx="2423160" cy="320040"/>
          </a:xfrm>
          <a:prstGeom prst="rect">
            <a:avLst/>
          </a:prstGeom>
          <a:noFill/>
          <a:ln/>
        </p:spPr>
        <p:txBody>
          <a:bodyPr wrap="none" lIns="0" tIns="0" rIns="0" bIns="0" rtlCol="0" anchor="ctr"/>
          <a:lstStyle/>
          <a:p>
            <a:pPr marL="0" indent="0" algn="ctr">
              <a:lnSpc>
                <a:spcPts val="2450"/>
              </a:lnSpc>
              <a:buNone/>
            </a:pPr>
            <a:endParaRPr lang="en-US" sz="1530" dirty="0"/>
          </a:p>
        </p:txBody>
      </p:sp>
      <p:sp>
        <p:nvSpPr>
          <p:cNvPr id="7" name="Text 1"/>
          <p:cNvSpPr/>
          <p:nvPr/>
        </p:nvSpPr>
        <p:spPr>
          <a:xfrm>
            <a:off x="923544" y="1993392"/>
            <a:ext cx="2423160" cy="841248"/>
          </a:xfrm>
          <a:prstGeom prst="rect">
            <a:avLst/>
          </a:prstGeom>
          <a:noFill/>
          <a:ln/>
        </p:spPr>
        <p:txBody>
          <a:bodyPr wrap="none" lIns="0" tIns="0" rIns="0" bIns="0" rtlCol="0" anchor="ctr"/>
          <a:lstStyle/>
          <a:p>
            <a:pPr marL="0" indent="0" algn="ctr">
              <a:lnSpc>
                <a:spcPts val="6620"/>
              </a:lnSpc>
              <a:buNone/>
            </a:pPr>
            <a:r>
              <a:rPr lang="en-US" sz="5290" dirty="0">
                <a:solidFill>
                  <a:srgbClr val="3B3A59"/>
                </a:solidFill>
                <a:latin typeface="思源黑体-思源黑体-SemiBold" pitchFamily="34" charset="0"/>
                <a:ea typeface="思源黑体-思源黑体-SemiBold" pitchFamily="34" charset="-122"/>
                <a:cs typeface="思源黑体-思源黑体-SemiBold" pitchFamily="34" charset="-120"/>
              </a:rPr>
              <a:t>02</a:t>
            </a:r>
            <a:endParaRPr lang="en-US" sz="5290" dirty="0"/>
          </a:p>
        </p:txBody>
      </p:sp>
      <p:sp>
        <p:nvSpPr>
          <p:cNvPr id="8" name="Text 2"/>
          <p:cNvSpPr/>
          <p:nvPr/>
        </p:nvSpPr>
        <p:spPr>
          <a:xfrm>
            <a:off x="923544" y="3008376"/>
            <a:ext cx="2423160" cy="320040"/>
          </a:xfrm>
          <a:prstGeom prst="rect">
            <a:avLst/>
          </a:prstGeom>
          <a:noFill/>
          <a:ln/>
        </p:spPr>
        <p:txBody>
          <a:bodyPr wrap="none" lIns="0" tIns="0" rIns="0" bIns="0" rtlCol="0" anchor="ctr"/>
          <a:lstStyle/>
          <a:p>
            <a:pPr marL="0" indent="0" algn="ctr">
              <a:lnSpc>
                <a:spcPts val="2450"/>
              </a:lnSpc>
              <a:buNone/>
            </a:pPr>
            <a:endParaRPr lang="en-US" sz="1530" dirty="0"/>
          </a:p>
        </p:txBody>
      </p:sp>
      <p:sp>
        <p:nvSpPr>
          <p:cNvPr id="9" name="Text 3"/>
          <p:cNvSpPr/>
          <p:nvPr/>
        </p:nvSpPr>
        <p:spPr>
          <a:xfrm>
            <a:off x="685800" y="3877056"/>
            <a:ext cx="13267944" cy="320040"/>
          </a:xfrm>
          <a:prstGeom prst="rect">
            <a:avLst/>
          </a:prstGeom>
          <a:noFill/>
          <a:ln/>
        </p:spPr>
        <p:txBody>
          <a:bodyPr wrap="none" lIns="0" tIns="0" rIns="0" bIns="0" rtlCol="0" anchor="ctr"/>
          <a:lstStyle/>
          <a:p>
            <a:pPr marL="0" indent="0" algn="l">
              <a:lnSpc>
                <a:spcPts val="2450"/>
              </a:lnSpc>
              <a:buNone/>
            </a:pPr>
            <a:endParaRPr lang="en-US" sz="1530" dirty="0"/>
          </a:p>
        </p:txBody>
      </p:sp>
      <p:sp>
        <p:nvSpPr>
          <p:cNvPr id="10" name="Text 4"/>
          <p:cNvSpPr/>
          <p:nvPr/>
        </p:nvSpPr>
        <p:spPr>
          <a:xfrm>
            <a:off x="4160520" y="1380744"/>
            <a:ext cx="9784080" cy="320040"/>
          </a:xfrm>
          <a:prstGeom prst="rect">
            <a:avLst/>
          </a:prstGeom>
          <a:noFill/>
          <a:ln/>
        </p:spPr>
        <p:txBody>
          <a:bodyPr wrap="none" lIns="0" tIns="0" rIns="0" bIns="0" rtlCol="0" anchor="ctr"/>
          <a:lstStyle/>
          <a:p>
            <a:pPr marL="0" indent="0" algn="l">
              <a:lnSpc>
                <a:spcPts val="2450"/>
              </a:lnSpc>
              <a:buNone/>
            </a:pPr>
            <a:endParaRPr lang="en-US" sz="1530" dirty="0"/>
          </a:p>
        </p:txBody>
      </p:sp>
      <p:sp>
        <p:nvSpPr>
          <p:cNvPr id="11" name="Text 5"/>
          <p:cNvSpPr/>
          <p:nvPr/>
        </p:nvSpPr>
        <p:spPr>
          <a:xfrm>
            <a:off x="685800" y="4407408"/>
            <a:ext cx="13267944" cy="320040"/>
          </a:xfrm>
          <a:prstGeom prst="rect">
            <a:avLst/>
          </a:prstGeom>
          <a:noFill/>
          <a:ln/>
        </p:spPr>
        <p:txBody>
          <a:bodyPr wrap="none" lIns="0" tIns="0" rIns="0" bIns="0" rtlCol="0" anchor="ctr"/>
          <a:lstStyle/>
          <a:p>
            <a:pPr marL="0" indent="0" algn="l">
              <a:lnSpc>
                <a:spcPts val="2450"/>
              </a:lnSpc>
              <a:buNone/>
            </a:pPr>
            <a:endParaRPr lang="en-US" sz="1530" dirty="0"/>
          </a:p>
        </p:txBody>
      </p:sp>
      <p:sp>
        <p:nvSpPr>
          <p:cNvPr id="12" name="Text 6"/>
          <p:cNvSpPr/>
          <p:nvPr/>
        </p:nvSpPr>
        <p:spPr>
          <a:xfrm>
            <a:off x="685800" y="4937760"/>
            <a:ext cx="13267944" cy="320040"/>
          </a:xfrm>
          <a:prstGeom prst="rect">
            <a:avLst/>
          </a:prstGeom>
          <a:noFill/>
          <a:ln/>
        </p:spPr>
        <p:txBody>
          <a:bodyPr wrap="none" lIns="0" tIns="0" rIns="0" bIns="0" rtlCol="0" anchor="ctr"/>
          <a:lstStyle/>
          <a:p>
            <a:pPr marL="0" indent="0" algn="l">
              <a:lnSpc>
                <a:spcPts val="2450"/>
              </a:lnSpc>
              <a:buNone/>
            </a:pPr>
            <a:endParaRPr lang="en-US" sz="1530" dirty="0"/>
          </a:p>
        </p:txBody>
      </p:sp>
      <p:sp>
        <p:nvSpPr>
          <p:cNvPr id="13" name="Text 7"/>
          <p:cNvSpPr/>
          <p:nvPr/>
        </p:nvSpPr>
        <p:spPr>
          <a:xfrm>
            <a:off x="685800" y="5468112"/>
            <a:ext cx="13267944" cy="612648"/>
          </a:xfrm>
          <a:prstGeom prst="rect">
            <a:avLst/>
          </a:prstGeom>
          <a:noFill/>
          <a:ln/>
        </p:spPr>
        <p:txBody>
          <a:bodyPr wrap="none" lIns="0" tIns="0" rIns="0" bIns="0" rtlCol="0" anchor="ctr"/>
          <a:lstStyle/>
          <a:p>
            <a:pPr marL="0" indent="0" algn="r">
              <a:lnSpc>
                <a:spcPts val="4800"/>
              </a:lnSpc>
              <a:buNone/>
            </a:pPr>
            <a:r>
              <a:rPr lang="en-US" sz="3840" dirty="0">
                <a:solidFill>
                  <a:srgbClr val="2F3550"/>
                </a:solidFill>
                <a:latin typeface="思源黑体-思源黑体-SemiBold" pitchFamily="34" charset="0"/>
                <a:ea typeface="思源黑体-思源黑体-SemiBold" pitchFamily="34" charset="-122"/>
                <a:cs typeface="思源黑体-思源黑体-SemiBold" pitchFamily="34" charset="-120"/>
              </a:rPr>
              <a:t>Data Pre-processing (10 Marks)</a:t>
            </a:r>
            <a:endParaRPr lang="en-US" sz="3840" dirty="0"/>
          </a:p>
        </p:txBody>
      </p:sp>
      <p:sp>
        <p:nvSpPr>
          <p:cNvPr id="14" name="Text 8"/>
          <p:cNvSpPr/>
          <p:nvPr/>
        </p:nvSpPr>
        <p:spPr>
          <a:xfrm>
            <a:off x="685800" y="6547104"/>
            <a:ext cx="13267944" cy="320040"/>
          </a:xfrm>
          <a:prstGeom prst="rect">
            <a:avLst/>
          </a:prstGeom>
          <a:noFill/>
          <a:ln/>
        </p:spPr>
        <p:txBody>
          <a:bodyPr wrap="none" lIns="0" tIns="0" rIns="0" bIns="0" rtlCol="0" anchor="ctr"/>
          <a:lstStyle/>
          <a:p>
            <a:pPr marL="0" indent="0" algn="l">
              <a:lnSpc>
                <a:spcPts val="2450"/>
              </a:lnSpc>
              <a:buNone/>
            </a:pPr>
            <a:r>
              <a:rPr lang="en-US" sz="1530" dirty="0">
                <a:solidFill>
                  <a:srgbClr val="3B3A59"/>
                </a:solidFill>
                <a:latin typeface="思源黑体-思源黑体-Medium" pitchFamily="34" charset="0"/>
                <a:ea typeface="思源黑体-思源黑体-Medium" pitchFamily="34" charset="-122"/>
                <a:cs typeface="思源黑体-思源黑体-Medium" pitchFamily="34" charset="-120"/>
              </a:rPr>
              <a:t> </a:t>
            </a:r>
            <a:endParaRPr lang="en-US" sz="153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4974336" cy="8238744"/>
          </a:xfrm>
          <a:prstGeom prst="rect">
            <a:avLst/>
          </a:prstGeom>
        </p:spPr>
      </p:pic>
      <p:sp>
        <p:nvSpPr>
          <p:cNvPr id="4" name="Text 0"/>
          <p:cNvSpPr/>
          <p:nvPr/>
        </p:nvSpPr>
        <p:spPr>
          <a:xfrm>
            <a:off x="5660136" y="3282696"/>
            <a:ext cx="8293608" cy="612648"/>
          </a:xfrm>
          <a:prstGeom prst="rect">
            <a:avLst/>
          </a:prstGeom>
          <a:noFill/>
          <a:ln/>
        </p:spPr>
        <p:txBody>
          <a:bodyPr wrap="none" lIns="0" tIns="0" rIns="0" bIns="0" rtlCol="0" anchor="ctr"/>
          <a:lstStyle/>
          <a:p>
            <a:pPr marL="0" indent="0" algn="l">
              <a:lnSpc>
                <a:spcPts val="4800"/>
              </a:lnSpc>
              <a:buNone/>
            </a:pPr>
            <a:r>
              <a:rPr lang="en-US" sz="3840" dirty="0">
                <a:solidFill>
                  <a:srgbClr val="2F3550"/>
                </a:solidFill>
                <a:latin typeface="思源黑体-思源黑体-SemiBold" pitchFamily="34" charset="0"/>
                <a:ea typeface="思源黑体-思源黑体-SemiBold" pitchFamily="34" charset="-122"/>
                <a:cs typeface="思源黑体-思源黑体-SemiBold" pitchFamily="34" charset="-120"/>
              </a:rPr>
              <a:t>Data Pre-processing (10 Marks)</a:t>
            </a:r>
            <a:endParaRPr lang="en-US" sz="3840" dirty="0"/>
          </a:p>
        </p:txBody>
      </p:sp>
      <p:sp>
        <p:nvSpPr>
          <p:cNvPr id="5" name="Text 1"/>
          <p:cNvSpPr/>
          <p:nvPr/>
        </p:nvSpPr>
        <p:spPr>
          <a:xfrm>
            <a:off x="5660136" y="4114800"/>
            <a:ext cx="8293608" cy="630936"/>
          </a:xfrm>
          <a:prstGeom prst="rect">
            <a:avLst/>
          </a:prstGeom>
          <a:noFill/>
          <a:ln/>
        </p:spPr>
        <p:txBody>
          <a:bodyPr wrap="square" lIns="0" tIns="0" rIns="0" bIns="0" rtlCol="0" anchor="ctr"/>
          <a:lstStyle/>
          <a:p>
            <a:pPr marL="0" indent="0" algn="l">
              <a:lnSpc>
                <a:spcPts val="2450"/>
              </a:lnSpc>
              <a:buNone/>
            </a:pPr>
            <a:r>
              <a:rPr lang="en-US" sz="1530" dirty="0">
                <a:solidFill>
                  <a:srgbClr val="3B3A59"/>
                </a:solidFill>
                <a:latin typeface="思源黑体-思源黑体-Medium" pitchFamily="34" charset="0"/>
                <a:ea typeface="思源黑体-思源黑体-Medium" pitchFamily="34" charset="-122"/>
                <a:cs typeface="思源黑体-思源黑体-Medium" pitchFamily="34" charset="-120"/>
              </a:rPr>
              <a:t>Data Pre-processing is the crucial phase of taking raw, messy collected data and making it clean, consistent, and numerical so the AI model can successfully learn from it.</a:t>
            </a:r>
            <a:endParaRPr lang="en-US" sz="153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5"/>
          <a:stretch>
            <a:fillRect/>
          </a:stretch>
        </p:blipFill>
        <p:spPr>
          <a:xfrm>
            <a:off x="685800" y="2587752"/>
            <a:ext cx="6537960" cy="1673352"/>
          </a:xfrm>
          <a:prstGeom prst="rect">
            <a:avLst/>
          </a:prstGeom>
        </p:spPr>
      </p:pic>
      <p:pic>
        <p:nvPicPr>
          <p:cNvPr id="5" name="Image 3" descr="preencoded.png"/>
          <p:cNvPicPr>
            <a:picLocks noChangeAspect="1"/>
          </p:cNvPicPr>
          <p:nvPr/>
        </p:nvPicPr>
        <p:blipFill>
          <a:blip r:embed="rId5"/>
          <a:stretch>
            <a:fillRect/>
          </a:stretch>
        </p:blipFill>
        <p:spPr>
          <a:xfrm>
            <a:off x="7415784" y="2587752"/>
            <a:ext cx="6537960" cy="1673352"/>
          </a:xfrm>
          <a:prstGeom prst="rect">
            <a:avLst/>
          </a:prstGeom>
        </p:spPr>
      </p:pic>
      <p:pic>
        <p:nvPicPr>
          <p:cNvPr id="6" name="Image 4" descr="preencoded.png"/>
          <p:cNvPicPr>
            <a:picLocks noChangeAspect="1"/>
          </p:cNvPicPr>
          <p:nvPr/>
        </p:nvPicPr>
        <p:blipFill>
          <a:blip r:embed="rId6"/>
          <a:stretch>
            <a:fillRect/>
          </a:stretch>
        </p:blipFill>
        <p:spPr>
          <a:xfrm>
            <a:off x="685800" y="2587752"/>
            <a:ext cx="128016" cy="1673352"/>
          </a:xfrm>
          <a:prstGeom prst="rect">
            <a:avLst/>
          </a:prstGeom>
        </p:spPr>
      </p:pic>
      <p:pic>
        <p:nvPicPr>
          <p:cNvPr id="7" name="Image 5" descr="preencoded.png"/>
          <p:cNvPicPr>
            <a:picLocks noChangeAspect="1"/>
          </p:cNvPicPr>
          <p:nvPr/>
        </p:nvPicPr>
        <p:blipFill>
          <a:blip r:embed="rId6"/>
          <a:stretch>
            <a:fillRect/>
          </a:stretch>
        </p:blipFill>
        <p:spPr>
          <a:xfrm>
            <a:off x="7415784" y="2587752"/>
            <a:ext cx="128016" cy="1673352"/>
          </a:xfrm>
          <a:prstGeom prst="rect">
            <a:avLst/>
          </a:prstGeom>
        </p:spPr>
      </p:pic>
      <p:sp>
        <p:nvSpPr>
          <p:cNvPr id="8" name="Text 0"/>
          <p:cNvSpPr/>
          <p:nvPr/>
        </p:nvSpPr>
        <p:spPr>
          <a:xfrm>
            <a:off x="685800" y="1764792"/>
            <a:ext cx="13267944" cy="612648"/>
          </a:xfrm>
          <a:prstGeom prst="rect">
            <a:avLst/>
          </a:prstGeom>
          <a:noFill/>
          <a:ln/>
        </p:spPr>
        <p:txBody>
          <a:bodyPr wrap="none" lIns="0" tIns="0" rIns="0" bIns="0" rtlCol="0" anchor="ctr"/>
          <a:lstStyle/>
          <a:p>
            <a:pPr marL="0" indent="0" algn="l">
              <a:lnSpc>
                <a:spcPts val="4800"/>
              </a:lnSpc>
              <a:buNone/>
            </a:pPr>
            <a:r>
              <a:rPr lang="en-US" sz="3840" dirty="0">
                <a:solidFill>
                  <a:srgbClr val="2F3550"/>
                </a:solidFill>
                <a:latin typeface="思源黑体-思源黑体-SemiBold" pitchFamily="34" charset="0"/>
                <a:ea typeface="思源黑体-思源黑体-SemiBold" pitchFamily="34" charset="-122"/>
                <a:cs typeface="思源黑体-思源黑体-SemiBold" pitchFamily="34" charset="-120"/>
              </a:rPr>
              <a:t>Cleaning (3 Marks)</a:t>
            </a:r>
            <a:endParaRPr lang="en-US" sz="3840" dirty="0"/>
          </a:p>
        </p:txBody>
      </p:sp>
      <p:sp>
        <p:nvSpPr>
          <p:cNvPr id="9" name="Text 1"/>
          <p:cNvSpPr/>
          <p:nvPr/>
        </p:nvSpPr>
        <p:spPr>
          <a:xfrm>
            <a:off x="978408" y="2715768"/>
            <a:ext cx="6025896" cy="310896"/>
          </a:xfrm>
          <a:prstGeom prst="rect">
            <a:avLst/>
          </a:prstGeom>
          <a:noFill/>
          <a:ln/>
        </p:spPr>
        <p:txBody>
          <a:bodyPr wrap="none" lIns="0" tIns="0" rIns="0" bIns="0" rtlCol="0" anchor="ctr"/>
          <a:lstStyle/>
          <a:p>
            <a:pPr marL="0" indent="0" algn="l">
              <a:lnSpc>
                <a:spcPts val="2400"/>
              </a:lnSpc>
              <a:buNone/>
            </a:pPr>
            <a:r>
              <a:rPr lang="en-US" sz="1920" dirty="0">
                <a:solidFill>
                  <a:srgbClr val="3B3A59"/>
                </a:solidFill>
                <a:latin typeface="思源黑体-思源黑体-SemiBold" pitchFamily="34" charset="0"/>
                <a:ea typeface="思源黑体-思源黑体-SemiBold" pitchFamily="34" charset="-122"/>
                <a:cs typeface="思源黑体-思源黑体-SemiBold" pitchFamily="34" charset="-120"/>
              </a:rPr>
              <a:t>Purpose</a:t>
            </a:r>
            <a:endParaRPr lang="en-US" sz="1920" dirty="0"/>
          </a:p>
        </p:txBody>
      </p:sp>
      <p:sp>
        <p:nvSpPr>
          <p:cNvPr id="10" name="Text 2"/>
          <p:cNvSpPr/>
          <p:nvPr/>
        </p:nvSpPr>
        <p:spPr>
          <a:xfrm>
            <a:off x="978408" y="3200400"/>
            <a:ext cx="6025896" cy="941832"/>
          </a:xfrm>
          <a:prstGeom prst="rect">
            <a:avLst/>
          </a:prstGeom>
          <a:noFill/>
          <a:ln/>
        </p:spPr>
        <p:txBody>
          <a:bodyPr wrap="square" lIns="0" tIns="0" rIns="0" bIns="0" rtlCol="0" anchor="ctr"/>
          <a:lstStyle/>
          <a:p>
            <a:pPr marL="0" indent="0" algn="l">
              <a:lnSpc>
                <a:spcPts val="2450"/>
              </a:lnSpc>
              <a:buNone/>
            </a:pPr>
            <a:r>
              <a:rPr lang="en-US" sz="1530" dirty="0">
                <a:solidFill>
                  <a:srgbClr val="3B3A59"/>
                </a:solidFill>
                <a:latin typeface="思源黑体-思源黑体-Medium" pitchFamily="34" charset="0"/>
                <a:ea typeface="思源黑体-思源黑体-Medium" pitchFamily="34" charset="-122"/>
                <a:cs typeface="思源黑体-思源黑体-Medium" pitchFamily="34" charset="-120"/>
              </a:rPr>
              <a:t> To find and eliminate errors, corrupt files, or totally unusable images in your dataset. If you train a model on bad data, you will get bad results (Garbage In, Garbage Out).</a:t>
            </a:r>
            <a:endParaRPr lang="en-US" sz="1530" dirty="0"/>
          </a:p>
        </p:txBody>
      </p:sp>
      <p:sp>
        <p:nvSpPr>
          <p:cNvPr id="11" name="Text 3"/>
          <p:cNvSpPr/>
          <p:nvPr/>
        </p:nvSpPr>
        <p:spPr>
          <a:xfrm>
            <a:off x="685800" y="4480560"/>
            <a:ext cx="13267944" cy="320040"/>
          </a:xfrm>
          <a:prstGeom prst="rect">
            <a:avLst/>
          </a:prstGeom>
          <a:noFill/>
          <a:ln/>
        </p:spPr>
        <p:txBody>
          <a:bodyPr wrap="none" lIns="0" tIns="0" rIns="0" bIns="0" rtlCol="0" anchor="ctr"/>
          <a:lstStyle/>
          <a:p>
            <a:pPr marL="0" indent="0" algn="l">
              <a:lnSpc>
                <a:spcPts val="2450"/>
              </a:lnSpc>
              <a:buNone/>
            </a:pPr>
            <a:r>
              <a:rPr lang="en-US" sz="1530" dirty="0">
                <a:solidFill>
                  <a:srgbClr val="3B3A59"/>
                </a:solidFill>
                <a:latin typeface="思源黑体-思源黑体-Medium" pitchFamily="34" charset="0"/>
                <a:ea typeface="思源黑体-思源黑体-Medium" pitchFamily="34" charset="-122"/>
                <a:cs typeface="思源黑体-思源黑体-Medium" pitchFamily="34" charset="-120"/>
              </a:rPr>
              <a:t>Python Code:</a:t>
            </a:r>
            <a:endParaRPr lang="en-US" sz="1530" dirty="0"/>
          </a:p>
        </p:txBody>
      </p:sp>
      <p:sp>
        <p:nvSpPr>
          <p:cNvPr id="13" name="Text 5"/>
          <p:cNvSpPr/>
          <p:nvPr/>
        </p:nvSpPr>
        <p:spPr>
          <a:xfrm>
            <a:off x="7708392" y="2715768"/>
            <a:ext cx="6025896" cy="310896"/>
          </a:xfrm>
          <a:prstGeom prst="rect">
            <a:avLst/>
          </a:prstGeom>
          <a:noFill/>
          <a:ln/>
        </p:spPr>
        <p:txBody>
          <a:bodyPr wrap="none" lIns="0" tIns="0" rIns="0" bIns="0" rtlCol="0" anchor="ctr"/>
          <a:lstStyle/>
          <a:p>
            <a:pPr marL="0" indent="0" algn="l">
              <a:lnSpc>
                <a:spcPts val="2400"/>
              </a:lnSpc>
              <a:buNone/>
            </a:pPr>
            <a:r>
              <a:rPr lang="en-US" sz="1920" dirty="0">
                <a:solidFill>
                  <a:srgbClr val="3B3A59"/>
                </a:solidFill>
                <a:latin typeface="思源黑体-思源黑体-SemiBold" pitchFamily="34" charset="0"/>
                <a:ea typeface="思源黑体-思源黑体-SemiBold" pitchFamily="34" charset="-122"/>
                <a:cs typeface="思源黑体-思源黑体-SemiBold" pitchFamily="34" charset="-120"/>
              </a:rPr>
              <a:t>Specific Example (Image Dataset)</a:t>
            </a:r>
            <a:endParaRPr lang="en-US" sz="1920" dirty="0"/>
          </a:p>
        </p:txBody>
      </p:sp>
      <p:sp>
        <p:nvSpPr>
          <p:cNvPr id="14" name="Text 6"/>
          <p:cNvSpPr/>
          <p:nvPr/>
        </p:nvSpPr>
        <p:spPr>
          <a:xfrm>
            <a:off x="7708392" y="3200400"/>
            <a:ext cx="6025896" cy="630936"/>
          </a:xfrm>
          <a:prstGeom prst="rect">
            <a:avLst/>
          </a:prstGeom>
          <a:noFill/>
          <a:ln/>
        </p:spPr>
        <p:txBody>
          <a:bodyPr wrap="square" lIns="0" tIns="0" rIns="0" bIns="0" rtlCol="0" anchor="ctr"/>
          <a:lstStyle/>
          <a:p>
            <a:pPr marL="0" indent="0" algn="l">
              <a:lnSpc>
                <a:spcPts val="2450"/>
              </a:lnSpc>
              <a:buNone/>
            </a:pPr>
            <a:r>
              <a:rPr lang="en-US" sz="1530" dirty="0">
                <a:solidFill>
                  <a:srgbClr val="3B3A59"/>
                </a:solidFill>
                <a:latin typeface="思源黑体-思源黑体-Medium" pitchFamily="34" charset="0"/>
                <a:ea typeface="思源黑体-思源黑体-Medium" pitchFamily="34" charset="-122"/>
                <a:cs typeface="思源黑体-思源黑体-Medium" pitchFamily="34" charset="-120"/>
              </a:rPr>
              <a:t> Removing images that are completely blurry, totally black, or corrupted (the file won't open).</a:t>
            </a:r>
            <a:endParaRPr lang="en-US" sz="153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27435" y="1846659"/>
            <a:ext cx="9475076" cy="3693319"/>
          </a:xfrm>
          <a:prstGeom prst="rect">
            <a:avLst/>
          </a:prstGeom>
        </p:spPr>
        <p:txBody>
          <a:bodyPr wrap="square">
            <a:spAutoFit/>
          </a:bodyPr>
          <a:lstStyle/>
          <a:p>
            <a:r>
              <a:rPr lang="en-US" b="0" dirty="0" smtClean="0">
                <a:solidFill>
                  <a:srgbClr val="008000"/>
                </a:solidFill>
                <a:effectLst/>
                <a:latin typeface="Consolas" panose="020B0609020204030204" pitchFamily="49" charset="0"/>
              </a:rPr>
              <a:t># Cleaning Example: Checking if an image file is usable</a:t>
            </a:r>
            <a:endParaRPr lang="en-US" b="0" dirty="0" smtClean="0">
              <a:solidFill>
                <a:srgbClr val="000000"/>
              </a:solidFill>
              <a:effectLst/>
              <a:latin typeface="Consolas" panose="020B0609020204030204" pitchFamily="49" charset="0"/>
            </a:endParaRPr>
          </a:p>
          <a:p>
            <a:r>
              <a:rPr lang="en-US" b="0" dirty="0" smtClean="0">
                <a:solidFill>
                  <a:srgbClr val="000000"/>
                </a:solidFill>
                <a:effectLst/>
                <a:latin typeface="Consolas" panose="020B0609020204030204" pitchFamily="49" charset="0"/>
              </a:rPr>
              <a:t/>
            </a:r>
            <a:br>
              <a:rPr lang="en-US" b="0" dirty="0" smtClean="0">
                <a:solidFill>
                  <a:srgbClr val="000000"/>
                </a:solidFill>
                <a:effectLst/>
                <a:latin typeface="Consolas" panose="020B0609020204030204" pitchFamily="49" charset="0"/>
              </a:rPr>
            </a:br>
            <a:r>
              <a:rPr lang="en-US" b="0" dirty="0" smtClean="0">
                <a:solidFill>
                  <a:srgbClr val="AF00DB"/>
                </a:solidFill>
                <a:effectLst/>
                <a:latin typeface="Consolas" panose="020B0609020204030204" pitchFamily="49" charset="0"/>
              </a:rPr>
              <a:t>from</a:t>
            </a:r>
            <a:r>
              <a:rPr lang="en-US" b="0" dirty="0" smtClean="0">
                <a:solidFill>
                  <a:srgbClr val="000000"/>
                </a:solidFill>
                <a:effectLst/>
                <a:latin typeface="Consolas" panose="020B0609020204030204" pitchFamily="49" charset="0"/>
              </a:rPr>
              <a:t> PIL </a:t>
            </a:r>
            <a:r>
              <a:rPr lang="en-US" b="0" dirty="0" smtClean="0">
                <a:solidFill>
                  <a:srgbClr val="AF00DB"/>
                </a:solidFill>
                <a:effectLst/>
                <a:latin typeface="Consolas" panose="020B0609020204030204" pitchFamily="49" charset="0"/>
              </a:rPr>
              <a:t>import</a:t>
            </a:r>
            <a:r>
              <a:rPr lang="en-US" b="0" dirty="0" smtClean="0">
                <a:solidFill>
                  <a:srgbClr val="000000"/>
                </a:solidFill>
                <a:effectLst/>
                <a:latin typeface="Consolas" panose="020B0609020204030204" pitchFamily="49" charset="0"/>
              </a:rPr>
              <a:t> Image </a:t>
            </a:r>
            <a:r>
              <a:rPr lang="en-US" b="0" dirty="0" smtClean="0">
                <a:solidFill>
                  <a:srgbClr val="008000"/>
                </a:solidFill>
                <a:effectLst/>
                <a:latin typeface="Consolas" panose="020B0609020204030204" pitchFamily="49" charset="0"/>
              </a:rPr>
              <a:t># The PIL library is great for basic image checks</a:t>
            </a:r>
            <a:endParaRPr lang="en-US" b="0" dirty="0" smtClean="0">
              <a:solidFill>
                <a:srgbClr val="000000"/>
              </a:solidFill>
              <a:effectLst/>
              <a:latin typeface="Consolas" panose="020B0609020204030204" pitchFamily="49" charset="0"/>
            </a:endParaRPr>
          </a:p>
          <a:p>
            <a:r>
              <a:rPr lang="en-US" b="0" dirty="0" smtClean="0">
                <a:solidFill>
                  <a:srgbClr val="000000"/>
                </a:solidFill>
                <a:effectLst/>
                <a:latin typeface="Consolas" panose="020B0609020204030204" pitchFamily="49" charset="0"/>
              </a:rPr>
              <a:t/>
            </a:r>
            <a:br>
              <a:rPr lang="en-US" b="0" dirty="0" smtClean="0">
                <a:solidFill>
                  <a:srgbClr val="000000"/>
                </a:solidFill>
                <a:effectLst/>
                <a:latin typeface="Consolas" panose="020B0609020204030204" pitchFamily="49" charset="0"/>
              </a:rPr>
            </a:br>
            <a:r>
              <a:rPr lang="en-US" b="0" dirty="0" smtClean="0">
                <a:solidFill>
                  <a:srgbClr val="AF00DB"/>
                </a:solidFill>
                <a:effectLst/>
                <a:latin typeface="Consolas" panose="020B0609020204030204" pitchFamily="49" charset="0"/>
              </a:rPr>
              <a:t>try</a:t>
            </a:r>
            <a:r>
              <a:rPr lang="en-US" b="0" dirty="0" smtClean="0">
                <a:solidFill>
                  <a:srgbClr val="000000"/>
                </a:solidFill>
                <a:effectLst/>
                <a:latin typeface="Consolas" panose="020B0609020204030204" pitchFamily="49" charset="0"/>
              </a:rPr>
              <a:t>:</a:t>
            </a:r>
          </a:p>
          <a:p>
            <a:r>
              <a:rPr lang="en-US" b="0" dirty="0" smtClean="0">
                <a:solidFill>
                  <a:srgbClr val="000000"/>
                </a:solidFill>
                <a:effectLst/>
                <a:latin typeface="Consolas" panose="020B0609020204030204" pitchFamily="49" charset="0"/>
              </a:rPr>
              <a:t>    </a:t>
            </a:r>
            <a:r>
              <a:rPr lang="en-US" b="0" dirty="0" smtClean="0">
                <a:solidFill>
                  <a:srgbClr val="008000"/>
                </a:solidFill>
                <a:effectLst/>
                <a:latin typeface="Consolas" panose="020B0609020204030204" pitchFamily="49" charset="0"/>
              </a:rPr>
              <a:t># 1. Try to open the file</a:t>
            </a:r>
            <a:endParaRPr lang="en-US" b="0" dirty="0" smtClean="0">
              <a:solidFill>
                <a:srgbClr val="000000"/>
              </a:solidFill>
              <a:effectLst/>
              <a:latin typeface="Consolas" panose="020B0609020204030204" pitchFamily="49" charset="0"/>
            </a:endParaRPr>
          </a:p>
          <a:p>
            <a:r>
              <a:rPr lang="en-US" b="0" dirty="0" smtClean="0">
                <a:solidFill>
                  <a:srgbClr val="000000"/>
                </a:solidFill>
                <a:effectLst/>
                <a:latin typeface="Consolas" panose="020B0609020204030204" pitchFamily="49" charset="0"/>
              </a:rPr>
              <a:t>    </a:t>
            </a:r>
            <a:r>
              <a:rPr lang="en-US" b="0" dirty="0" err="1" smtClean="0">
                <a:solidFill>
                  <a:srgbClr val="001080"/>
                </a:solidFill>
                <a:effectLst/>
                <a:latin typeface="Consolas" panose="020B0609020204030204" pitchFamily="49" charset="0"/>
              </a:rPr>
              <a:t>img</a:t>
            </a:r>
            <a:r>
              <a:rPr lang="en-US" b="0" dirty="0" smtClean="0">
                <a:solidFill>
                  <a:srgbClr val="000000"/>
                </a:solidFill>
                <a:effectLst/>
                <a:latin typeface="Consolas" panose="020B0609020204030204" pitchFamily="49" charset="0"/>
              </a:rPr>
              <a:t> = </a:t>
            </a:r>
            <a:r>
              <a:rPr lang="en-US" b="0" dirty="0" err="1" smtClean="0">
                <a:solidFill>
                  <a:srgbClr val="000000"/>
                </a:solidFill>
                <a:effectLst/>
                <a:latin typeface="Consolas" panose="020B0609020204030204" pitchFamily="49" charset="0"/>
              </a:rPr>
              <a:t>Image.</a:t>
            </a:r>
            <a:r>
              <a:rPr lang="en-US" b="0" dirty="0" err="1" smtClean="0">
                <a:solidFill>
                  <a:srgbClr val="795E26"/>
                </a:solidFill>
                <a:effectLst/>
                <a:latin typeface="Consolas" panose="020B0609020204030204" pitchFamily="49" charset="0"/>
              </a:rPr>
              <a:t>open</a:t>
            </a:r>
            <a:r>
              <a:rPr lang="en-US" b="0" dirty="0" smtClean="0">
                <a:solidFill>
                  <a:srgbClr val="000000"/>
                </a:solidFill>
                <a:effectLst/>
                <a:latin typeface="Consolas" panose="020B0609020204030204" pitchFamily="49" charset="0"/>
              </a:rPr>
              <a:t>(</a:t>
            </a:r>
            <a:r>
              <a:rPr lang="en-US" b="0" dirty="0" smtClean="0">
                <a:solidFill>
                  <a:srgbClr val="A31515"/>
                </a:solidFill>
                <a:effectLst/>
                <a:latin typeface="Consolas" panose="020B0609020204030204" pitchFamily="49" charset="0"/>
              </a:rPr>
              <a:t>"corrupt_pet_photo.jpg"</a:t>
            </a:r>
            <a:r>
              <a:rPr lang="en-US" b="0" dirty="0" smtClean="0">
                <a:solidFill>
                  <a:srgbClr val="000000"/>
                </a:solidFill>
                <a:effectLst/>
                <a:latin typeface="Consolas" panose="020B0609020204030204" pitchFamily="49" charset="0"/>
              </a:rPr>
              <a:t>) </a:t>
            </a:r>
          </a:p>
          <a:p>
            <a:r>
              <a:rPr lang="en-US" b="0" dirty="0" smtClean="0">
                <a:solidFill>
                  <a:srgbClr val="000000"/>
                </a:solidFill>
                <a:effectLst/>
                <a:latin typeface="Consolas" panose="020B0609020204030204" pitchFamily="49" charset="0"/>
              </a:rPr>
              <a:t>    </a:t>
            </a:r>
            <a:r>
              <a:rPr lang="en-US" b="0" dirty="0" smtClean="0">
                <a:solidFill>
                  <a:srgbClr val="008000"/>
                </a:solidFill>
                <a:effectLst/>
                <a:latin typeface="Consolas" panose="020B0609020204030204" pitchFamily="49" charset="0"/>
              </a:rPr>
              <a:t># 2. Force a check on the file's structure</a:t>
            </a:r>
            <a:endParaRPr lang="en-US" b="0" dirty="0" smtClean="0">
              <a:solidFill>
                <a:srgbClr val="000000"/>
              </a:solidFill>
              <a:effectLst/>
              <a:latin typeface="Consolas" panose="020B0609020204030204" pitchFamily="49" charset="0"/>
            </a:endParaRPr>
          </a:p>
          <a:p>
            <a:r>
              <a:rPr lang="en-US" b="0" dirty="0" smtClean="0">
                <a:solidFill>
                  <a:srgbClr val="000000"/>
                </a:solidFill>
                <a:effectLst/>
                <a:latin typeface="Consolas" panose="020B0609020204030204" pitchFamily="49" charset="0"/>
              </a:rPr>
              <a:t>    </a:t>
            </a:r>
            <a:r>
              <a:rPr lang="en-US" b="0" dirty="0" err="1" smtClean="0">
                <a:solidFill>
                  <a:srgbClr val="001080"/>
                </a:solidFill>
                <a:effectLst/>
                <a:latin typeface="Consolas" panose="020B0609020204030204" pitchFamily="49" charset="0"/>
              </a:rPr>
              <a:t>img</a:t>
            </a:r>
            <a:r>
              <a:rPr lang="en-US" b="0" dirty="0" err="1" smtClean="0">
                <a:solidFill>
                  <a:srgbClr val="000000"/>
                </a:solidFill>
                <a:effectLst/>
                <a:latin typeface="Consolas" panose="020B0609020204030204" pitchFamily="49" charset="0"/>
              </a:rPr>
              <a:t>.verify</a:t>
            </a:r>
            <a:r>
              <a:rPr lang="en-US" b="0" dirty="0" smtClean="0">
                <a:solidFill>
                  <a:srgbClr val="000000"/>
                </a:solidFill>
                <a:effectLst/>
                <a:latin typeface="Consolas" panose="020B0609020204030204" pitchFamily="49" charset="0"/>
              </a:rPr>
              <a:t>() </a:t>
            </a:r>
          </a:p>
          <a:p>
            <a:r>
              <a:rPr lang="en-US" b="0" dirty="0" smtClean="0">
                <a:solidFill>
                  <a:srgbClr val="000000"/>
                </a:solidFill>
                <a:effectLst/>
                <a:latin typeface="Consolas" panose="020B0609020204030204" pitchFamily="49" charset="0"/>
              </a:rPr>
              <a:t>    </a:t>
            </a:r>
            <a:r>
              <a:rPr lang="en-US" b="0" dirty="0" smtClean="0">
                <a:solidFill>
                  <a:srgbClr val="795E26"/>
                </a:solidFill>
                <a:effectLst/>
                <a:latin typeface="Consolas" panose="020B0609020204030204" pitchFamily="49" charset="0"/>
              </a:rPr>
              <a:t>print</a:t>
            </a:r>
            <a:r>
              <a:rPr lang="en-US" b="0" dirty="0" smtClean="0">
                <a:solidFill>
                  <a:srgbClr val="000000"/>
                </a:solidFill>
                <a:effectLst/>
                <a:latin typeface="Consolas" panose="020B0609020204030204" pitchFamily="49" charset="0"/>
              </a:rPr>
              <a:t>(</a:t>
            </a:r>
            <a:r>
              <a:rPr lang="en-US" b="0" dirty="0" smtClean="0">
                <a:solidFill>
                  <a:srgbClr val="A31515"/>
                </a:solidFill>
                <a:effectLst/>
                <a:latin typeface="Consolas" panose="020B0609020204030204" pitchFamily="49" charset="0"/>
              </a:rPr>
              <a:t>"Image is clean and verified."</a:t>
            </a:r>
            <a:r>
              <a:rPr lang="en-US" b="0" dirty="0" smtClean="0">
                <a:solidFill>
                  <a:srgbClr val="000000"/>
                </a:solidFill>
                <a:effectLst/>
                <a:latin typeface="Consolas" panose="020B0609020204030204" pitchFamily="49" charset="0"/>
              </a:rPr>
              <a:t>)</a:t>
            </a:r>
          </a:p>
          <a:p>
            <a:r>
              <a:rPr lang="en-US" b="0" dirty="0" smtClean="0">
                <a:solidFill>
                  <a:srgbClr val="AF00DB"/>
                </a:solidFill>
                <a:effectLst/>
                <a:latin typeface="Consolas" panose="020B0609020204030204" pitchFamily="49" charset="0"/>
              </a:rPr>
              <a:t>except</a:t>
            </a:r>
            <a:r>
              <a:rPr lang="en-US" b="0" dirty="0" smtClean="0">
                <a:solidFill>
                  <a:srgbClr val="000000"/>
                </a:solidFill>
                <a:effectLst/>
                <a:latin typeface="Consolas" panose="020B0609020204030204" pitchFamily="49" charset="0"/>
              </a:rPr>
              <a:t> </a:t>
            </a:r>
            <a:r>
              <a:rPr lang="en-US" b="0" dirty="0" smtClean="0">
                <a:solidFill>
                  <a:srgbClr val="267F99"/>
                </a:solidFill>
                <a:effectLst/>
                <a:latin typeface="Consolas" panose="020B0609020204030204" pitchFamily="49" charset="0"/>
              </a:rPr>
              <a:t>Exception</a:t>
            </a:r>
            <a:r>
              <a:rPr lang="en-US" b="0" dirty="0" smtClean="0">
                <a:solidFill>
                  <a:srgbClr val="000000"/>
                </a:solidFill>
                <a:effectLst/>
                <a:latin typeface="Consolas" panose="020B0609020204030204" pitchFamily="49" charset="0"/>
              </a:rPr>
              <a:t> </a:t>
            </a:r>
            <a:r>
              <a:rPr lang="en-US" b="0" dirty="0" smtClean="0">
                <a:solidFill>
                  <a:srgbClr val="AF00DB"/>
                </a:solidFill>
                <a:effectLst/>
                <a:latin typeface="Consolas" panose="020B0609020204030204" pitchFamily="49" charset="0"/>
              </a:rPr>
              <a:t>as</a:t>
            </a:r>
            <a:r>
              <a:rPr lang="en-US" b="0" dirty="0" smtClean="0">
                <a:solidFill>
                  <a:srgbClr val="000000"/>
                </a:solidFill>
                <a:effectLst/>
                <a:latin typeface="Consolas" panose="020B0609020204030204" pitchFamily="49" charset="0"/>
              </a:rPr>
              <a:t> </a:t>
            </a:r>
            <a:r>
              <a:rPr lang="en-US" b="0" dirty="0" smtClean="0">
                <a:solidFill>
                  <a:srgbClr val="001080"/>
                </a:solidFill>
                <a:effectLst/>
                <a:latin typeface="Consolas" panose="020B0609020204030204" pitchFamily="49" charset="0"/>
              </a:rPr>
              <a:t>e</a:t>
            </a:r>
            <a:r>
              <a:rPr lang="en-US" b="0" dirty="0" smtClean="0">
                <a:solidFill>
                  <a:srgbClr val="000000"/>
                </a:solidFill>
                <a:effectLst/>
                <a:latin typeface="Consolas" panose="020B0609020204030204" pitchFamily="49" charset="0"/>
              </a:rPr>
              <a:t>:</a:t>
            </a:r>
          </a:p>
          <a:p>
            <a:r>
              <a:rPr lang="en-US" b="0" dirty="0" smtClean="0">
                <a:solidFill>
                  <a:srgbClr val="000000"/>
                </a:solidFill>
                <a:effectLst/>
                <a:latin typeface="Consolas" panose="020B0609020204030204" pitchFamily="49" charset="0"/>
              </a:rPr>
              <a:t>    </a:t>
            </a:r>
            <a:r>
              <a:rPr lang="en-US" b="0" dirty="0" smtClean="0">
                <a:solidFill>
                  <a:srgbClr val="008000"/>
                </a:solidFill>
                <a:effectLst/>
                <a:latin typeface="Consolas" panose="020B0609020204030204" pitchFamily="49" charset="0"/>
              </a:rPr>
              <a:t># 3. If there is an error, this file is corrupted and must be removed</a:t>
            </a:r>
            <a:endParaRPr lang="en-US" b="0" dirty="0" smtClean="0">
              <a:solidFill>
                <a:srgbClr val="000000"/>
              </a:solidFill>
              <a:effectLst/>
              <a:latin typeface="Consolas" panose="020B0609020204030204" pitchFamily="49" charset="0"/>
            </a:endParaRPr>
          </a:p>
          <a:p>
            <a:r>
              <a:rPr lang="en-US" b="0" dirty="0" smtClean="0">
                <a:solidFill>
                  <a:srgbClr val="000000"/>
                </a:solidFill>
                <a:effectLst/>
                <a:latin typeface="Consolas" panose="020B0609020204030204" pitchFamily="49" charset="0"/>
              </a:rPr>
              <a:t>    </a:t>
            </a:r>
            <a:r>
              <a:rPr lang="en-US" b="0" dirty="0" smtClean="0">
                <a:solidFill>
                  <a:srgbClr val="795E26"/>
                </a:solidFill>
                <a:effectLst/>
                <a:latin typeface="Consolas" panose="020B0609020204030204" pitchFamily="49" charset="0"/>
              </a:rPr>
              <a:t>print</a:t>
            </a:r>
            <a:r>
              <a:rPr lang="en-US" b="0" dirty="0" smtClean="0">
                <a:solidFill>
                  <a:srgbClr val="000000"/>
                </a:solidFill>
                <a:effectLst/>
                <a:latin typeface="Consolas" panose="020B0609020204030204" pitchFamily="49" charset="0"/>
              </a:rPr>
              <a:t>(</a:t>
            </a:r>
            <a:r>
              <a:rPr lang="en-US" b="0" dirty="0" err="1" smtClean="0">
                <a:solidFill>
                  <a:srgbClr val="0000FF"/>
                </a:solidFill>
                <a:effectLst/>
                <a:latin typeface="Consolas" panose="020B0609020204030204" pitchFamily="49" charset="0"/>
              </a:rPr>
              <a:t>f</a:t>
            </a:r>
            <a:r>
              <a:rPr lang="en-US" b="0" dirty="0" err="1" smtClean="0">
                <a:solidFill>
                  <a:srgbClr val="A31515"/>
                </a:solidFill>
                <a:effectLst/>
                <a:latin typeface="Consolas" panose="020B0609020204030204" pitchFamily="49" charset="0"/>
              </a:rPr>
              <a:t>"ERROR</a:t>
            </a:r>
            <a:r>
              <a:rPr lang="en-US" b="0" dirty="0" smtClean="0">
                <a:solidFill>
                  <a:srgbClr val="A31515"/>
                </a:solidFill>
                <a:effectLst/>
                <a:latin typeface="Consolas" panose="020B0609020204030204" pitchFamily="49" charset="0"/>
              </a:rPr>
              <a:t>! Image is corrupt. It must be deleted. Details: </a:t>
            </a:r>
            <a:r>
              <a:rPr lang="en-US" b="0" dirty="0" smtClean="0">
                <a:solidFill>
                  <a:srgbClr val="0000FF"/>
                </a:solidFill>
                <a:effectLst/>
                <a:latin typeface="Consolas" panose="020B0609020204030204" pitchFamily="49" charset="0"/>
              </a:rPr>
              <a:t>{</a:t>
            </a:r>
            <a:r>
              <a:rPr lang="en-US" b="0" dirty="0" smtClean="0">
                <a:solidFill>
                  <a:srgbClr val="001080"/>
                </a:solidFill>
                <a:effectLst/>
                <a:latin typeface="Consolas" panose="020B0609020204030204" pitchFamily="49" charset="0"/>
              </a:rPr>
              <a:t>e</a:t>
            </a:r>
            <a:r>
              <a:rPr lang="en-US" b="0" dirty="0" smtClean="0">
                <a:solidFill>
                  <a:srgbClr val="0000FF"/>
                </a:solidFill>
                <a:effectLst/>
                <a:latin typeface="Consolas" panose="020B0609020204030204" pitchFamily="49" charset="0"/>
              </a:rPr>
              <a:t>}</a:t>
            </a:r>
            <a:r>
              <a:rPr lang="en-US" b="0" dirty="0" smtClean="0">
                <a:solidFill>
                  <a:srgbClr val="A31515"/>
                </a:solidFill>
                <a:effectLst/>
                <a:latin typeface="Consolas" panose="020B0609020204030204" pitchFamily="49" charset="0"/>
              </a:rPr>
              <a:t>"</a:t>
            </a:r>
            <a:r>
              <a:rPr lang="en-US" b="0" dirty="0" smtClean="0">
                <a:solidFill>
                  <a:srgbClr val="000000"/>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5746180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5"/>
          <a:stretch>
            <a:fillRect/>
          </a:stretch>
        </p:blipFill>
        <p:spPr>
          <a:xfrm>
            <a:off x="685800" y="2441448"/>
            <a:ext cx="6547104" cy="2331720"/>
          </a:xfrm>
          <a:prstGeom prst="rect">
            <a:avLst/>
          </a:prstGeom>
        </p:spPr>
      </p:pic>
      <p:pic>
        <p:nvPicPr>
          <p:cNvPr id="5" name="Image 3" descr="preencoded.png"/>
          <p:cNvPicPr>
            <a:picLocks noChangeAspect="1"/>
          </p:cNvPicPr>
          <p:nvPr/>
        </p:nvPicPr>
        <p:blipFill>
          <a:blip r:embed="rId6"/>
          <a:stretch>
            <a:fillRect/>
          </a:stretch>
        </p:blipFill>
        <p:spPr>
          <a:xfrm>
            <a:off x="7415784" y="2441448"/>
            <a:ext cx="6547104" cy="2331720"/>
          </a:xfrm>
          <a:prstGeom prst="rect">
            <a:avLst/>
          </a:prstGeom>
        </p:spPr>
      </p:pic>
      <p:pic>
        <p:nvPicPr>
          <p:cNvPr id="6" name="Image 4" descr="preencoded.png"/>
          <p:cNvPicPr>
            <a:picLocks noChangeAspect="1"/>
          </p:cNvPicPr>
          <p:nvPr/>
        </p:nvPicPr>
        <p:blipFill>
          <a:blip r:embed="rId7"/>
          <a:stretch>
            <a:fillRect/>
          </a:stretch>
        </p:blipFill>
        <p:spPr>
          <a:xfrm>
            <a:off x="713232" y="3026664"/>
            <a:ext cx="6483096" cy="1719072"/>
          </a:xfrm>
          <a:prstGeom prst="rect">
            <a:avLst/>
          </a:prstGeom>
        </p:spPr>
      </p:pic>
      <p:pic>
        <p:nvPicPr>
          <p:cNvPr id="7" name="Image 5" descr="preencoded.png"/>
          <p:cNvPicPr>
            <a:picLocks noChangeAspect="1"/>
          </p:cNvPicPr>
          <p:nvPr/>
        </p:nvPicPr>
        <p:blipFill>
          <a:blip r:embed="rId7"/>
          <a:stretch>
            <a:fillRect/>
          </a:stretch>
        </p:blipFill>
        <p:spPr>
          <a:xfrm>
            <a:off x="7443216" y="3026664"/>
            <a:ext cx="6483096" cy="1719072"/>
          </a:xfrm>
          <a:prstGeom prst="rect">
            <a:avLst/>
          </a:prstGeom>
        </p:spPr>
      </p:pic>
      <p:pic>
        <p:nvPicPr>
          <p:cNvPr id="8" name="Image 6" descr="preencoded.png"/>
          <p:cNvPicPr>
            <a:picLocks noChangeAspect="1"/>
          </p:cNvPicPr>
          <p:nvPr/>
        </p:nvPicPr>
        <p:blipFill>
          <a:blip r:embed="rId8"/>
          <a:stretch>
            <a:fillRect/>
          </a:stretch>
        </p:blipFill>
        <p:spPr>
          <a:xfrm>
            <a:off x="704088" y="2459736"/>
            <a:ext cx="6510528" cy="594360"/>
          </a:xfrm>
          <a:prstGeom prst="rect">
            <a:avLst/>
          </a:prstGeom>
        </p:spPr>
      </p:pic>
      <p:pic>
        <p:nvPicPr>
          <p:cNvPr id="9" name="Image 7" descr="preencoded.png"/>
          <p:cNvPicPr>
            <a:picLocks noChangeAspect="1"/>
          </p:cNvPicPr>
          <p:nvPr/>
        </p:nvPicPr>
        <p:blipFill>
          <a:blip r:embed="rId9"/>
          <a:stretch>
            <a:fillRect/>
          </a:stretch>
        </p:blipFill>
        <p:spPr>
          <a:xfrm>
            <a:off x="7424928" y="2459736"/>
            <a:ext cx="6510528" cy="594360"/>
          </a:xfrm>
          <a:prstGeom prst="rect">
            <a:avLst/>
          </a:prstGeom>
        </p:spPr>
      </p:pic>
      <p:sp>
        <p:nvSpPr>
          <p:cNvPr id="10" name="Text 0"/>
          <p:cNvSpPr/>
          <p:nvPr/>
        </p:nvSpPr>
        <p:spPr>
          <a:xfrm>
            <a:off x="685800" y="1655064"/>
            <a:ext cx="13267944" cy="585216"/>
          </a:xfrm>
          <a:prstGeom prst="rect">
            <a:avLst/>
          </a:prstGeom>
          <a:noFill/>
          <a:ln/>
        </p:spPr>
        <p:txBody>
          <a:bodyPr wrap="none" lIns="0" tIns="0" rIns="0" bIns="0" rtlCol="0" anchor="ctr"/>
          <a:lstStyle/>
          <a:p>
            <a:pPr marL="0" indent="0" algn="l">
              <a:lnSpc>
                <a:spcPts val="4550"/>
              </a:lnSpc>
              <a:buNone/>
            </a:pPr>
            <a:r>
              <a:rPr lang="en-US" sz="3640" dirty="0">
                <a:solidFill>
                  <a:srgbClr val="2F3550"/>
                </a:solidFill>
                <a:latin typeface="思源黑体-思源黑体-SemiBold" pitchFamily="34" charset="0"/>
                <a:ea typeface="思源黑体-思源黑体-SemiBold" pitchFamily="34" charset="-122"/>
                <a:cs typeface="思源黑体-思源黑体-SemiBold" pitchFamily="34" charset="-120"/>
              </a:rPr>
              <a:t>Filtering (3 Marks)</a:t>
            </a:r>
            <a:endParaRPr lang="en-US" sz="3640" dirty="0"/>
          </a:p>
        </p:txBody>
      </p:sp>
      <p:sp>
        <p:nvSpPr>
          <p:cNvPr id="11" name="Text 1"/>
          <p:cNvSpPr/>
          <p:nvPr/>
        </p:nvSpPr>
        <p:spPr>
          <a:xfrm>
            <a:off x="905256" y="3218688"/>
            <a:ext cx="6117336" cy="292608"/>
          </a:xfrm>
          <a:prstGeom prst="rect">
            <a:avLst/>
          </a:prstGeom>
          <a:noFill/>
          <a:ln/>
        </p:spPr>
        <p:txBody>
          <a:bodyPr wrap="none" lIns="0" tIns="0" rIns="0" bIns="0" rtlCol="0" anchor="ctr"/>
          <a:lstStyle/>
          <a:p>
            <a:pPr marL="0" indent="0" algn="l">
              <a:lnSpc>
                <a:spcPts val="2270"/>
              </a:lnSpc>
              <a:buNone/>
            </a:pPr>
            <a:r>
              <a:rPr lang="en-US" sz="1820" dirty="0">
                <a:solidFill>
                  <a:srgbClr val="3B3A59"/>
                </a:solidFill>
                <a:latin typeface="思源黑体-思源黑体-SemiBold" pitchFamily="34" charset="0"/>
                <a:ea typeface="思源黑体-思源黑体-SemiBold" pitchFamily="34" charset="-122"/>
                <a:cs typeface="思源黑体-思源黑体-SemiBold" pitchFamily="34" charset="-120"/>
              </a:rPr>
              <a:t>Purpose</a:t>
            </a:r>
            <a:endParaRPr lang="en-US" sz="1820" dirty="0"/>
          </a:p>
        </p:txBody>
      </p:sp>
      <p:sp>
        <p:nvSpPr>
          <p:cNvPr id="12" name="Text 2"/>
          <p:cNvSpPr/>
          <p:nvPr/>
        </p:nvSpPr>
        <p:spPr>
          <a:xfrm>
            <a:off x="905256" y="3666744"/>
            <a:ext cx="6117336" cy="896112"/>
          </a:xfrm>
          <a:prstGeom prst="rect">
            <a:avLst/>
          </a:prstGeom>
          <a:noFill/>
          <a:ln/>
        </p:spPr>
        <p:txBody>
          <a:bodyPr wrap="square" lIns="0" tIns="0" rIns="0" bIns="0" rtlCol="0" anchor="ctr"/>
          <a:lstStyle/>
          <a:p>
            <a:pPr marL="0" indent="0" algn="l">
              <a:lnSpc>
                <a:spcPts val="2330"/>
              </a:lnSpc>
              <a:buNone/>
            </a:pPr>
            <a:r>
              <a:rPr lang="en-US" sz="1450" dirty="0">
                <a:solidFill>
                  <a:srgbClr val="3B3A59"/>
                </a:solidFill>
                <a:latin typeface="思源黑体-思源黑体-Medium" pitchFamily="34" charset="0"/>
                <a:ea typeface="思源黑体-思源黑体-Medium" pitchFamily="34" charset="-122"/>
                <a:cs typeface="思源黑体-思源黑体-Medium" pitchFamily="34" charset="-120"/>
              </a:rPr>
              <a:t> To select only the data that is directly relevant to your specific goal (differentiating humans and pets). You remove noise and irrelevant content.</a:t>
            </a:r>
            <a:endParaRPr lang="en-US" sz="1450" dirty="0"/>
          </a:p>
        </p:txBody>
      </p:sp>
      <p:sp>
        <p:nvSpPr>
          <p:cNvPr id="13" name="Text 3"/>
          <p:cNvSpPr/>
          <p:nvPr/>
        </p:nvSpPr>
        <p:spPr>
          <a:xfrm>
            <a:off x="3895344" y="2587752"/>
            <a:ext cx="137160" cy="329184"/>
          </a:xfrm>
          <a:prstGeom prst="rect">
            <a:avLst/>
          </a:prstGeom>
          <a:noFill/>
          <a:ln/>
        </p:spPr>
        <p:txBody>
          <a:bodyPr wrap="none" lIns="0" tIns="0" rIns="0" bIns="0" rtlCol="0" anchor="ctr"/>
          <a:lstStyle/>
          <a:p>
            <a:pPr marL="0" indent="0" algn="l">
              <a:lnSpc>
                <a:spcPts val="2180"/>
              </a:lnSpc>
              <a:buNone/>
            </a:pPr>
            <a:r>
              <a:rPr lang="en-US" sz="1820" dirty="0">
                <a:solidFill>
                  <a:srgbClr val="080808"/>
                </a:solidFill>
                <a:latin typeface="思源黑体-思源黑体-Medium" pitchFamily="34" charset="0"/>
                <a:ea typeface="思源黑体-思源黑体-Medium" pitchFamily="34" charset="-122"/>
                <a:cs typeface="思源黑体-思源黑体-Medium" pitchFamily="34" charset="-120"/>
              </a:rPr>
              <a:t>1</a:t>
            </a:r>
            <a:endParaRPr lang="en-US" sz="1820" dirty="0"/>
          </a:p>
        </p:txBody>
      </p:sp>
      <p:sp>
        <p:nvSpPr>
          <p:cNvPr id="14" name="Text 4"/>
          <p:cNvSpPr/>
          <p:nvPr/>
        </p:nvSpPr>
        <p:spPr>
          <a:xfrm>
            <a:off x="685800" y="4983480"/>
            <a:ext cx="13267944" cy="301752"/>
          </a:xfrm>
          <a:prstGeom prst="rect">
            <a:avLst/>
          </a:prstGeom>
          <a:noFill/>
          <a:ln/>
        </p:spPr>
        <p:txBody>
          <a:bodyPr wrap="none" lIns="0" tIns="0" rIns="0" bIns="0" rtlCol="0" anchor="ctr"/>
          <a:lstStyle/>
          <a:p>
            <a:pPr marL="0" indent="0" algn="l">
              <a:lnSpc>
                <a:spcPts val="2330"/>
              </a:lnSpc>
              <a:buNone/>
            </a:pPr>
            <a:r>
              <a:rPr lang="en-US" sz="1450" dirty="0">
                <a:solidFill>
                  <a:srgbClr val="3B3A59"/>
                </a:solidFill>
                <a:latin typeface="思源黑体-思源黑体-Medium" pitchFamily="34" charset="0"/>
                <a:ea typeface="思源黑体-思源黑体-Medium" pitchFamily="34" charset="-122"/>
                <a:cs typeface="思源黑体-思源黑体-Medium" pitchFamily="34" charset="-120"/>
              </a:rPr>
              <a:t>Python Code:</a:t>
            </a:r>
            <a:endParaRPr lang="en-US" sz="1450" dirty="0"/>
          </a:p>
        </p:txBody>
      </p:sp>
      <p:sp>
        <p:nvSpPr>
          <p:cNvPr id="15" name="Text 5"/>
          <p:cNvSpPr/>
          <p:nvPr/>
        </p:nvSpPr>
        <p:spPr>
          <a:xfrm>
            <a:off x="685800" y="5486400"/>
            <a:ext cx="13267944" cy="896112"/>
          </a:xfrm>
          <a:prstGeom prst="rect">
            <a:avLst/>
          </a:prstGeom>
          <a:noFill/>
          <a:ln/>
        </p:spPr>
        <p:txBody>
          <a:bodyPr wrap="square" lIns="0" tIns="0" rIns="0" bIns="0" rtlCol="0" anchor="ctr"/>
          <a:lstStyle/>
          <a:p>
            <a:pPr marL="0" indent="0" algn="l">
              <a:lnSpc>
                <a:spcPts val="2330"/>
              </a:lnSpc>
              <a:buNone/>
            </a:pPr>
            <a:r>
              <a:rPr lang="en-US" sz="1450" dirty="0">
                <a:solidFill>
                  <a:srgbClr val="3B3A59"/>
                </a:solidFill>
                <a:latin typeface="思源黑体-思源黑体-Medium" pitchFamily="34" charset="0"/>
                <a:ea typeface="思源黑体-思源黑体-Medium" pitchFamily="34" charset="-122"/>
                <a:cs typeface="思源黑体-思源黑体-Medium" pitchFamily="34" charset="-120"/>
              </a:rPr>
              <a:t>image_label = "Tree" /# Assume this label was read from your collected data  /# We only want 'Human' or 'Pet' images for the Smart Surveillance System: if image_label in ['Human', 'Pet']:     print(f"Label '{image_label}' is relevant. KEEP this image.") else:     /# This image is useless for the model's job.     print(f"Label '{image_label}' is irrelevant. DISCARD this image.") </a:t>
            </a:r>
            <a:endParaRPr lang="en-US" sz="1450" dirty="0"/>
          </a:p>
        </p:txBody>
      </p:sp>
      <p:sp>
        <p:nvSpPr>
          <p:cNvPr id="16" name="Text 6"/>
          <p:cNvSpPr/>
          <p:nvPr/>
        </p:nvSpPr>
        <p:spPr>
          <a:xfrm>
            <a:off x="7626096" y="3218688"/>
            <a:ext cx="6117336" cy="292608"/>
          </a:xfrm>
          <a:prstGeom prst="rect">
            <a:avLst/>
          </a:prstGeom>
          <a:noFill/>
          <a:ln/>
        </p:spPr>
        <p:txBody>
          <a:bodyPr wrap="none" lIns="0" tIns="0" rIns="0" bIns="0" rtlCol="0" anchor="ctr"/>
          <a:lstStyle/>
          <a:p>
            <a:pPr marL="0" indent="0" algn="l">
              <a:lnSpc>
                <a:spcPts val="2270"/>
              </a:lnSpc>
              <a:buNone/>
            </a:pPr>
            <a:r>
              <a:rPr lang="en-US" sz="1820" dirty="0">
                <a:solidFill>
                  <a:srgbClr val="3B3A59"/>
                </a:solidFill>
                <a:latin typeface="思源黑体-思源黑体-SemiBold" pitchFamily="34" charset="0"/>
                <a:ea typeface="思源黑体-思源黑体-SemiBold" pitchFamily="34" charset="-122"/>
                <a:cs typeface="思源黑体-思源黑体-SemiBold" pitchFamily="34" charset="-120"/>
              </a:rPr>
              <a:t>Specific Example (Image Dataset)</a:t>
            </a:r>
            <a:endParaRPr lang="en-US" sz="1820" dirty="0"/>
          </a:p>
        </p:txBody>
      </p:sp>
      <p:sp>
        <p:nvSpPr>
          <p:cNvPr id="17" name="Text 7"/>
          <p:cNvSpPr/>
          <p:nvPr/>
        </p:nvSpPr>
        <p:spPr>
          <a:xfrm>
            <a:off x="7626096" y="3666744"/>
            <a:ext cx="6117336" cy="896112"/>
          </a:xfrm>
          <a:prstGeom prst="rect">
            <a:avLst/>
          </a:prstGeom>
          <a:noFill/>
          <a:ln/>
        </p:spPr>
        <p:txBody>
          <a:bodyPr wrap="square" lIns="0" tIns="0" rIns="0" bIns="0" rtlCol="0" anchor="ctr"/>
          <a:lstStyle/>
          <a:p>
            <a:pPr marL="0" indent="0" algn="l">
              <a:lnSpc>
                <a:spcPts val="2330"/>
              </a:lnSpc>
              <a:buNone/>
            </a:pPr>
            <a:r>
              <a:rPr lang="en-US" sz="1450" dirty="0">
                <a:solidFill>
                  <a:srgbClr val="3B3A59"/>
                </a:solidFill>
                <a:latin typeface="思源黑体-思源黑体-Medium" pitchFamily="34" charset="0"/>
                <a:ea typeface="思源黑体-思源黑体-Medium" pitchFamily="34" charset="-122"/>
                <a:cs typeface="思源黑体-思源黑体-Medium" pitchFamily="34" charset="-120"/>
              </a:rPr>
              <a:t> If your data collection accidentally picked up images of cars, boxes, or office equipment, you must filter them out. The model should only see the two classes it needs to learn: Human and Pet.</a:t>
            </a:r>
            <a:endParaRPr lang="en-US" sz="1450" dirty="0"/>
          </a:p>
        </p:txBody>
      </p:sp>
      <p:sp>
        <p:nvSpPr>
          <p:cNvPr id="18" name="Text 8"/>
          <p:cNvSpPr/>
          <p:nvPr/>
        </p:nvSpPr>
        <p:spPr>
          <a:xfrm>
            <a:off x="10616184" y="2587752"/>
            <a:ext cx="137160" cy="329184"/>
          </a:xfrm>
          <a:prstGeom prst="rect">
            <a:avLst/>
          </a:prstGeom>
          <a:noFill/>
          <a:ln/>
        </p:spPr>
        <p:txBody>
          <a:bodyPr wrap="none" lIns="0" tIns="0" rIns="0" bIns="0" rtlCol="0" anchor="ctr"/>
          <a:lstStyle/>
          <a:p>
            <a:pPr marL="0" indent="0" algn="l">
              <a:lnSpc>
                <a:spcPts val="2180"/>
              </a:lnSpc>
              <a:buNone/>
            </a:pPr>
            <a:r>
              <a:rPr lang="en-US" sz="1820" dirty="0">
                <a:solidFill>
                  <a:srgbClr val="080808"/>
                </a:solidFill>
                <a:latin typeface="思源黑体-思源黑体-Medium" pitchFamily="34" charset="0"/>
                <a:ea typeface="思源黑体-思源黑体-Medium" pitchFamily="34" charset="-122"/>
                <a:cs typeface="思源黑体-思源黑体-Medium" pitchFamily="34" charset="-120"/>
              </a:rPr>
              <a:t>2</a:t>
            </a:r>
            <a:endParaRPr lang="en-US" sz="182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27435" y="1846659"/>
            <a:ext cx="9475076" cy="2862322"/>
          </a:xfrm>
          <a:prstGeom prst="rect">
            <a:avLst/>
          </a:prstGeom>
        </p:spPr>
        <p:txBody>
          <a:bodyPr wrap="square">
            <a:spAutoFit/>
          </a:bodyPr>
          <a:lstStyle/>
          <a:p>
            <a:r>
              <a:rPr lang="en-US" b="0" dirty="0" smtClean="0">
                <a:solidFill>
                  <a:srgbClr val="008000"/>
                </a:solidFill>
                <a:effectLst/>
                <a:latin typeface="Consolas" panose="020B0609020204030204" pitchFamily="49" charset="0"/>
              </a:rPr>
              <a:t># Filtering Example: Selecting only images with the correct label</a:t>
            </a:r>
            <a:endParaRPr lang="en-US" b="0" dirty="0" smtClean="0">
              <a:solidFill>
                <a:srgbClr val="000000"/>
              </a:solidFill>
              <a:effectLst/>
              <a:latin typeface="Consolas" panose="020B0609020204030204" pitchFamily="49" charset="0"/>
            </a:endParaRPr>
          </a:p>
          <a:p>
            <a:r>
              <a:rPr lang="en-US" b="0" dirty="0" smtClean="0">
                <a:solidFill>
                  <a:srgbClr val="000000"/>
                </a:solidFill>
                <a:effectLst/>
                <a:latin typeface="Consolas" panose="020B0609020204030204" pitchFamily="49" charset="0"/>
              </a:rPr>
              <a:t/>
            </a:r>
            <a:br>
              <a:rPr lang="en-US" b="0" dirty="0" smtClean="0">
                <a:solidFill>
                  <a:srgbClr val="000000"/>
                </a:solidFill>
                <a:effectLst/>
                <a:latin typeface="Consolas" panose="020B0609020204030204" pitchFamily="49" charset="0"/>
              </a:rPr>
            </a:br>
            <a:r>
              <a:rPr lang="en-US" b="0" dirty="0" err="1" smtClean="0">
                <a:solidFill>
                  <a:srgbClr val="001080"/>
                </a:solidFill>
                <a:effectLst/>
                <a:latin typeface="Consolas" panose="020B0609020204030204" pitchFamily="49" charset="0"/>
              </a:rPr>
              <a:t>image_label</a:t>
            </a:r>
            <a:r>
              <a:rPr lang="en-US" b="0" dirty="0" smtClean="0">
                <a:solidFill>
                  <a:srgbClr val="000000"/>
                </a:solidFill>
                <a:effectLst/>
                <a:latin typeface="Consolas" panose="020B0609020204030204" pitchFamily="49" charset="0"/>
              </a:rPr>
              <a:t> = </a:t>
            </a:r>
            <a:r>
              <a:rPr lang="en-US" b="0" dirty="0" smtClean="0">
                <a:solidFill>
                  <a:srgbClr val="A31515"/>
                </a:solidFill>
                <a:effectLst/>
                <a:latin typeface="Consolas" panose="020B0609020204030204" pitchFamily="49" charset="0"/>
              </a:rPr>
              <a:t>"Tree"</a:t>
            </a:r>
            <a:r>
              <a:rPr lang="en-US" b="0" dirty="0" smtClean="0">
                <a:solidFill>
                  <a:srgbClr val="000000"/>
                </a:solidFill>
                <a:effectLst/>
                <a:latin typeface="Consolas" panose="020B0609020204030204" pitchFamily="49" charset="0"/>
              </a:rPr>
              <a:t> </a:t>
            </a:r>
            <a:r>
              <a:rPr lang="en-US" b="0" dirty="0" smtClean="0">
                <a:solidFill>
                  <a:srgbClr val="008000"/>
                </a:solidFill>
                <a:effectLst/>
                <a:latin typeface="Consolas" panose="020B0609020204030204" pitchFamily="49" charset="0"/>
              </a:rPr>
              <a:t># Assume this label was read from your collected data</a:t>
            </a:r>
            <a:endParaRPr lang="en-US" b="0" dirty="0" smtClean="0">
              <a:solidFill>
                <a:srgbClr val="000000"/>
              </a:solidFill>
              <a:effectLst/>
              <a:latin typeface="Consolas" panose="020B0609020204030204" pitchFamily="49" charset="0"/>
            </a:endParaRPr>
          </a:p>
          <a:p>
            <a:r>
              <a:rPr lang="en-US" b="0" dirty="0" smtClean="0">
                <a:solidFill>
                  <a:srgbClr val="000000"/>
                </a:solidFill>
                <a:effectLst/>
                <a:latin typeface="Consolas" panose="020B0609020204030204" pitchFamily="49" charset="0"/>
              </a:rPr>
              <a:t/>
            </a:r>
            <a:br>
              <a:rPr lang="en-US" b="0" dirty="0" smtClean="0">
                <a:solidFill>
                  <a:srgbClr val="000000"/>
                </a:solidFill>
                <a:effectLst/>
                <a:latin typeface="Consolas" panose="020B0609020204030204" pitchFamily="49" charset="0"/>
              </a:rPr>
            </a:br>
            <a:r>
              <a:rPr lang="en-US" b="0" dirty="0" smtClean="0">
                <a:solidFill>
                  <a:srgbClr val="008000"/>
                </a:solidFill>
                <a:effectLst/>
                <a:latin typeface="Consolas" panose="020B0609020204030204" pitchFamily="49" charset="0"/>
              </a:rPr>
              <a:t># We only want 'Human' or 'Pet' images for the Smart Surveillance System:</a:t>
            </a:r>
            <a:endParaRPr lang="en-US" b="0" dirty="0" smtClean="0">
              <a:solidFill>
                <a:srgbClr val="000000"/>
              </a:solidFill>
              <a:effectLst/>
              <a:latin typeface="Consolas" panose="020B0609020204030204" pitchFamily="49" charset="0"/>
            </a:endParaRPr>
          </a:p>
          <a:p>
            <a:r>
              <a:rPr lang="en-US" b="0" dirty="0" smtClean="0">
                <a:solidFill>
                  <a:srgbClr val="AF00DB"/>
                </a:solidFill>
                <a:effectLst/>
                <a:latin typeface="Consolas" panose="020B0609020204030204" pitchFamily="49" charset="0"/>
              </a:rPr>
              <a:t>if</a:t>
            </a:r>
            <a:r>
              <a:rPr lang="en-US" b="0" dirty="0" smtClean="0">
                <a:solidFill>
                  <a:srgbClr val="000000"/>
                </a:solidFill>
                <a:effectLst/>
                <a:latin typeface="Consolas" panose="020B0609020204030204" pitchFamily="49" charset="0"/>
              </a:rPr>
              <a:t> </a:t>
            </a:r>
            <a:r>
              <a:rPr lang="en-US" b="0" dirty="0" err="1" smtClean="0">
                <a:solidFill>
                  <a:srgbClr val="001080"/>
                </a:solidFill>
                <a:effectLst/>
                <a:latin typeface="Consolas" panose="020B0609020204030204" pitchFamily="49" charset="0"/>
              </a:rPr>
              <a:t>image_label</a:t>
            </a:r>
            <a:r>
              <a:rPr lang="en-US" b="0" dirty="0" smtClean="0">
                <a:solidFill>
                  <a:srgbClr val="000000"/>
                </a:solidFill>
                <a:effectLst/>
                <a:latin typeface="Consolas" panose="020B0609020204030204" pitchFamily="49" charset="0"/>
              </a:rPr>
              <a:t> </a:t>
            </a:r>
            <a:r>
              <a:rPr lang="en-US" b="0" dirty="0" smtClean="0">
                <a:solidFill>
                  <a:srgbClr val="0000FF"/>
                </a:solidFill>
                <a:effectLst/>
                <a:latin typeface="Consolas" panose="020B0609020204030204" pitchFamily="49" charset="0"/>
              </a:rPr>
              <a:t>in</a:t>
            </a:r>
            <a:r>
              <a:rPr lang="en-US" b="0" dirty="0" smtClean="0">
                <a:solidFill>
                  <a:srgbClr val="000000"/>
                </a:solidFill>
                <a:effectLst/>
                <a:latin typeface="Consolas" panose="020B0609020204030204" pitchFamily="49" charset="0"/>
              </a:rPr>
              <a:t> [</a:t>
            </a:r>
            <a:r>
              <a:rPr lang="en-US" b="0" dirty="0" smtClean="0">
                <a:solidFill>
                  <a:srgbClr val="A31515"/>
                </a:solidFill>
                <a:effectLst/>
                <a:latin typeface="Consolas" panose="020B0609020204030204" pitchFamily="49" charset="0"/>
              </a:rPr>
              <a:t>'Human'</a:t>
            </a:r>
            <a:r>
              <a:rPr lang="en-US" b="0" dirty="0" smtClean="0">
                <a:solidFill>
                  <a:srgbClr val="000000"/>
                </a:solidFill>
                <a:effectLst/>
                <a:latin typeface="Consolas" panose="020B0609020204030204" pitchFamily="49" charset="0"/>
              </a:rPr>
              <a:t>, </a:t>
            </a:r>
            <a:r>
              <a:rPr lang="en-US" b="0" dirty="0" smtClean="0">
                <a:solidFill>
                  <a:srgbClr val="A31515"/>
                </a:solidFill>
                <a:effectLst/>
                <a:latin typeface="Consolas" panose="020B0609020204030204" pitchFamily="49" charset="0"/>
              </a:rPr>
              <a:t>'Pet'</a:t>
            </a:r>
            <a:r>
              <a:rPr lang="en-US" b="0" dirty="0" smtClean="0">
                <a:solidFill>
                  <a:srgbClr val="000000"/>
                </a:solidFill>
                <a:effectLst/>
                <a:latin typeface="Consolas" panose="020B0609020204030204" pitchFamily="49" charset="0"/>
              </a:rPr>
              <a:t>]:</a:t>
            </a:r>
          </a:p>
          <a:p>
            <a:r>
              <a:rPr lang="en-US" b="0" dirty="0" smtClean="0">
                <a:solidFill>
                  <a:srgbClr val="000000"/>
                </a:solidFill>
                <a:effectLst/>
                <a:latin typeface="Consolas" panose="020B0609020204030204" pitchFamily="49" charset="0"/>
              </a:rPr>
              <a:t>    </a:t>
            </a:r>
            <a:r>
              <a:rPr lang="en-US" b="0" dirty="0" smtClean="0">
                <a:solidFill>
                  <a:srgbClr val="795E26"/>
                </a:solidFill>
                <a:effectLst/>
                <a:latin typeface="Consolas" panose="020B0609020204030204" pitchFamily="49" charset="0"/>
              </a:rPr>
              <a:t>print</a:t>
            </a:r>
            <a:r>
              <a:rPr lang="en-US" b="0" dirty="0" smtClean="0">
                <a:solidFill>
                  <a:srgbClr val="000000"/>
                </a:solidFill>
                <a:effectLst/>
                <a:latin typeface="Consolas" panose="020B0609020204030204" pitchFamily="49" charset="0"/>
              </a:rPr>
              <a:t>(</a:t>
            </a:r>
            <a:r>
              <a:rPr lang="en-US" b="0" dirty="0" err="1" smtClean="0">
                <a:solidFill>
                  <a:srgbClr val="0000FF"/>
                </a:solidFill>
                <a:effectLst/>
                <a:latin typeface="Consolas" panose="020B0609020204030204" pitchFamily="49" charset="0"/>
              </a:rPr>
              <a:t>f</a:t>
            </a:r>
            <a:r>
              <a:rPr lang="en-US" b="0" dirty="0" err="1" smtClean="0">
                <a:solidFill>
                  <a:srgbClr val="A31515"/>
                </a:solidFill>
                <a:effectLst/>
                <a:latin typeface="Consolas" panose="020B0609020204030204" pitchFamily="49" charset="0"/>
              </a:rPr>
              <a:t>"Label</a:t>
            </a:r>
            <a:r>
              <a:rPr lang="en-US" b="0" dirty="0" smtClean="0">
                <a:solidFill>
                  <a:srgbClr val="A31515"/>
                </a:solidFill>
                <a:effectLst/>
                <a:latin typeface="Consolas" panose="020B0609020204030204" pitchFamily="49" charset="0"/>
              </a:rPr>
              <a:t> '</a:t>
            </a:r>
            <a:r>
              <a:rPr lang="en-US" b="0" dirty="0" smtClean="0">
                <a:solidFill>
                  <a:srgbClr val="0000FF"/>
                </a:solidFill>
                <a:effectLst/>
                <a:latin typeface="Consolas" panose="020B0609020204030204" pitchFamily="49" charset="0"/>
              </a:rPr>
              <a:t>{</a:t>
            </a:r>
            <a:r>
              <a:rPr lang="en-US" b="0" dirty="0" err="1" smtClean="0">
                <a:solidFill>
                  <a:srgbClr val="001080"/>
                </a:solidFill>
                <a:effectLst/>
                <a:latin typeface="Consolas" panose="020B0609020204030204" pitchFamily="49" charset="0"/>
              </a:rPr>
              <a:t>image_label</a:t>
            </a:r>
            <a:r>
              <a:rPr lang="en-US" b="0" dirty="0" smtClean="0">
                <a:solidFill>
                  <a:srgbClr val="0000FF"/>
                </a:solidFill>
                <a:effectLst/>
                <a:latin typeface="Consolas" panose="020B0609020204030204" pitchFamily="49" charset="0"/>
              </a:rPr>
              <a:t>}</a:t>
            </a:r>
            <a:r>
              <a:rPr lang="en-US" b="0" dirty="0" smtClean="0">
                <a:solidFill>
                  <a:srgbClr val="A31515"/>
                </a:solidFill>
                <a:effectLst/>
                <a:latin typeface="Consolas" panose="020B0609020204030204" pitchFamily="49" charset="0"/>
              </a:rPr>
              <a:t>' is relevant. KEEP this image."</a:t>
            </a:r>
            <a:r>
              <a:rPr lang="en-US" b="0" dirty="0" smtClean="0">
                <a:solidFill>
                  <a:srgbClr val="000000"/>
                </a:solidFill>
                <a:effectLst/>
                <a:latin typeface="Consolas" panose="020B0609020204030204" pitchFamily="49" charset="0"/>
              </a:rPr>
              <a:t>)</a:t>
            </a:r>
          </a:p>
          <a:p>
            <a:r>
              <a:rPr lang="en-US" b="0" dirty="0" smtClean="0">
                <a:solidFill>
                  <a:srgbClr val="AF00DB"/>
                </a:solidFill>
                <a:effectLst/>
                <a:latin typeface="Consolas" panose="020B0609020204030204" pitchFamily="49" charset="0"/>
              </a:rPr>
              <a:t>else</a:t>
            </a:r>
            <a:r>
              <a:rPr lang="en-US" b="0" dirty="0" smtClean="0">
                <a:solidFill>
                  <a:srgbClr val="000000"/>
                </a:solidFill>
                <a:effectLst/>
                <a:latin typeface="Consolas" panose="020B0609020204030204" pitchFamily="49" charset="0"/>
              </a:rPr>
              <a:t>:</a:t>
            </a:r>
          </a:p>
          <a:p>
            <a:r>
              <a:rPr lang="en-US" b="0" dirty="0" smtClean="0">
                <a:solidFill>
                  <a:srgbClr val="000000"/>
                </a:solidFill>
                <a:effectLst/>
                <a:latin typeface="Consolas" panose="020B0609020204030204" pitchFamily="49" charset="0"/>
              </a:rPr>
              <a:t>    </a:t>
            </a:r>
            <a:r>
              <a:rPr lang="en-US" b="0" dirty="0" smtClean="0">
                <a:solidFill>
                  <a:srgbClr val="008000"/>
                </a:solidFill>
                <a:effectLst/>
                <a:latin typeface="Consolas" panose="020B0609020204030204" pitchFamily="49" charset="0"/>
              </a:rPr>
              <a:t># This image is useless for the model's job.</a:t>
            </a:r>
            <a:endParaRPr lang="en-US" b="0" dirty="0" smtClean="0">
              <a:solidFill>
                <a:srgbClr val="000000"/>
              </a:solidFill>
              <a:effectLst/>
              <a:latin typeface="Consolas" panose="020B0609020204030204" pitchFamily="49" charset="0"/>
            </a:endParaRPr>
          </a:p>
          <a:p>
            <a:r>
              <a:rPr lang="en-US" b="0" dirty="0" smtClean="0">
                <a:solidFill>
                  <a:srgbClr val="000000"/>
                </a:solidFill>
                <a:effectLst/>
                <a:latin typeface="Consolas" panose="020B0609020204030204" pitchFamily="49" charset="0"/>
              </a:rPr>
              <a:t>    </a:t>
            </a:r>
            <a:r>
              <a:rPr lang="en-US" b="0" dirty="0" smtClean="0">
                <a:solidFill>
                  <a:srgbClr val="795E26"/>
                </a:solidFill>
                <a:effectLst/>
                <a:latin typeface="Consolas" panose="020B0609020204030204" pitchFamily="49" charset="0"/>
              </a:rPr>
              <a:t>print</a:t>
            </a:r>
            <a:r>
              <a:rPr lang="en-US" b="0" dirty="0" smtClean="0">
                <a:solidFill>
                  <a:srgbClr val="000000"/>
                </a:solidFill>
                <a:effectLst/>
                <a:latin typeface="Consolas" panose="020B0609020204030204" pitchFamily="49" charset="0"/>
              </a:rPr>
              <a:t>(</a:t>
            </a:r>
            <a:r>
              <a:rPr lang="en-US" b="0" dirty="0" err="1" smtClean="0">
                <a:solidFill>
                  <a:srgbClr val="0000FF"/>
                </a:solidFill>
                <a:effectLst/>
                <a:latin typeface="Consolas" panose="020B0609020204030204" pitchFamily="49" charset="0"/>
              </a:rPr>
              <a:t>f</a:t>
            </a:r>
            <a:r>
              <a:rPr lang="en-US" b="0" dirty="0" err="1" smtClean="0">
                <a:solidFill>
                  <a:srgbClr val="A31515"/>
                </a:solidFill>
                <a:effectLst/>
                <a:latin typeface="Consolas" panose="020B0609020204030204" pitchFamily="49" charset="0"/>
              </a:rPr>
              <a:t>"Label</a:t>
            </a:r>
            <a:r>
              <a:rPr lang="en-US" b="0" dirty="0" smtClean="0">
                <a:solidFill>
                  <a:srgbClr val="A31515"/>
                </a:solidFill>
                <a:effectLst/>
                <a:latin typeface="Consolas" panose="020B0609020204030204" pitchFamily="49" charset="0"/>
              </a:rPr>
              <a:t> '</a:t>
            </a:r>
            <a:r>
              <a:rPr lang="en-US" b="0" dirty="0" smtClean="0">
                <a:solidFill>
                  <a:srgbClr val="0000FF"/>
                </a:solidFill>
                <a:effectLst/>
                <a:latin typeface="Consolas" panose="020B0609020204030204" pitchFamily="49" charset="0"/>
              </a:rPr>
              <a:t>{</a:t>
            </a:r>
            <a:r>
              <a:rPr lang="en-US" b="0" dirty="0" err="1" smtClean="0">
                <a:solidFill>
                  <a:srgbClr val="001080"/>
                </a:solidFill>
                <a:effectLst/>
                <a:latin typeface="Consolas" panose="020B0609020204030204" pitchFamily="49" charset="0"/>
              </a:rPr>
              <a:t>image_label</a:t>
            </a:r>
            <a:r>
              <a:rPr lang="en-US" b="0" dirty="0" smtClean="0">
                <a:solidFill>
                  <a:srgbClr val="0000FF"/>
                </a:solidFill>
                <a:effectLst/>
                <a:latin typeface="Consolas" panose="020B0609020204030204" pitchFamily="49" charset="0"/>
              </a:rPr>
              <a:t>}</a:t>
            </a:r>
            <a:r>
              <a:rPr lang="en-US" b="0" dirty="0" smtClean="0">
                <a:solidFill>
                  <a:srgbClr val="A31515"/>
                </a:solidFill>
                <a:effectLst/>
                <a:latin typeface="Consolas" panose="020B0609020204030204" pitchFamily="49" charset="0"/>
              </a:rPr>
              <a:t>' is irrelevant. DISCARD this image."</a:t>
            </a:r>
            <a:r>
              <a:rPr lang="en-US" b="0" dirty="0" smtClean="0">
                <a:solidFill>
                  <a:srgbClr val="000000"/>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59766719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685800" y="1517904"/>
            <a:ext cx="13267944" cy="905256"/>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85800" y="2596896"/>
          <a:ext cx="13249656" cy="2880360"/>
        </p:xfrm>
        <a:graphic>
          <a:graphicData uri="http://schemas.openxmlformats.org/drawingml/2006/table">
            <a:tbl>
              <a:tblPr/>
              <a:tblGrid>
                <a:gridCol w="4416552">
                  <a:extLst>
                    <a:ext uri="{9D8B030D-6E8A-4147-A177-3AD203B41FA5}">
                      <a16:colId xmlns:a16="http://schemas.microsoft.com/office/drawing/2014/main" val="20000"/>
                    </a:ext>
                  </a:extLst>
                </a:gridCol>
                <a:gridCol w="4416552">
                  <a:extLst>
                    <a:ext uri="{9D8B030D-6E8A-4147-A177-3AD203B41FA5}">
                      <a16:colId xmlns:a16="http://schemas.microsoft.com/office/drawing/2014/main" val="20001"/>
                    </a:ext>
                  </a:extLst>
                </a:gridCol>
                <a:gridCol w="4416552">
                  <a:extLst>
                    <a:ext uri="{9D8B030D-6E8A-4147-A177-3AD203B41FA5}">
                      <a16:colId xmlns:a16="http://schemas.microsoft.com/office/drawing/2014/main" val="20002"/>
                    </a:ext>
                  </a:extLst>
                </a:gridCol>
              </a:tblGrid>
              <a:tr h="512064">
                <a:tc>
                  <a:txBody>
                    <a:bodyPr/>
                    <a:lstStyle/>
                    <a:p>
                      <a:pPr marL="0" indent="0" algn="l">
                        <a:lnSpc>
                          <a:spcPts val="2080"/>
                        </a:lnSpc>
                        <a:buNone/>
                      </a:pPr>
                      <a:r>
                        <a:rPr lang="en-US" sz="1300" dirty="0">
                          <a:solidFill>
                            <a:srgbClr val="DFE1EC"/>
                          </a:solidFill>
                          <a:latin typeface="思源黑体-思源黑体-Medium" pitchFamily="34" charset="0"/>
                          <a:ea typeface="思源黑体-思源黑体-Medium" pitchFamily="34" charset="-122"/>
                          <a:cs typeface="思源黑体-思源黑体-Medium" pitchFamily="34" charset="-120"/>
                        </a:rPr>
                        <a:t>Transformation Type</a:t>
                      </a:r>
                      <a:endParaRPr lang="en-US" sz="1200" dirty="0"/>
                    </a:p>
                  </a:txBody>
                  <a:tcPr marL="165100" marR="165100" marT="99060" marB="99060">
                    <a:lnL w="3810" cap="flat" cmpd="sng" algn="ctr">
                      <a:solidFill>
                        <a:srgbClr val="D9D9D9"/>
                      </a:solidFill>
                      <a:prstDash val="solid"/>
                      <a:round/>
                      <a:headEnd type="none" w="med" len="med"/>
                      <a:tailEnd type="none" w="med" len="med"/>
                    </a:lnL>
                    <a:lnR w="3810" cap="flat" cmpd="sng" algn="ctr">
                      <a:solidFill>
                        <a:srgbClr val="D9D9D9"/>
                      </a:solidFill>
                      <a:prstDash val="solid"/>
                      <a:round/>
                      <a:headEnd type="none" w="med" len="med"/>
                      <a:tailEnd type="none" w="med" len="med"/>
                    </a:lnR>
                    <a:lnT w="3810" cap="flat" cmpd="sng" algn="ctr">
                      <a:solidFill>
                        <a:srgbClr val="D9D9D9"/>
                      </a:solidFill>
                      <a:prstDash val="solid"/>
                      <a:round/>
                      <a:headEnd type="none" w="med" len="med"/>
                      <a:tailEnd type="none" w="med" len="med"/>
                    </a:lnT>
                    <a:lnB w="3810" cap="flat" cmpd="sng" algn="ctr">
                      <a:solidFill>
                        <a:srgbClr val="D9D9D9"/>
                      </a:solidFill>
                      <a:prstDash val="solid"/>
                      <a:round/>
                      <a:headEnd type="none" w="med" len="med"/>
                      <a:tailEnd type="none" w="med" len="med"/>
                    </a:lnB>
                    <a:solidFill>
                      <a:srgbClr val="2F3550"/>
                    </a:solidFill>
                  </a:tcPr>
                </a:tc>
                <a:tc>
                  <a:txBody>
                    <a:bodyPr/>
                    <a:lstStyle/>
                    <a:p>
                      <a:pPr marL="0" indent="0" algn="l">
                        <a:lnSpc>
                          <a:spcPts val="2080"/>
                        </a:lnSpc>
                        <a:buNone/>
                      </a:pPr>
                      <a:r>
                        <a:rPr lang="en-US" sz="1300" dirty="0">
                          <a:solidFill>
                            <a:srgbClr val="DFE1EC"/>
                          </a:solidFill>
                          <a:latin typeface="思源黑体-思源黑体-Medium" pitchFamily="34" charset="0"/>
                          <a:ea typeface="思源黑体-思源黑体-Medium" pitchFamily="34" charset="-122"/>
                          <a:cs typeface="思源黑体-思源黑体-Medium" pitchFamily="34" charset="-120"/>
                        </a:rPr>
                        <a:t>Description (Why it's needed)</a:t>
                      </a:r>
                      <a:endParaRPr lang="en-US" sz="1200" dirty="0"/>
                    </a:p>
                  </a:txBody>
                  <a:tcPr marL="165100" marR="165100" marT="99060" marB="99060">
                    <a:lnL w="3810" cap="flat" cmpd="sng" algn="ctr">
                      <a:solidFill>
                        <a:srgbClr val="D9D9D9"/>
                      </a:solidFill>
                      <a:prstDash val="solid"/>
                      <a:round/>
                      <a:headEnd type="none" w="med" len="med"/>
                      <a:tailEnd type="none" w="med" len="med"/>
                    </a:lnL>
                    <a:lnR w="3810" cap="flat" cmpd="sng" algn="ctr">
                      <a:solidFill>
                        <a:srgbClr val="D9D9D9"/>
                      </a:solidFill>
                      <a:prstDash val="solid"/>
                      <a:round/>
                      <a:headEnd type="none" w="med" len="med"/>
                      <a:tailEnd type="none" w="med" len="med"/>
                    </a:lnR>
                    <a:lnT w="3810" cap="flat" cmpd="sng" algn="ctr">
                      <a:solidFill>
                        <a:srgbClr val="D9D9D9"/>
                      </a:solidFill>
                      <a:prstDash val="solid"/>
                      <a:round/>
                      <a:headEnd type="none" w="med" len="med"/>
                      <a:tailEnd type="none" w="med" len="med"/>
                    </a:lnT>
                    <a:lnB w="3810" cap="flat" cmpd="sng" algn="ctr">
                      <a:solidFill>
                        <a:srgbClr val="D9D9D9"/>
                      </a:solidFill>
                      <a:prstDash val="solid"/>
                      <a:round/>
                      <a:headEnd type="none" w="med" len="med"/>
                      <a:tailEnd type="none" w="med" len="med"/>
                    </a:lnB>
                    <a:solidFill>
                      <a:srgbClr val="2F3550"/>
                    </a:solidFill>
                  </a:tcPr>
                </a:tc>
                <a:tc>
                  <a:txBody>
                    <a:bodyPr/>
                    <a:lstStyle/>
                    <a:p>
                      <a:pPr marL="0" indent="0" algn="l">
                        <a:lnSpc>
                          <a:spcPts val="2080"/>
                        </a:lnSpc>
                        <a:buNone/>
                      </a:pPr>
                      <a:r>
                        <a:rPr lang="en-US" sz="1300" dirty="0">
                          <a:solidFill>
                            <a:srgbClr val="DFE1EC"/>
                          </a:solidFill>
                          <a:latin typeface="思源黑体-思源黑体-Medium" pitchFamily="34" charset="0"/>
                          <a:ea typeface="思源黑体-思源黑体-Medium" pitchFamily="34" charset="-122"/>
                          <a:cs typeface="思源黑体-思源黑体-Medium" pitchFamily="34" charset="-120"/>
                        </a:rPr>
                        <a:t>Python Application (How the code transforms it)</a:t>
                      </a:r>
                      <a:endParaRPr lang="en-US" sz="1200" dirty="0"/>
                    </a:p>
                  </a:txBody>
                  <a:tcPr marL="165100" marR="165100" marT="99060" marB="99060">
                    <a:lnL w="3810" cap="flat" cmpd="sng" algn="ctr">
                      <a:solidFill>
                        <a:srgbClr val="D9D9D9"/>
                      </a:solidFill>
                      <a:prstDash val="solid"/>
                      <a:round/>
                      <a:headEnd type="none" w="med" len="med"/>
                      <a:tailEnd type="none" w="med" len="med"/>
                    </a:lnL>
                    <a:lnR w="3810" cap="flat" cmpd="sng" algn="ctr">
                      <a:solidFill>
                        <a:srgbClr val="D9D9D9"/>
                      </a:solidFill>
                      <a:prstDash val="solid"/>
                      <a:round/>
                      <a:headEnd type="none" w="med" len="med"/>
                      <a:tailEnd type="none" w="med" len="med"/>
                    </a:lnR>
                    <a:lnT w="3810" cap="flat" cmpd="sng" algn="ctr">
                      <a:solidFill>
                        <a:srgbClr val="D9D9D9"/>
                      </a:solidFill>
                      <a:prstDash val="solid"/>
                      <a:round/>
                      <a:headEnd type="none" w="med" len="med"/>
                      <a:tailEnd type="none" w="med" len="med"/>
                    </a:lnT>
                    <a:lnB w="3810" cap="flat" cmpd="sng" algn="ctr">
                      <a:solidFill>
                        <a:srgbClr val="D9D9D9"/>
                      </a:solidFill>
                      <a:prstDash val="solid"/>
                      <a:round/>
                      <a:headEnd type="none" w="med" len="med"/>
                      <a:tailEnd type="none" w="med" len="med"/>
                    </a:lnB>
                    <a:solidFill>
                      <a:srgbClr val="2F3550"/>
                    </a:solidFill>
                  </a:tcPr>
                </a:tc>
                <a:extLst>
                  <a:ext uri="{0D108BD9-81ED-4DB2-BD59-A6C34878D82A}">
                    <a16:rowId xmlns:a16="http://schemas.microsoft.com/office/drawing/2014/main" val="10000"/>
                  </a:ext>
                </a:extLst>
              </a:tr>
              <a:tr h="1051560">
                <a:tc>
                  <a:txBody>
                    <a:bodyPr/>
                    <a:lstStyle/>
                    <a:p>
                      <a:pPr marL="0" indent="0" algn="l">
                        <a:lnSpc>
                          <a:spcPts val="2080"/>
                        </a:lnSpc>
                        <a:buNone/>
                      </a:pPr>
                      <a:r>
                        <a:rPr lang="en-US" sz="1300" dirty="0">
                          <a:solidFill>
                            <a:srgbClr val="3B3A59"/>
                          </a:solidFill>
                          <a:latin typeface="思源黑体-思源黑体-Medium" pitchFamily="34" charset="0"/>
                          <a:ea typeface="思源黑体-思源黑体-Medium" pitchFamily="34" charset="-122"/>
                          <a:cs typeface="思源黑体-思源黑体-Medium" pitchFamily="34" charset="-120"/>
                        </a:rPr>
                        <a:t>Resizing (Standardization)</a:t>
                      </a:r>
                      <a:endParaRPr lang="en-US" sz="1200" dirty="0"/>
                    </a:p>
                  </a:txBody>
                  <a:tcPr marL="165100" marR="165100" marT="99060" marB="99060">
                    <a:lnL w="3810" cap="flat" cmpd="sng" algn="ctr">
                      <a:solidFill>
                        <a:srgbClr val="D9D9D9"/>
                      </a:solidFill>
                      <a:prstDash val="solid"/>
                      <a:round/>
                      <a:headEnd type="none" w="med" len="med"/>
                      <a:tailEnd type="none" w="med" len="med"/>
                    </a:lnL>
                    <a:lnR w="3810" cap="flat" cmpd="sng" algn="ctr">
                      <a:solidFill>
                        <a:srgbClr val="D9D9D9"/>
                      </a:solidFill>
                      <a:prstDash val="solid"/>
                      <a:round/>
                      <a:headEnd type="none" w="med" len="med"/>
                      <a:tailEnd type="none" w="med" len="med"/>
                    </a:lnR>
                    <a:lnT w="3810" cap="flat" cmpd="sng" algn="ctr">
                      <a:solidFill>
                        <a:srgbClr val="D9D9D9"/>
                      </a:solidFill>
                      <a:prstDash val="solid"/>
                      <a:round/>
                      <a:headEnd type="none" w="med" len="med"/>
                      <a:tailEnd type="none" w="med" len="med"/>
                    </a:lnT>
                    <a:lnB w="3810" cap="flat" cmpd="sng" algn="ctr">
                      <a:solidFill>
                        <a:srgbClr val="D9D9D9"/>
                      </a:solidFill>
                      <a:prstDash val="solid"/>
                      <a:round/>
                      <a:headEnd type="none" w="med" len="med"/>
                      <a:tailEnd type="none" w="med" len="med"/>
                    </a:lnB>
                    <a:solidFill>
                      <a:srgbClr val="8B9FD1"/>
                    </a:solidFill>
                  </a:tcPr>
                </a:tc>
                <a:tc>
                  <a:txBody>
                    <a:bodyPr/>
                    <a:lstStyle/>
                    <a:p>
                      <a:pPr marL="0" indent="0" algn="l">
                        <a:lnSpc>
                          <a:spcPts val="2080"/>
                        </a:lnSpc>
                        <a:buNone/>
                      </a:pPr>
                      <a:r>
                        <a:rPr lang="en-US" sz="1300" dirty="0">
                          <a:solidFill>
                            <a:srgbClr val="3B3A59"/>
                          </a:solidFill>
                          <a:latin typeface="思源黑体-思源黑体-Medium" pitchFamily="34" charset="0"/>
                          <a:ea typeface="思源黑体-思源黑体-Medium" pitchFamily="34" charset="-122"/>
                          <a:cs typeface="思源黑体-思源黑体-Medium" pitchFamily="34" charset="-120"/>
                        </a:rPr>
                        <a:t>All images must be forced to the exact same size (e.g., 224x224 pixels). This ensures the AI model has a consistent input shape every time.</a:t>
                      </a:r>
                      <a:endParaRPr lang="en-US" sz="1200" dirty="0"/>
                    </a:p>
                  </a:txBody>
                  <a:tcPr marL="165100" marR="165100" marT="99060" marB="99060">
                    <a:lnL w="3810" cap="flat" cmpd="sng" algn="ctr">
                      <a:solidFill>
                        <a:srgbClr val="D9D9D9"/>
                      </a:solidFill>
                      <a:prstDash val="solid"/>
                      <a:round/>
                      <a:headEnd type="none" w="med" len="med"/>
                      <a:tailEnd type="none" w="med" len="med"/>
                    </a:lnL>
                    <a:lnR w="3810" cap="flat" cmpd="sng" algn="ctr">
                      <a:solidFill>
                        <a:srgbClr val="D9D9D9"/>
                      </a:solidFill>
                      <a:prstDash val="solid"/>
                      <a:round/>
                      <a:headEnd type="none" w="med" len="med"/>
                      <a:tailEnd type="none" w="med" len="med"/>
                    </a:lnR>
                    <a:lnT w="3810" cap="flat" cmpd="sng" algn="ctr">
                      <a:solidFill>
                        <a:srgbClr val="D9D9D9"/>
                      </a:solidFill>
                      <a:prstDash val="solid"/>
                      <a:round/>
                      <a:headEnd type="none" w="med" len="med"/>
                      <a:tailEnd type="none" w="med" len="med"/>
                    </a:lnT>
                    <a:lnB w="3810" cap="flat" cmpd="sng" algn="ctr">
                      <a:solidFill>
                        <a:srgbClr val="D9D9D9"/>
                      </a:solidFill>
                      <a:prstDash val="solid"/>
                      <a:round/>
                      <a:headEnd type="none" w="med" len="med"/>
                      <a:tailEnd type="none" w="med" len="med"/>
                    </a:lnB>
                    <a:solidFill>
                      <a:srgbClr val="8B9FD1"/>
                    </a:solidFill>
                  </a:tcPr>
                </a:tc>
                <a:tc>
                  <a:txBody>
                    <a:bodyPr/>
                    <a:lstStyle/>
                    <a:p>
                      <a:pPr marL="0" indent="0" algn="l">
                        <a:lnSpc>
                          <a:spcPts val="2080"/>
                        </a:lnSpc>
                        <a:buNone/>
                      </a:pPr>
                      <a:r>
                        <a:rPr lang="en-US" sz="1300" dirty="0">
                          <a:solidFill>
                            <a:srgbClr val="3B3A59"/>
                          </a:solidFill>
                          <a:latin typeface="思源黑体-思源黑体-Medium" pitchFamily="34" charset="0"/>
                          <a:ea typeface="思源黑体-思源黑体-Medium" pitchFamily="34" charset="-122"/>
                          <a:cs typeface="思源黑体-思源黑体-Medium" pitchFamily="34" charset="-120"/>
                        </a:rPr>
                        <a:t>Use OpenCV (cv2.resize) to change the dimensions of the numerical image array.</a:t>
                      </a:r>
                      <a:endParaRPr lang="en-US" sz="1200" dirty="0"/>
                    </a:p>
                  </a:txBody>
                  <a:tcPr marL="165100" marR="165100" marT="99060" marB="99060">
                    <a:lnL w="3810" cap="flat" cmpd="sng" algn="ctr">
                      <a:solidFill>
                        <a:srgbClr val="D9D9D9"/>
                      </a:solidFill>
                      <a:prstDash val="solid"/>
                      <a:round/>
                      <a:headEnd type="none" w="med" len="med"/>
                      <a:tailEnd type="none" w="med" len="med"/>
                    </a:lnL>
                    <a:lnR w="3810" cap="flat" cmpd="sng" algn="ctr">
                      <a:solidFill>
                        <a:srgbClr val="D9D9D9"/>
                      </a:solidFill>
                      <a:prstDash val="solid"/>
                      <a:round/>
                      <a:headEnd type="none" w="med" len="med"/>
                      <a:tailEnd type="none" w="med" len="med"/>
                    </a:lnR>
                    <a:lnT w="3810" cap="flat" cmpd="sng" algn="ctr">
                      <a:solidFill>
                        <a:srgbClr val="D9D9D9"/>
                      </a:solidFill>
                      <a:prstDash val="solid"/>
                      <a:round/>
                      <a:headEnd type="none" w="med" len="med"/>
                      <a:tailEnd type="none" w="med" len="med"/>
                    </a:lnT>
                    <a:lnB w="3810" cap="flat" cmpd="sng" algn="ctr">
                      <a:solidFill>
                        <a:srgbClr val="D9D9D9"/>
                      </a:solidFill>
                      <a:prstDash val="solid"/>
                      <a:round/>
                      <a:headEnd type="none" w="med" len="med"/>
                      <a:tailEnd type="none" w="med" len="med"/>
                    </a:lnB>
                    <a:solidFill>
                      <a:srgbClr val="8B9FD1"/>
                    </a:solidFill>
                  </a:tcPr>
                </a:tc>
                <a:extLst>
                  <a:ext uri="{0D108BD9-81ED-4DB2-BD59-A6C34878D82A}">
                    <a16:rowId xmlns:a16="http://schemas.microsoft.com/office/drawing/2014/main" val="10001"/>
                  </a:ext>
                </a:extLst>
              </a:tr>
              <a:tr h="1316736">
                <a:tc>
                  <a:txBody>
                    <a:bodyPr/>
                    <a:lstStyle/>
                    <a:p>
                      <a:pPr marL="0" indent="0" algn="l">
                        <a:lnSpc>
                          <a:spcPts val="2080"/>
                        </a:lnSpc>
                        <a:buNone/>
                      </a:pPr>
                      <a:r>
                        <a:rPr lang="en-US" sz="1300" dirty="0">
                          <a:solidFill>
                            <a:srgbClr val="3B3A59"/>
                          </a:solidFill>
                          <a:latin typeface="思源黑体-思源黑体-Medium" pitchFamily="34" charset="0"/>
                          <a:ea typeface="思源黑体-思源黑体-Medium" pitchFamily="34" charset="-122"/>
                          <a:cs typeface="思源黑体-思源黑体-Medium" pitchFamily="34" charset="-120"/>
                        </a:rPr>
                        <a:t>Normalization (Scaling)</a:t>
                      </a:r>
                      <a:endParaRPr lang="en-US" sz="1200" dirty="0"/>
                    </a:p>
                  </a:txBody>
                  <a:tcPr marL="165100" marR="165100" marT="99060" marB="99060">
                    <a:lnL w="3810" cap="flat" cmpd="sng" algn="ctr">
                      <a:solidFill>
                        <a:srgbClr val="D9D9D9"/>
                      </a:solidFill>
                      <a:prstDash val="solid"/>
                      <a:round/>
                      <a:headEnd type="none" w="med" len="med"/>
                      <a:tailEnd type="none" w="med" len="med"/>
                    </a:lnL>
                    <a:lnR w="3810" cap="flat" cmpd="sng" algn="ctr">
                      <a:solidFill>
                        <a:srgbClr val="D9D9D9"/>
                      </a:solidFill>
                      <a:prstDash val="solid"/>
                      <a:round/>
                      <a:headEnd type="none" w="med" len="med"/>
                      <a:tailEnd type="none" w="med" len="med"/>
                    </a:lnR>
                    <a:lnT w="3810" cap="flat" cmpd="sng" algn="ctr">
                      <a:solidFill>
                        <a:srgbClr val="D9D9D9"/>
                      </a:solidFill>
                      <a:prstDash val="solid"/>
                      <a:round/>
                      <a:headEnd type="none" w="med" len="med"/>
                      <a:tailEnd type="none" w="med" len="med"/>
                    </a:lnT>
                    <a:lnB w="3810" cap="flat" cmpd="sng" algn="ctr">
                      <a:solidFill>
                        <a:srgbClr val="D9D9D9"/>
                      </a:solidFill>
                      <a:prstDash val="solid"/>
                      <a:round/>
                      <a:headEnd type="none" w="med" len="med"/>
                      <a:tailEnd type="none" w="med" len="med"/>
                    </a:lnB>
                    <a:solidFill>
                      <a:srgbClr val="8B9FD1"/>
                    </a:solidFill>
                  </a:tcPr>
                </a:tc>
                <a:tc>
                  <a:txBody>
                    <a:bodyPr/>
                    <a:lstStyle/>
                    <a:p>
                      <a:pPr marL="0" indent="0" algn="l">
                        <a:lnSpc>
                          <a:spcPts val="2080"/>
                        </a:lnSpc>
                        <a:buNone/>
                      </a:pPr>
                      <a:r>
                        <a:rPr lang="en-US" sz="1300" dirty="0">
                          <a:solidFill>
                            <a:srgbClr val="3B3A59"/>
                          </a:solidFill>
                          <a:latin typeface="思源黑体-思源黑体-Medium" pitchFamily="34" charset="0"/>
                          <a:ea typeface="思源黑体-思源黑体-Medium" pitchFamily="34" charset="-122"/>
                          <a:cs typeface="思源黑体-思源黑体-Medium" pitchFamily="34" charset="-120"/>
                        </a:rPr>
                        <a:t>Computers see pixel colors as numbers ranging from 0 to 255. We must scale these values down to the range 0.0 to 1.0. This simple math helps the model train much faster and more accurately.</a:t>
                      </a:r>
                      <a:endParaRPr lang="en-US" sz="1200" dirty="0"/>
                    </a:p>
                  </a:txBody>
                  <a:tcPr marL="165100" marR="165100" marT="99060" marB="99060">
                    <a:lnL w="3810" cap="flat" cmpd="sng" algn="ctr">
                      <a:solidFill>
                        <a:srgbClr val="D9D9D9"/>
                      </a:solidFill>
                      <a:prstDash val="solid"/>
                      <a:round/>
                      <a:headEnd type="none" w="med" len="med"/>
                      <a:tailEnd type="none" w="med" len="med"/>
                    </a:lnL>
                    <a:lnR w="3810" cap="flat" cmpd="sng" algn="ctr">
                      <a:solidFill>
                        <a:srgbClr val="D9D9D9"/>
                      </a:solidFill>
                      <a:prstDash val="solid"/>
                      <a:round/>
                      <a:headEnd type="none" w="med" len="med"/>
                      <a:tailEnd type="none" w="med" len="med"/>
                    </a:lnR>
                    <a:lnT w="3810" cap="flat" cmpd="sng" algn="ctr">
                      <a:solidFill>
                        <a:srgbClr val="D9D9D9"/>
                      </a:solidFill>
                      <a:prstDash val="solid"/>
                      <a:round/>
                      <a:headEnd type="none" w="med" len="med"/>
                      <a:tailEnd type="none" w="med" len="med"/>
                    </a:lnT>
                    <a:lnB w="3810" cap="flat" cmpd="sng" algn="ctr">
                      <a:solidFill>
                        <a:srgbClr val="D9D9D9"/>
                      </a:solidFill>
                      <a:prstDash val="solid"/>
                      <a:round/>
                      <a:headEnd type="none" w="med" len="med"/>
                      <a:tailEnd type="none" w="med" len="med"/>
                    </a:lnB>
                    <a:solidFill>
                      <a:srgbClr val="8B9FD1"/>
                    </a:solidFill>
                  </a:tcPr>
                </a:tc>
                <a:tc>
                  <a:txBody>
                    <a:bodyPr/>
                    <a:lstStyle/>
                    <a:p>
                      <a:pPr marL="0" indent="0" algn="l">
                        <a:lnSpc>
                          <a:spcPts val="2080"/>
                        </a:lnSpc>
                        <a:buNone/>
                      </a:pPr>
                      <a:r>
                        <a:rPr lang="en-US" sz="1300" dirty="0">
                          <a:solidFill>
                            <a:srgbClr val="3B3A59"/>
                          </a:solidFill>
                          <a:latin typeface="思源黑体-思源黑体-Medium" pitchFamily="34" charset="0"/>
                          <a:ea typeface="思源黑体-思源黑体-Medium" pitchFamily="34" charset="-122"/>
                          <a:cs typeface="思源黑体-思源黑体-Medium" pitchFamily="34" charset="-120"/>
                        </a:rPr>
                        <a:t>Divide every pixel value in the image array by 255.</a:t>
                      </a:r>
                      <a:endParaRPr lang="en-US" sz="1200" dirty="0"/>
                    </a:p>
                  </a:txBody>
                  <a:tcPr marL="165100" marR="165100" marT="99060" marB="99060">
                    <a:lnL w="3810" cap="flat" cmpd="sng" algn="ctr">
                      <a:solidFill>
                        <a:srgbClr val="D9D9D9"/>
                      </a:solidFill>
                      <a:prstDash val="solid"/>
                      <a:round/>
                      <a:headEnd type="none" w="med" len="med"/>
                      <a:tailEnd type="none" w="med" len="med"/>
                    </a:lnL>
                    <a:lnR w="3810" cap="flat" cmpd="sng" algn="ctr">
                      <a:solidFill>
                        <a:srgbClr val="D9D9D9"/>
                      </a:solidFill>
                      <a:prstDash val="solid"/>
                      <a:round/>
                      <a:headEnd type="none" w="med" len="med"/>
                      <a:tailEnd type="none" w="med" len="med"/>
                    </a:lnR>
                    <a:lnT w="3810" cap="flat" cmpd="sng" algn="ctr">
                      <a:solidFill>
                        <a:srgbClr val="D9D9D9"/>
                      </a:solidFill>
                      <a:prstDash val="solid"/>
                      <a:round/>
                      <a:headEnd type="none" w="med" len="med"/>
                      <a:tailEnd type="none" w="med" len="med"/>
                    </a:lnT>
                    <a:lnB w="3810" cap="flat" cmpd="sng" algn="ctr">
                      <a:solidFill>
                        <a:srgbClr val="D9D9D9"/>
                      </a:solidFill>
                      <a:prstDash val="solid"/>
                      <a:round/>
                      <a:headEnd type="none" w="med" len="med"/>
                      <a:tailEnd type="none" w="med" len="med"/>
                    </a:lnB>
                    <a:solidFill>
                      <a:srgbClr val="8B9FD1"/>
                    </a:solidFill>
                  </a:tcPr>
                </a:tc>
                <a:extLst>
                  <a:ext uri="{0D108BD9-81ED-4DB2-BD59-A6C34878D82A}">
                    <a16:rowId xmlns:a16="http://schemas.microsoft.com/office/drawing/2014/main" val="10002"/>
                  </a:ext>
                </a:extLst>
              </a:tr>
            </a:tbl>
          </a:graphicData>
        </a:graphic>
      </p:graphicFrame>
      <p:sp>
        <p:nvSpPr>
          <p:cNvPr id="5" name="Text 0"/>
          <p:cNvSpPr/>
          <p:nvPr/>
        </p:nvSpPr>
        <p:spPr>
          <a:xfrm>
            <a:off x="685800" y="804672"/>
            <a:ext cx="13267944" cy="521208"/>
          </a:xfrm>
          <a:prstGeom prst="rect">
            <a:avLst/>
          </a:prstGeom>
          <a:noFill/>
          <a:ln/>
        </p:spPr>
        <p:txBody>
          <a:bodyPr wrap="none" lIns="0" tIns="0" rIns="0" bIns="0" rtlCol="0" anchor="ctr"/>
          <a:lstStyle/>
          <a:p>
            <a:pPr marL="0" indent="0" algn="l">
              <a:lnSpc>
                <a:spcPts val="4080"/>
              </a:lnSpc>
              <a:buNone/>
            </a:pPr>
            <a:r>
              <a:rPr lang="en-US" sz="3260" dirty="0">
                <a:solidFill>
                  <a:srgbClr val="2F3550"/>
                </a:solidFill>
                <a:latin typeface="思源黑体-思源黑体-SemiBold" pitchFamily="34" charset="0"/>
                <a:ea typeface="思源黑体-思源黑体-SemiBold" pitchFamily="34" charset="-122"/>
                <a:cs typeface="思源黑体-思源黑体-SemiBold" pitchFamily="34" charset="-120"/>
              </a:rPr>
              <a:t>Data Transformation (4 Marks)</a:t>
            </a:r>
            <a:endParaRPr lang="en-US" sz="3260" dirty="0"/>
          </a:p>
        </p:txBody>
      </p:sp>
      <p:sp>
        <p:nvSpPr>
          <p:cNvPr id="6" name="Text 1"/>
          <p:cNvSpPr/>
          <p:nvPr/>
        </p:nvSpPr>
        <p:spPr>
          <a:xfrm>
            <a:off x="886968" y="1627632"/>
            <a:ext cx="12874752" cy="265176"/>
          </a:xfrm>
          <a:prstGeom prst="rect">
            <a:avLst/>
          </a:prstGeom>
          <a:noFill/>
          <a:ln/>
        </p:spPr>
        <p:txBody>
          <a:bodyPr wrap="none" lIns="0" tIns="0" rIns="0" bIns="0" rtlCol="0" anchor="ctr"/>
          <a:lstStyle/>
          <a:p>
            <a:pPr marL="0" indent="0" algn="l">
              <a:lnSpc>
                <a:spcPts val="2040"/>
              </a:lnSpc>
              <a:buNone/>
            </a:pPr>
            <a:r>
              <a:rPr lang="en-US" sz="1630" dirty="0">
                <a:solidFill>
                  <a:srgbClr val="3B3A59"/>
                </a:solidFill>
                <a:latin typeface="思源黑体-思源黑体-SemiBold" pitchFamily="34" charset="0"/>
                <a:ea typeface="思源黑体-思源黑体-SemiBold" pitchFamily="34" charset="-122"/>
                <a:cs typeface="思源黑体-思源黑体-SemiBold" pitchFamily="34" charset="-120"/>
              </a:rPr>
              <a:t>Purpose</a:t>
            </a:r>
            <a:endParaRPr lang="en-US" sz="1630" dirty="0"/>
          </a:p>
        </p:txBody>
      </p:sp>
      <p:sp>
        <p:nvSpPr>
          <p:cNvPr id="7" name="Text 2"/>
          <p:cNvSpPr/>
          <p:nvPr/>
        </p:nvSpPr>
        <p:spPr>
          <a:xfrm>
            <a:off x="886968" y="2029968"/>
            <a:ext cx="12874752" cy="274320"/>
          </a:xfrm>
          <a:prstGeom prst="rect">
            <a:avLst/>
          </a:prstGeom>
          <a:noFill/>
          <a:ln/>
        </p:spPr>
        <p:txBody>
          <a:bodyPr wrap="none" lIns="0" tIns="0" rIns="0" bIns="0" rtlCol="0" anchor="ctr"/>
          <a:lstStyle/>
          <a:p>
            <a:pPr marL="0" indent="0" algn="l">
              <a:lnSpc>
                <a:spcPts val="2080"/>
              </a:lnSpc>
              <a:buNone/>
            </a:pPr>
            <a:r>
              <a:rPr lang="en-US" sz="1300" dirty="0">
                <a:solidFill>
                  <a:srgbClr val="3B3A59"/>
                </a:solidFill>
                <a:latin typeface="思源黑体-思源黑体-Medium" pitchFamily="34" charset="0"/>
                <a:ea typeface="思源黑体-思源黑体-Medium" pitchFamily="34" charset="-122"/>
                <a:cs typeface="思源黑体-思源黑体-Medium" pitchFamily="34" charset="-120"/>
              </a:rPr>
              <a:t> To convert all the clean data into a standard, numerical format that the AI algorithm can process using mathematics.</a:t>
            </a:r>
            <a:endParaRPr lang="en-US" sz="1300" dirty="0"/>
          </a:p>
        </p:txBody>
      </p:sp>
      <p:sp>
        <p:nvSpPr>
          <p:cNvPr id="8" name="Text 3"/>
          <p:cNvSpPr/>
          <p:nvPr/>
        </p:nvSpPr>
        <p:spPr>
          <a:xfrm>
            <a:off x="685800" y="5650992"/>
            <a:ext cx="13267944" cy="274320"/>
          </a:xfrm>
          <a:prstGeom prst="rect">
            <a:avLst/>
          </a:prstGeom>
          <a:noFill/>
          <a:ln/>
        </p:spPr>
        <p:txBody>
          <a:bodyPr wrap="none" lIns="0" tIns="0" rIns="0" bIns="0" rtlCol="0" anchor="ctr"/>
          <a:lstStyle/>
          <a:p>
            <a:pPr marL="0" indent="0" algn="l">
              <a:lnSpc>
                <a:spcPts val="2080"/>
              </a:lnSpc>
              <a:buNone/>
            </a:pPr>
            <a:r>
              <a:rPr lang="en-US" sz="1300" dirty="0">
                <a:solidFill>
                  <a:srgbClr val="3B3A59"/>
                </a:solidFill>
                <a:latin typeface="思源黑体-思源黑体-Medium" pitchFamily="34" charset="0"/>
                <a:ea typeface="思源黑体-思源黑体-Medium" pitchFamily="34" charset="-122"/>
                <a:cs typeface="思源黑体-思源黑体-Medium" pitchFamily="34" charset="-120"/>
              </a:rPr>
              <a:t>Python Code:</a:t>
            </a:r>
            <a:endParaRPr lang="en-US" sz="13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27435" y="1389459"/>
            <a:ext cx="9475076" cy="5632311"/>
          </a:xfrm>
          <a:prstGeom prst="rect">
            <a:avLst/>
          </a:prstGeom>
        </p:spPr>
        <p:txBody>
          <a:bodyPr wrap="square">
            <a:spAutoFit/>
          </a:bodyPr>
          <a:lstStyle/>
          <a:p>
            <a:r>
              <a:rPr lang="en-US" b="0" dirty="0" smtClean="0">
                <a:solidFill>
                  <a:srgbClr val="008000"/>
                </a:solidFill>
                <a:effectLst/>
                <a:latin typeface="Consolas" panose="020B0609020204030204" pitchFamily="49" charset="0"/>
              </a:rPr>
              <a:t># Data Transformation Example: Resizing and Normalization</a:t>
            </a:r>
            <a:endParaRPr lang="en-US" b="0" dirty="0" smtClean="0">
              <a:solidFill>
                <a:srgbClr val="000000"/>
              </a:solidFill>
              <a:effectLst/>
              <a:latin typeface="Consolas" panose="020B0609020204030204" pitchFamily="49" charset="0"/>
            </a:endParaRPr>
          </a:p>
          <a:p>
            <a:r>
              <a:rPr lang="en-US" b="0" dirty="0" smtClean="0">
                <a:solidFill>
                  <a:srgbClr val="000000"/>
                </a:solidFill>
                <a:effectLst/>
                <a:latin typeface="Consolas" panose="020B0609020204030204" pitchFamily="49" charset="0"/>
              </a:rPr>
              <a:t/>
            </a:r>
            <a:br>
              <a:rPr lang="en-US" b="0" dirty="0" smtClean="0">
                <a:solidFill>
                  <a:srgbClr val="000000"/>
                </a:solidFill>
                <a:effectLst/>
                <a:latin typeface="Consolas" panose="020B0609020204030204" pitchFamily="49" charset="0"/>
              </a:rPr>
            </a:br>
            <a:r>
              <a:rPr lang="en-US" b="0" dirty="0" smtClean="0">
                <a:solidFill>
                  <a:srgbClr val="AF00DB"/>
                </a:solidFill>
                <a:effectLst/>
                <a:latin typeface="Consolas" panose="020B0609020204030204" pitchFamily="49" charset="0"/>
              </a:rPr>
              <a:t>import</a:t>
            </a:r>
            <a:r>
              <a:rPr lang="en-US" b="0" dirty="0" smtClean="0">
                <a:solidFill>
                  <a:srgbClr val="000000"/>
                </a:solidFill>
                <a:effectLst/>
                <a:latin typeface="Consolas" panose="020B0609020204030204" pitchFamily="49" charset="0"/>
              </a:rPr>
              <a:t> </a:t>
            </a:r>
            <a:r>
              <a:rPr lang="en-US" b="0" dirty="0" smtClean="0">
                <a:solidFill>
                  <a:srgbClr val="267F99"/>
                </a:solidFill>
                <a:effectLst/>
                <a:latin typeface="Consolas" panose="020B0609020204030204" pitchFamily="49" charset="0"/>
              </a:rPr>
              <a:t>cv2</a:t>
            </a:r>
            <a:endParaRPr lang="en-US" b="0" dirty="0" smtClean="0">
              <a:solidFill>
                <a:srgbClr val="000000"/>
              </a:solidFill>
              <a:effectLst/>
              <a:latin typeface="Consolas" panose="020B0609020204030204" pitchFamily="49" charset="0"/>
            </a:endParaRPr>
          </a:p>
          <a:p>
            <a:r>
              <a:rPr lang="en-US" b="0" dirty="0" smtClean="0">
                <a:solidFill>
                  <a:srgbClr val="AF00DB"/>
                </a:solidFill>
                <a:effectLst/>
                <a:latin typeface="Consolas" panose="020B0609020204030204" pitchFamily="49" charset="0"/>
              </a:rPr>
              <a:t>import</a:t>
            </a:r>
            <a:r>
              <a:rPr lang="en-US" b="0" dirty="0" smtClean="0">
                <a:solidFill>
                  <a:srgbClr val="000000"/>
                </a:solidFill>
                <a:effectLst/>
                <a:latin typeface="Consolas" panose="020B0609020204030204" pitchFamily="49" charset="0"/>
              </a:rPr>
              <a:t> </a:t>
            </a:r>
            <a:r>
              <a:rPr lang="en-US" b="0" dirty="0" err="1" smtClean="0">
                <a:solidFill>
                  <a:srgbClr val="000000"/>
                </a:solidFill>
                <a:effectLst/>
                <a:latin typeface="Consolas" panose="020B0609020204030204" pitchFamily="49" charset="0"/>
              </a:rPr>
              <a:t>numpy</a:t>
            </a:r>
            <a:r>
              <a:rPr lang="en-US" b="0" dirty="0" smtClean="0">
                <a:solidFill>
                  <a:srgbClr val="000000"/>
                </a:solidFill>
                <a:effectLst/>
                <a:latin typeface="Consolas" panose="020B0609020204030204" pitchFamily="49" charset="0"/>
              </a:rPr>
              <a:t> </a:t>
            </a:r>
            <a:r>
              <a:rPr lang="en-US" b="0" dirty="0" smtClean="0">
                <a:solidFill>
                  <a:srgbClr val="AF00DB"/>
                </a:solidFill>
                <a:effectLst/>
                <a:latin typeface="Consolas" panose="020B0609020204030204" pitchFamily="49" charset="0"/>
              </a:rPr>
              <a:t>as</a:t>
            </a:r>
            <a:r>
              <a:rPr lang="en-US" b="0" dirty="0" smtClean="0">
                <a:solidFill>
                  <a:srgbClr val="000000"/>
                </a:solidFill>
                <a:effectLst/>
                <a:latin typeface="Consolas" panose="020B0609020204030204" pitchFamily="49" charset="0"/>
              </a:rPr>
              <a:t> </a:t>
            </a:r>
            <a:r>
              <a:rPr lang="en-US" b="0" dirty="0" smtClean="0">
                <a:solidFill>
                  <a:srgbClr val="267F99"/>
                </a:solidFill>
                <a:effectLst/>
                <a:latin typeface="Consolas" panose="020B0609020204030204" pitchFamily="49" charset="0"/>
              </a:rPr>
              <a:t>np</a:t>
            </a:r>
            <a:r>
              <a:rPr lang="en-US" b="0" dirty="0" smtClean="0">
                <a:solidFill>
                  <a:srgbClr val="000000"/>
                </a:solidFill>
                <a:effectLst/>
                <a:latin typeface="Consolas" panose="020B0609020204030204" pitchFamily="49" charset="0"/>
              </a:rPr>
              <a:t> </a:t>
            </a:r>
            <a:r>
              <a:rPr lang="en-US" b="0" dirty="0" smtClean="0">
                <a:solidFill>
                  <a:srgbClr val="008000"/>
                </a:solidFill>
                <a:effectLst/>
                <a:latin typeface="Consolas" panose="020B0609020204030204" pitchFamily="49" charset="0"/>
              </a:rPr>
              <a:t># </a:t>
            </a:r>
            <a:r>
              <a:rPr lang="en-US" b="0" dirty="0" err="1" smtClean="0">
                <a:solidFill>
                  <a:srgbClr val="008000"/>
                </a:solidFill>
                <a:effectLst/>
                <a:latin typeface="Consolas" panose="020B0609020204030204" pitchFamily="49" charset="0"/>
              </a:rPr>
              <a:t>NumPy</a:t>
            </a:r>
            <a:r>
              <a:rPr lang="en-US" b="0" dirty="0" smtClean="0">
                <a:solidFill>
                  <a:srgbClr val="008000"/>
                </a:solidFill>
                <a:effectLst/>
                <a:latin typeface="Consolas" panose="020B0609020204030204" pitchFamily="49" charset="0"/>
              </a:rPr>
              <a:t> is used for all heavy math and array handling</a:t>
            </a:r>
            <a:endParaRPr lang="en-US" b="0" dirty="0" smtClean="0">
              <a:solidFill>
                <a:srgbClr val="000000"/>
              </a:solidFill>
              <a:effectLst/>
              <a:latin typeface="Consolas" panose="020B0609020204030204" pitchFamily="49" charset="0"/>
            </a:endParaRPr>
          </a:p>
          <a:p>
            <a:r>
              <a:rPr lang="en-US" b="0" dirty="0" smtClean="0">
                <a:solidFill>
                  <a:srgbClr val="000000"/>
                </a:solidFill>
                <a:effectLst/>
                <a:latin typeface="Consolas" panose="020B0609020204030204" pitchFamily="49" charset="0"/>
              </a:rPr>
              <a:t/>
            </a:r>
            <a:br>
              <a:rPr lang="en-US" b="0" dirty="0" smtClean="0">
                <a:solidFill>
                  <a:srgbClr val="000000"/>
                </a:solidFill>
                <a:effectLst/>
                <a:latin typeface="Consolas" panose="020B0609020204030204" pitchFamily="49" charset="0"/>
              </a:rPr>
            </a:br>
            <a:r>
              <a:rPr lang="en-US" b="0" dirty="0" smtClean="0">
                <a:solidFill>
                  <a:srgbClr val="008000"/>
                </a:solidFill>
                <a:effectLst/>
                <a:latin typeface="Consolas" panose="020B0609020204030204" pitchFamily="49" charset="0"/>
              </a:rPr>
              <a:t># 1. Load the image (cv2 reads it as a numerical array with values 0-255)</a:t>
            </a:r>
            <a:endParaRPr lang="en-US" b="0" dirty="0" smtClean="0">
              <a:solidFill>
                <a:srgbClr val="000000"/>
              </a:solidFill>
              <a:effectLst/>
              <a:latin typeface="Consolas" panose="020B0609020204030204" pitchFamily="49" charset="0"/>
            </a:endParaRPr>
          </a:p>
          <a:p>
            <a:r>
              <a:rPr lang="en-US" b="0" dirty="0" err="1" smtClean="0">
                <a:solidFill>
                  <a:srgbClr val="001080"/>
                </a:solidFill>
                <a:effectLst/>
                <a:latin typeface="Consolas" panose="020B0609020204030204" pitchFamily="49" charset="0"/>
              </a:rPr>
              <a:t>img_array</a:t>
            </a:r>
            <a:r>
              <a:rPr lang="en-US" b="0" dirty="0" smtClean="0">
                <a:solidFill>
                  <a:srgbClr val="000000"/>
                </a:solidFill>
                <a:effectLst/>
                <a:latin typeface="Consolas" panose="020B0609020204030204" pitchFamily="49" charset="0"/>
              </a:rPr>
              <a:t> = </a:t>
            </a:r>
            <a:r>
              <a:rPr lang="en-US" b="0" dirty="0" smtClean="0">
                <a:solidFill>
                  <a:srgbClr val="267F99"/>
                </a:solidFill>
                <a:effectLst/>
                <a:latin typeface="Consolas" panose="020B0609020204030204" pitchFamily="49" charset="0"/>
              </a:rPr>
              <a:t>cv2</a:t>
            </a:r>
            <a:r>
              <a:rPr lang="en-US" b="0" dirty="0" smtClean="0">
                <a:solidFill>
                  <a:srgbClr val="000000"/>
                </a:solidFill>
                <a:effectLst/>
                <a:latin typeface="Consolas" panose="020B0609020204030204" pitchFamily="49" charset="0"/>
              </a:rPr>
              <a:t>.imread(</a:t>
            </a:r>
            <a:r>
              <a:rPr lang="en-US" b="0" dirty="0" smtClean="0">
                <a:solidFill>
                  <a:srgbClr val="A31515"/>
                </a:solidFill>
                <a:effectLst/>
                <a:latin typeface="Consolas" panose="020B0609020204030204" pitchFamily="49" charset="0"/>
              </a:rPr>
              <a:t>"clean_pet_image.jpg"</a:t>
            </a:r>
            <a:r>
              <a:rPr lang="en-US" b="0" dirty="0" smtClean="0">
                <a:solidFill>
                  <a:srgbClr val="000000"/>
                </a:solidFill>
                <a:effectLst/>
                <a:latin typeface="Consolas" panose="020B0609020204030204" pitchFamily="49" charset="0"/>
              </a:rPr>
              <a:t>) </a:t>
            </a:r>
          </a:p>
          <a:p>
            <a:r>
              <a:rPr lang="en-US" b="0" dirty="0" smtClean="0">
                <a:solidFill>
                  <a:srgbClr val="000000"/>
                </a:solidFill>
                <a:effectLst/>
                <a:latin typeface="Consolas" panose="020B0609020204030204" pitchFamily="49" charset="0"/>
              </a:rPr>
              <a:t/>
            </a:r>
            <a:br>
              <a:rPr lang="en-US" b="0" dirty="0" smtClean="0">
                <a:solidFill>
                  <a:srgbClr val="000000"/>
                </a:solidFill>
                <a:effectLst/>
                <a:latin typeface="Consolas" panose="020B0609020204030204" pitchFamily="49" charset="0"/>
              </a:rPr>
            </a:br>
            <a:r>
              <a:rPr lang="en-US" b="0" dirty="0" smtClean="0">
                <a:solidFill>
                  <a:srgbClr val="008000"/>
                </a:solidFill>
                <a:effectLst/>
                <a:latin typeface="Consolas" panose="020B0609020204030204" pitchFamily="49" charset="0"/>
              </a:rPr>
              <a:t># --- Resizing (Standardization) ---</a:t>
            </a:r>
            <a:endParaRPr lang="en-US" b="0" dirty="0" smtClean="0">
              <a:solidFill>
                <a:srgbClr val="000000"/>
              </a:solidFill>
              <a:effectLst/>
              <a:latin typeface="Consolas" panose="020B0609020204030204" pitchFamily="49" charset="0"/>
            </a:endParaRPr>
          </a:p>
          <a:p>
            <a:r>
              <a:rPr lang="en-US" b="0" dirty="0" smtClean="0">
                <a:solidFill>
                  <a:srgbClr val="008000"/>
                </a:solidFill>
                <a:effectLst/>
                <a:latin typeface="Consolas" panose="020B0609020204030204" pitchFamily="49" charset="0"/>
              </a:rPr>
              <a:t># We force the image to be 224 pixels wide and 224 pixels tall.</a:t>
            </a:r>
            <a:endParaRPr lang="en-US" b="0" dirty="0" smtClean="0">
              <a:solidFill>
                <a:srgbClr val="000000"/>
              </a:solidFill>
              <a:effectLst/>
              <a:latin typeface="Consolas" panose="020B0609020204030204" pitchFamily="49" charset="0"/>
            </a:endParaRPr>
          </a:p>
          <a:p>
            <a:r>
              <a:rPr lang="en-US" b="0" dirty="0" err="1" smtClean="0">
                <a:solidFill>
                  <a:srgbClr val="001080"/>
                </a:solidFill>
                <a:effectLst/>
                <a:latin typeface="Consolas" panose="020B0609020204030204" pitchFamily="49" charset="0"/>
              </a:rPr>
              <a:t>target_size</a:t>
            </a:r>
            <a:r>
              <a:rPr lang="en-US" b="0" dirty="0" smtClean="0">
                <a:solidFill>
                  <a:srgbClr val="000000"/>
                </a:solidFill>
                <a:effectLst/>
                <a:latin typeface="Consolas" panose="020B0609020204030204" pitchFamily="49" charset="0"/>
              </a:rPr>
              <a:t> = (</a:t>
            </a:r>
            <a:r>
              <a:rPr lang="en-US" b="0" dirty="0" smtClean="0">
                <a:solidFill>
                  <a:srgbClr val="098658"/>
                </a:solidFill>
                <a:effectLst/>
                <a:latin typeface="Consolas" panose="020B0609020204030204" pitchFamily="49" charset="0"/>
              </a:rPr>
              <a:t>224</a:t>
            </a:r>
            <a:r>
              <a:rPr lang="en-US" b="0" dirty="0" smtClean="0">
                <a:solidFill>
                  <a:srgbClr val="000000"/>
                </a:solidFill>
                <a:effectLst/>
                <a:latin typeface="Consolas" panose="020B0609020204030204" pitchFamily="49" charset="0"/>
              </a:rPr>
              <a:t>, </a:t>
            </a:r>
            <a:r>
              <a:rPr lang="en-US" b="0" dirty="0" smtClean="0">
                <a:solidFill>
                  <a:srgbClr val="098658"/>
                </a:solidFill>
                <a:effectLst/>
                <a:latin typeface="Consolas" panose="020B0609020204030204" pitchFamily="49" charset="0"/>
              </a:rPr>
              <a:t>224</a:t>
            </a:r>
            <a:r>
              <a:rPr lang="en-US" b="0" dirty="0" smtClean="0">
                <a:solidFill>
                  <a:srgbClr val="000000"/>
                </a:solidFill>
                <a:effectLst/>
                <a:latin typeface="Consolas" panose="020B0609020204030204" pitchFamily="49" charset="0"/>
              </a:rPr>
              <a:t>) </a:t>
            </a:r>
          </a:p>
          <a:p>
            <a:r>
              <a:rPr lang="en-US" b="0" dirty="0" err="1" smtClean="0">
                <a:solidFill>
                  <a:srgbClr val="001080"/>
                </a:solidFill>
                <a:effectLst/>
                <a:latin typeface="Consolas" panose="020B0609020204030204" pitchFamily="49" charset="0"/>
              </a:rPr>
              <a:t>resized_img</a:t>
            </a:r>
            <a:r>
              <a:rPr lang="en-US" b="0" dirty="0" smtClean="0">
                <a:solidFill>
                  <a:srgbClr val="000000"/>
                </a:solidFill>
                <a:effectLst/>
                <a:latin typeface="Consolas" panose="020B0609020204030204" pitchFamily="49" charset="0"/>
              </a:rPr>
              <a:t> = </a:t>
            </a:r>
            <a:r>
              <a:rPr lang="en-US" b="0" dirty="0" smtClean="0">
                <a:solidFill>
                  <a:srgbClr val="267F99"/>
                </a:solidFill>
                <a:effectLst/>
                <a:latin typeface="Consolas" panose="020B0609020204030204" pitchFamily="49" charset="0"/>
              </a:rPr>
              <a:t>cv2</a:t>
            </a:r>
            <a:r>
              <a:rPr lang="en-US" b="0" dirty="0" smtClean="0">
                <a:solidFill>
                  <a:srgbClr val="000000"/>
                </a:solidFill>
                <a:effectLst/>
                <a:latin typeface="Consolas" panose="020B0609020204030204" pitchFamily="49" charset="0"/>
              </a:rPr>
              <a:t>.resize(</a:t>
            </a:r>
            <a:r>
              <a:rPr lang="en-US" b="0" dirty="0" err="1" smtClean="0">
                <a:solidFill>
                  <a:srgbClr val="001080"/>
                </a:solidFill>
                <a:effectLst/>
                <a:latin typeface="Consolas" panose="020B0609020204030204" pitchFamily="49" charset="0"/>
              </a:rPr>
              <a:t>img_array</a:t>
            </a:r>
            <a:r>
              <a:rPr lang="en-US" b="0" dirty="0" smtClean="0">
                <a:solidFill>
                  <a:srgbClr val="000000"/>
                </a:solidFill>
                <a:effectLst/>
                <a:latin typeface="Consolas" panose="020B0609020204030204" pitchFamily="49" charset="0"/>
              </a:rPr>
              <a:t>, </a:t>
            </a:r>
            <a:r>
              <a:rPr lang="en-US" b="0" dirty="0" err="1" smtClean="0">
                <a:solidFill>
                  <a:srgbClr val="001080"/>
                </a:solidFill>
                <a:effectLst/>
                <a:latin typeface="Consolas" panose="020B0609020204030204" pitchFamily="49" charset="0"/>
              </a:rPr>
              <a:t>target_size</a:t>
            </a:r>
            <a:r>
              <a:rPr lang="en-US" b="0" dirty="0" smtClean="0">
                <a:solidFill>
                  <a:srgbClr val="000000"/>
                </a:solidFill>
                <a:effectLst/>
                <a:latin typeface="Consolas" panose="020B0609020204030204" pitchFamily="49" charset="0"/>
              </a:rPr>
              <a:t>) </a:t>
            </a:r>
          </a:p>
          <a:p>
            <a:r>
              <a:rPr lang="en-US" b="0" dirty="0" smtClean="0">
                <a:solidFill>
                  <a:srgbClr val="000000"/>
                </a:solidFill>
                <a:effectLst/>
                <a:latin typeface="Consolas" panose="020B0609020204030204" pitchFamily="49" charset="0"/>
              </a:rPr>
              <a:t/>
            </a:r>
            <a:br>
              <a:rPr lang="en-US" b="0" dirty="0" smtClean="0">
                <a:solidFill>
                  <a:srgbClr val="000000"/>
                </a:solidFill>
                <a:effectLst/>
                <a:latin typeface="Consolas" panose="020B0609020204030204" pitchFamily="49" charset="0"/>
              </a:rPr>
            </a:br>
            <a:r>
              <a:rPr lang="en-US" b="0" dirty="0" smtClean="0">
                <a:solidFill>
                  <a:srgbClr val="008000"/>
                </a:solidFill>
                <a:effectLst/>
                <a:latin typeface="Consolas" panose="020B0609020204030204" pitchFamily="49" charset="0"/>
              </a:rPr>
              <a:t># --- Normalization (Scaling) ---</a:t>
            </a:r>
            <a:endParaRPr lang="en-US" b="0" dirty="0" smtClean="0">
              <a:solidFill>
                <a:srgbClr val="000000"/>
              </a:solidFill>
              <a:effectLst/>
              <a:latin typeface="Consolas" panose="020B0609020204030204" pitchFamily="49" charset="0"/>
            </a:endParaRPr>
          </a:p>
          <a:p>
            <a:r>
              <a:rPr lang="en-US" b="0" dirty="0" smtClean="0">
                <a:solidFill>
                  <a:srgbClr val="008000"/>
                </a:solidFill>
                <a:effectLst/>
                <a:latin typeface="Consolas" panose="020B0609020204030204" pitchFamily="49" charset="0"/>
              </a:rPr>
              <a:t># 2. Change data type to float (decimal)</a:t>
            </a:r>
            <a:endParaRPr lang="en-US" b="0" dirty="0" smtClean="0">
              <a:solidFill>
                <a:srgbClr val="000000"/>
              </a:solidFill>
              <a:effectLst/>
              <a:latin typeface="Consolas" panose="020B0609020204030204" pitchFamily="49" charset="0"/>
            </a:endParaRPr>
          </a:p>
          <a:p>
            <a:r>
              <a:rPr lang="en-US" b="0" dirty="0" err="1" smtClean="0">
                <a:solidFill>
                  <a:srgbClr val="001080"/>
                </a:solidFill>
                <a:effectLst/>
                <a:latin typeface="Consolas" panose="020B0609020204030204" pitchFamily="49" charset="0"/>
              </a:rPr>
              <a:t>normalized_img</a:t>
            </a:r>
            <a:r>
              <a:rPr lang="en-US" b="0" dirty="0" smtClean="0">
                <a:solidFill>
                  <a:srgbClr val="000000"/>
                </a:solidFill>
                <a:effectLst/>
                <a:latin typeface="Consolas" panose="020B0609020204030204" pitchFamily="49" charset="0"/>
              </a:rPr>
              <a:t> = </a:t>
            </a:r>
            <a:r>
              <a:rPr lang="en-US" b="0" dirty="0" err="1" smtClean="0">
                <a:solidFill>
                  <a:srgbClr val="001080"/>
                </a:solidFill>
                <a:effectLst/>
                <a:latin typeface="Consolas" panose="020B0609020204030204" pitchFamily="49" charset="0"/>
              </a:rPr>
              <a:t>resized_img</a:t>
            </a:r>
            <a:r>
              <a:rPr lang="en-US" b="0" dirty="0" err="1" smtClean="0">
                <a:solidFill>
                  <a:srgbClr val="000000"/>
                </a:solidFill>
                <a:effectLst/>
                <a:latin typeface="Consolas" panose="020B0609020204030204" pitchFamily="49" charset="0"/>
              </a:rPr>
              <a:t>.astype</a:t>
            </a:r>
            <a:r>
              <a:rPr lang="en-US" b="0" dirty="0" smtClean="0">
                <a:solidFill>
                  <a:srgbClr val="000000"/>
                </a:solidFill>
                <a:effectLst/>
                <a:latin typeface="Consolas" panose="020B0609020204030204" pitchFamily="49" charset="0"/>
              </a:rPr>
              <a:t>(</a:t>
            </a:r>
            <a:r>
              <a:rPr lang="en-US" b="0" dirty="0" smtClean="0">
                <a:solidFill>
                  <a:srgbClr val="A31515"/>
                </a:solidFill>
                <a:effectLst/>
                <a:latin typeface="Consolas" panose="020B0609020204030204" pitchFamily="49" charset="0"/>
              </a:rPr>
              <a:t>'float32'</a:t>
            </a:r>
            <a:r>
              <a:rPr lang="en-US" b="0" dirty="0" smtClean="0">
                <a:solidFill>
                  <a:srgbClr val="000000"/>
                </a:solidFill>
                <a:effectLst/>
                <a:latin typeface="Consolas" panose="020B0609020204030204" pitchFamily="49" charset="0"/>
              </a:rPr>
              <a:t>) </a:t>
            </a:r>
          </a:p>
          <a:p>
            <a:r>
              <a:rPr lang="en-US" b="0" dirty="0" smtClean="0">
                <a:solidFill>
                  <a:srgbClr val="008000"/>
                </a:solidFill>
                <a:effectLst/>
                <a:latin typeface="Consolas" panose="020B0609020204030204" pitchFamily="49" charset="0"/>
              </a:rPr>
              <a:t># 3. Divide every number by 255 to scale it to the 0.0-1.0 range</a:t>
            </a:r>
            <a:endParaRPr lang="en-US" b="0" dirty="0" smtClean="0">
              <a:solidFill>
                <a:srgbClr val="000000"/>
              </a:solidFill>
              <a:effectLst/>
              <a:latin typeface="Consolas" panose="020B0609020204030204" pitchFamily="49" charset="0"/>
            </a:endParaRPr>
          </a:p>
          <a:p>
            <a:r>
              <a:rPr lang="en-US" b="0" dirty="0" err="1" smtClean="0">
                <a:solidFill>
                  <a:srgbClr val="001080"/>
                </a:solidFill>
                <a:effectLst/>
                <a:latin typeface="Consolas" panose="020B0609020204030204" pitchFamily="49" charset="0"/>
              </a:rPr>
              <a:t>normalized_img</a:t>
            </a:r>
            <a:r>
              <a:rPr lang="en-US" b="0" dirty="0" smtClean="0">
                <a:solidFill>
                  <a:srgbClr val="000000"/>
                </a:solidFill>
                <a:effectLst/>
                <a:latin typeface="Consolas" panose="020B0609020204030204" pitchFamily="49" charset="0"/>
              </a:rPr>
              <a:t> = </a:t>
            </a:r>
            <a:r>
              <a:rPr lang="en-US" b="0" dirty="0" err="1" smtClean="0">
                <a:solidFill>
                  <a:srgbClr val="001080"/>
                </a:solidFill>
                <a:effectLst/>
                <a:latin typeface="Consolas" panose="020B0609020204030204" pitchFamily="49" charset="0"/>
              </a:rPr>
              <a:t>normalized_img</a:t>
            </a:r>
            <a:r>
              <a:rPr lang="en-US" b="0" dirty="0" smtClean="0">
                <a:solidFill>
                  <a:srgbClr val="000000"/>
                </a:solidFill>
                <a:effectLst/>
                <a:latin typeface="Consolas" panose="020B0609020204030204" pitchFamily="49" charset="0"/>
              </a:rPr>
              <a:t> / </a:t>
            </a:r>
            <a:r>
              <a:rPr lang="en-US" b="0" dirty="0" smtClean="0">
                <a:solidFill>
                  <a:srgbClr val="098658"/>
                </a:solidFill>
                <a:effectLst/>
                <a:latin typeface="Consolas" panose="020B0609020204030204" pitchFamily="49" charset="0"/>
              </a:rPr>
              <a:t>255.0</a:t>
            </a:r>
            <a:r>
              <a:rPr lang="en-US" b="0" dirty="0" smtClean="0">
                <a:solidFill>
                  <a:srgbClr val="000000"/>
                </a:solidFill>
                <a:effectLst/>
                <a:latin typeface="Consolas" panose="020B0609020204030204" pitchFamily="49" charset="0"/>
              </a:rPr>
              <a:t> </a:t>
            </a:r>
          </a:p>
          <a:p>
            <a:r>
              <a:rPr lang="en-US" b="0" dirty="0" smtClean="0">
                <a:solidFill>
                  <a:srgbClr val="000000"/>
                </a:solidFill>
                <a:effectLst/>
                <a:latin typeface="Consolas" panose="020B0609020204030204" pitchFamily="49" charset="0"/>
              </a:rPr>
              <a:t/>
            </a:r>
            <a:br>
              <a:rPr lang="en-US" b="0" dirty="0" smtClean="0">
                <a:solidFill>
                  <a:srgbClr val="000000"/>
                </a:solidFill>
                <a:effectLst/>
                <a:latin typeface="Consolas" panose="020B0609020204030204" pitchFamily="49" charset="0"/>
              </a:rPr>
            </a:br>
            <a:r>
              <a:rPr lang="en-US" b="0" dirty="0" smtClean="0">
                <a:solidFill>
                  <a:srgbClr val="795E26"/>
                </a:solidFill>
                <a:effectLst/>
                <a:latin typeface="Consolas" panose="020B0609020204030204" pitchFamily="49" charset="0"/>
              </a:rPr>
              <a:t>print</a:t>
            </a:r>
            <a:r>
              <a:rPr lang="en-US" b="0" dirty="0" smtClean="0">
                <a:solidFill>
                  <a:srgbClr val="000000"/>
                </a:solidFill>
                <a:effectLst/>
                <a:latin typeface="Consolas" panose="020B0609020204030204" pitchFamily="49" charset="0"/>
              </a:rPr>
              <a:t>(</a:t>
            </a:r>
            <a:r>
              <a:rPr lang="en-US" b="0" dirty="0" err="1" smtClean="0">
                <a:solidFill>
                  <a:srgbClr val="0000FF"/>
                </a:solidFill>
                <a:effectLst/>
                <a:latin typeface="Consolas" panose="020B0609020204030204" pitchFamily="49" charset="0"/>
              </a:rPr>
              <a:t>f</a:t>
            </a:r>
            <a:r>
              <a:rPr lang="en-US" b="0" dirty="0" err="1" smtClean="0">
                <a:solidFill>
                  <a:srgbClr val="A31515"/>
                </a:solidFill>
                <a:effectLst/>
                <a:latin typeface="Consolas" panose="020B0609020204030204" pitchFamily="49" charset="0"/>
              </a:rPr>
              <a:t>"Image</a:t>
            </a:r>
            <a:r>
              <a:rPr lang="en-US" b="0" dirty="0" smtClean="0">
                <a:solidFill>
                  <a:srgbClr val="A31515"/>
                </a:solidFill>
                <a:effectLst/>
                <a:latin typeface="Consolas" panose="020B0609020204030204" pitchFamily="49" charset="0"/>
              </a:rPr>
              <a:t> is ready! Final Shape: </a:t>
            </a:r>
            <a:r>
              <a:rPr lang="en-US" b="0" dirty="0" smtClean="0">
                <a:solidFill>
                  <a:srgbClr val="0000FF"/>
                </a:solidFill>
                <a:effectLst/>
                <a:latin typeface="Consolas" panose="020B0609020204030204" pitchFamily="49" charset="0"/>
              </a:rPr>
              <a:t>{</a:t>
            </a:r>
            <a:r>
              <a:rPr lang="en-US" b="0" dirty="0" err="1" smtClean="0">
                <a:solidFill>
                  <a:srgbClr val="001080"/>
                </a:solidFill>
                <a:effectLst/>
                <a:latin typeface="Consolas" panose="020B0609020204030204" pitchFamily="49" charset="0"/>
              </a:rPr>
              <a:t>normalized_img</a:t>
            </a:r>
            <a:r>
              <a:rPr lang="en-US" b="0" dirty="0" err="1" smtClean="0">
                <a:solidFill>
                  <a:srgbClr val="000000"/>
                </a:solidFill>
                <a:effectLst/>
                <a:latin typeface="Consolas" panose="020B0609020204030204" pitchFamily="49" charset="0"/>
              </a:rPr>
              <a:t>.shape</a:t>
            </a:r>
            <a:r>
              <a:rPr lang="en-US" b="0" dirty="0" smtClean="0">
                <a:solidFill>
                  <a:srgbClr val="0000FF"/>
                </a:solidFill>
                <a:effectLst/>
                <a:latin typeface="Consolas" panose="020B0609020204030204" pitchFamily="49" charset="0"/>
              </a:rPr>
              <a:t>}</a:t>
            </a:r>
            <a:r>
              <a:rPr lang="en-US" b="0" dirty="0" smtClean="0">
                <a:solidFill>
                  <a:srgbClr val="A31515"/>
                </a:solidFill>
                <a:effectLst/>
                <a:latin typeface="Consolas" panose="020B0609020204030204" pitchFamily="49" charset="0"/>
              </a:rPr>
              <a:t>"</a:t>
            </a:r>
            <a:r>
              <a:rPr lang="en-US" b="0" dirty="0" smtClean="0">
                <a:solidFill>
                  <a:srgbClr val="000000"/>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80973209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685800" y="3593592"/>
            <a:ext cx="13267944" cy="841248"/>
          </a:xfrm>
          <a:prstGeom prst="rect">
            <a:avLst/>
          </a:prstGeom>
          <a:noFill/>
          <a:ln/>
        </p:spPr>
        <p:txBody>
          <a:bodyPr wrap="none" lIns="0" tIns="0" rIns="0" bIns="0" rtlCol="0" anchor="ctr"/>
          <a:lstStyle/>
          <a:p>
            <a:pPr marL="0" indent="0" algn="ctr">
              <a:lnSpc>
                <a:spcPts val="6620"/>
              </a:lnSpc>
              <a:buNone/>
            </a:pPr>
            <a:r>
              <a:rPr lang="en-US" sz="5290" dirty="0">
                <a:solidFill>
                  <a:srgbClr val="2F3550"/>
                </a:solidFill>
                <a:latin typeface="思源黑体-思源黑体-SemiBold" pitchFamily="34" charset="0"/>
                <a:ea typeface="思源黑体-思源黑体-SemiBold" pitchFamily="34" charset="-122"/>
                <a:cs typeface="思源黑体-思源黑体-SemiBold" pitchFamily="34" charset="-120"/>
              </a:rPr>
              <a:t>Thank You</a:t>
            </a:r>
            <a:endParaRPr lang="en-US" sz="529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733</Words>
  <Application>Microsoft Office PowerPoint</Application>
  <PresentationFormat>Custom</PresentationFormat>
  <Paragraphs>101</Paragraphs>
  <Slides>14</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Consolas</vt:lpstr>
      <vt:lpstr>思源黑体-思源黑体-Medium</vt:lpstr>
      <vt:lpstr>思源黑体-思源黑体-SemiBold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IT CYIZA Landry M</dc:creator>
  <cp:lastModifiedBy>Landry</cp:lastModifiedBy>
  <cp:revision>3</cp:revision>
  <dcterms:created xsi:type="dcterms:W3CDTF">2025-10-08T12:45:12Z</dcterms:created>
  <dcterms:modified xsi:type="dcterms:W3CDTF">2025-10-08T12:52:28Z</dcterms:modified>
</cp:coreProperties>
</file>