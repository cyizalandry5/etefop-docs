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image" Target="../media/image-6-12.png"/><Relationship Id="rId13" Type="http://schemas.openxmlformats.org/officeDocument/2006/relationships/image" Target="../media/image-6-13.png"/><Relationship Id="rId14" Type="http://schemas.openxmlformats.org/officeDocument/2006/relationships/image" Target="../media/image-6-14.png"/><Relationship Id="rId15" Type="http://schemas.openxmlformats.org/officeDocument/2006/relationships/slideLayout" Target="../slideLayouts/slideLayout2.xml"/><Relationship Id="rId1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2.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pic>
        <p:nvPicPr>
          <p:cNvPr id="4" name="Image 2" descr="preencoded.png">    </p:cNvPr>
          <p:cNvPicPr>
            <a:picLocks noChangeAspect="1"/>
          </p:cNvPicPr>
          <p:nvPr/>
        </p:nvPicPr>
        <p:blipFill>
          <a:blip r:embed="rId3"/>
          <a:stretch>
            <a:fillRect/>
          </a:stretch>
        </p:blipFill>
        <p:spPr>
          <a:xfrm>
            <a:off x="685800" y="5733288"/>
            <a:ext cx="13267944" cy="27432"/>
          </a:xfrm>
          <a:prstGeom prst="rect">
            <a:avLst/>
          </a:prstGeom>
        </p:spPr>
      </p:pic>
      <p:pic>
        <p:nvPicPr>
          <p:cNvPr id="5" name="Image 3" descr="preencoded.png">    </p:cNvPr>
          <p:cNvPicPr>
            <a:picLocks noChangeAspect="1"/>
          </p:cNvPicPr>
          <p:nvPr/>
        </p:nvPicPr>
        <p:blipFill>
          <a:blip r:embed="rId4"/>
          <a:stretch>
            <a:fillRect/>
          </a:stretch>
        </p:blipFill>
        <p:spPr>
          <a:xfrm>
            <a:off x="685800" y="5980176"/>
            <a:ext cx="393192" cy="548640"/>
          </a:xfrm>
          <a:prstGeom prst="rect">
            <a:avLst/>
          </a:prstGeom>
        </p:spPr>
      </p:pic>
      <p:sp>
        <p:nvSpPr>
          <p:cNvPr id="6" name="Text 0"/>
          <p:cNvSpPr/>
          <p:nvPr/>
        </p:nvSpPr>
        <p:spPr>
          <a:xfrm>
            <a:off x="1170432" y="5980176"/>
            <a:ext cx="3904488" cy="347472"/>
          </a:xfrm>
          <a:prstGeom prst="rect">
            <a:avLst/>
          </a:prstGeom>
          <a:noFill/>
          <a:ln/>
        </p:spPr>
        <p:txBody>
          <a:bodyPr wrap="none" lIns="0" tIns="0" rIns="0" bIns="0" rtlCol="0" anchor="ctr"/>
          <a:lstStyle/>
          <a:p>
            <a:pPr algn="l" indent="0" marL="0">
              <a:lnSpc>
                <a:spcPts val="2680"/>
              </a:lnSpc>
              <a:buNone/>
            </a:pPr>
            <a:r>
              <a:rPr lang="en-US" sz="1920" dirty="0">
                <a:solidFill>
                  <a:srgbClr val="000000"/>
                </a:solidFill>
                <a:latin typeface="思源黑体-思源黑体-Medium" pitchFamily="34" charset="0"/>
                <a:ea typeface="思源黑体-思源黑体-Medium" pitchFamily="34" charset="-122"/>
                <a:cs typeface="思源黑体-思源黑体-Medium" pitchFamily="34" charset="-120"/>
              </a:rPr>
              <a:t>Author: Landry CYIZA MPAYIMANA</a:t>
            </a:r>
            <a:endParaRPr lang="en-US" sz="1920" dirty="0"/>
          </a:p>
        </p:txBody>
      </p:sp>
      <p:sp>
        <p:nvSpPr>
          <p:cNvPr id="7" name="Text 1"/>
          <p:cNvSpPr/>
          <p:nvPr/>
        </p:nvSpPr>
        <p:spPr>
          <a:xfrm>
            <a:off x="1170432" y="6318504"/>
            <a:ext cx="3904488" cy="210312"/>
          </a:xfrm>
          <a:prstGeom prst="rect">
            <a:avLst/>
          </a:prstGeom>
          <a:noFill/>
          <a:ln/>
        </p:spPr>
        <p:txBody>
          <a:bodyPr wrap="none" lIns="0" tIns="0" rIns="0" bIns="0" rtlCol="0" anchor="ctr"/>
          <a:lstStyle/>
          <a:p>
            <a:pPr algn="l" indent="0" marL="0">
              <a:lnSpc>
                <a:spcPts val="1610"/>
              </a:lnSpc>
              <a:buNone/>
            </a:pPr>
            <a:r>
              <a:rPr lang="en-US" sz="1150" dirty="0">
                <a:solidFill>
                  <a:srgbClr val="000000"/>
                </a:solidFill>
                <a:latin typeface="思源黑体-思源黑体-Medium" pitchFamily="34" charset="0"/>
                <a:ea typeface="思源黑体-思源黑体-Medium" pitchFamily="34" charset="-122"/>
                <a:cs typeface="思源黑体-思源黑体-Medium" pitchFamily="34" charset="-120"/>
              </a:rPr>
              <a:t>Created with Pi</a:t>
            </a:r>
            <a:endParaRPr lang="en-US" sz="1150" dirty="0"/>
          </a:p>
        </p:txBody>
      </p:sp>
      <p:sp>
        <p:nvSpPr>
          <p:cNvPr id="8" name="Text 2"/>
          <p:cNvSpPr/>
          <p:nvPr/>
        </p:nvSpPr>
        <p:spPr>
          <a:xfrm>
            <a:off x="685800" y="3831336"/>
            <a:ext cx="13267944" cy="1682496"/>
          </a:xfrm>
          <a:prstGeom prst="rect">
            <a:avLst/>
          </a:prstGeom>
          <a:noFill/>
          <a:ln/>
        </p:spPr>
        <p:txBody>
          <a:bodyPr wrap="square" lIns="0" tIns="0" rIns="0" bIns="0" rtlCol="0" anchor="ctr"/>
          <a:lstStyle/>
          <a:p>
            <a:pPr algn="l" indent="0" marL="0">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AI Fundamentals and Project Documentation</a:t>
            </a:r>
            <a:endParaRPr lang="en-US" sz="529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pic>
        <p:nvPicPr>
          <p:cNvPr id="4" name="Image 2" descr="preencoded.png">    </p:cNvPr>
          <p:cNvPicPr>
            <a:picLocks noChangeAspect="1"/>
          </p:cNvPicPr>
          <p:nvPr/>
        </p:nvPicPr>
        <p:blipFill>
          <a:blip r:embed="rId3"/>
          <a:stretch>
            <a:fillRect/>
          </a:stretch>
        </p:blipFill>
        <p:spPr>
          <a:xfrm>
            <a:off x="704088" y="1280160"/>
            <a:ext cx="2871216" cy="1938528"/>
          </a:xfrm>
          <a:prstGeom prst="rect">
            <a:avLst/>
          </a:prstGeom>
        </p:spPr>
      </p:pic>
      <p:pic>
        <p:nvPicPr>
          <p:cNvPr id="5" name="Image 3" descr="preencoded.png">    </p:cNvPr>
          <p:cNvPicPr>
            <a:picLocks noChangeAspect="1"/>
          </p:cNvPicPr>
          <p:nvPr/>
        </p:nvPicPr>
        <p:blipFill>
          <a:blip r:embed="rId4"/>
          <a:stretch>
            <a:fillRect/>
          </a:stretch>
        </p:blipFill>
        <p:spPr>
          <a:xfrm>
            <a:off x="685800" y="6464808"/>
            <a:ext cx="13267944" cy="27432"/>
          </a:xfrm>
          <a:prstGeom prst="rect">
            <a:avLst/>
          </a:prstGeom>
        </p:spPr>
      </p:pic>
      <p:sp>
        <p:nvSpPr>
          <p:cNvPr id="6" name="Text 0"/>
          <p:cNvSpPr/>
          <p:nvPr/>
        </p:nvSpPr>
        <p:spPr>
          <a:xfrm>
            <a:off x="923544" y="1408176"/>
            <a:ext cx="2423160" cy="246888"/>
          </a:xfrm>
          <a:prstGeom prst="rect">
            <a:avLst/>
          </a:prstGeom>
          <a:noFill/>
          <a:ln/>
        </p:spPr>
        <p:txBody>
          <a:bodyPr wrap="none" lIns="0" tIns="0" rIns="0" bIns="0" rtlCol="0" anchor="ctr"/>
          <a:lstStyle/>
          <a:p>
            <a:pPr algn="ctr" indent="0" marL="0">
              <a:lnSpc>
                <a:spcPts val="1920"/>
              </a:lnSpc>
              <a:buNone/>
            </a:pPr>
            <a:endParaRPr lang="en-US" sz="1530" dirty="0"/>
          </a:p>
        </p:txBody>
      </p:sp>
      <p:sp>
        <p:nvSpPr>
          <p:cNvPr id="7" name="Text 1"/>
          <p:cNvSpPr/>
          <p:nvPr/>
        </p:nvSpPr>
        <p:spPr>
          <a:xfrm>
            <a:off x="923544" y="1819656"/>
            <a:ext cx="2423160" cy="841248"/>
          </a:xfrm>
          <a:prstGeom prst="rect">
            <a:avLst/>
          </a:prstGeom>
          <a:noFill/>
          <a:ln/>
        </p:spPr>
        <p:txBody>
          <a:bodyPr wrap="none" lIns="0" tIns="0" rIns="0" bIns="0" rtlCol="0" anchor="ctr"/>
          <a:lstStyle/>
          <a:p>
            <a:pPr algn="ctr" indent="0" marL="0">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01</a:t>
            </a:r>
            <a:endParaRPr lang="en-US" sz="5290" dirty="0"/>
          </a:p>
        </p:txBody>
      </p:sp>
      <p:sp>
        <p:nvSpPr>
          <p:cNvPr id="8" name="Text 2"/>
          <p:cNvSpPr/>
          <p:nvPr/>
        </p:nvSpPr>
        <p:spPr>
          <a:xfrm>
            <a:off x="923544" y="2843784"/>
            <a:ext cx="2423160" cy="246888"/>
          </a:xfrm>
          <a:prstGeom prst="rect">
            <a:avLst/>
          </a:prstGeom>
          <a:noFill/>
          <a:ln/>
        </p:spPr>
        <p:txBody>
          <a:bodyPr wrap="none" lIns="0" tIns="0" rIns="0" bIns="0" rtlCol="0" anchor="ctr"/>
          <a:lstStyle/>
          <a:p>
            <a:pPr algn="ctr" indent="0" marL="0">
              <a:lnSpc>
                <a:spcPts val="1920"/>
              </a:lnSpc>
              <a:buNone/>
            </a:pPr>
            <a:endParaRPr lang="en-US" sz="1530" dirty="0"/>
          </a:p>
        </p:txBody>
      </p:sp>
      <p:sp>
        <p:nvSpPr>
          <p:cNvPr id="9" name="Text 3"/>
          <p:cNvSpPr/>
          <p:nvPr/>
        </p:nvSpPr>
        <p:spPr>
          <a:xfrm>
            <a:off x="685800" y="3639312"/>
            <a:ext cx="13267944" cy="246888"/>
          </a:xfrm>
          <a:prstGeom prst="rect">
            <a:avLst/>
          </a:prstGeom>
          <a:noFill/>
          <a:ln/>
        </p:spPr>
        <p:txBody>
          <a:bodyPr wrap="none" lIns="0" tIns="0" rIns="0" bIns="0" rtlCol="0" anchor="ctr"/>
          <a:lstStyle/>
          <a:p>
            <a:pPr algn="l" indent="0" marL="0">
              <a:lnSpc>
                <a:spcPts val="1920"/>
              </a:lnSpc>
              <a:buNone/>
            </a:pPr>
            <a:endParaRPr lang="en-US" sz="1530" dirty="0"/>
          </a:p>
        </p:txBody>
      </p:sp>
      <p:sp>
        <p:nvSpPr>
          <p:cNvPr id="10" name="Text 4"/>
          <p:cNvSpPr/>
          <p:nvPr/>
        </p:nvSpPr>
        <p:spPr>
          <a:xfrm>
            <a:off x="685800" y="4105656"/>
            <a:ext cx="13267944" cy="246888"/>
          </a:xfrm>
          <a:prstGeom prst="rect">
            <a:avLst/>
          </a:prstGeom>
          <a:noFill/>
          <a:ln/>
        </p:spPr>
        <p:txBody>
          <a:bodyPr wrap="none" lIns="0" tIns="0" rIns="0" bIns="0" rtlCol="0" anchor="ctr"/>
          <a:lstStyle/>
          <a:p>
            <a:pPr algn="l" indent="0" marL="0">
              <a:lnSpc>
                <a:spcPts val="1920"/>
              </a:lnSpc>
              <a:buNone/>
            </a:pPr>
            <a:endParaRPr lang="en-US" sz="1530" dirty="0"/>
          </a:p>
        </p:txBody>
      </p:sp>
      <p:sp>
        <p:nvSpPr>
          <p:cNvPr id="11" name="Text 5"/>
          <p:cNvSpPr/>
          <p:nvPr/>
        </p:nvSpPr>
        <p:spPr>
          <a:xfrm>
            <a:off x="4160520" y="1280160"/>
            <a:ext cx="9784080" cy="246888"/>
          </a:xfrm>
          <a:prstGeom prst="rect">
            <a:avLst/>
          </a:prstGeom>
          <a:noFill/>
          <a:ln/>
        </p:spPr>
        <p:txBody>
          <a:bodyPr wrap="none" lIns="0" tIns="0" rIns="0" bIns="0" rtlCol="0" anchor="ctr"/>
          <a:lstStyle/>
          <a:p>
            <a:pPr algn="l" indent="0" marL="0">
              <a:lnSpc>
                <a:spcPts val="1920"/>
              </a:lnSpc>
              <a:buNone/>
            </a:pPr>
            <a:endParaRPr lang="en-US" sz="1530" dirty="0"/>
          </a:p>
        </p:txBody>
      </p:sp>
      <p:sp>
        <p:nvSpPr>
          <p:cNvPr id="12" name="Text 6"/>
          <p:cNvSpPr/>
          <p:nvPr/>
        </p:nvSpPr>
        <p:spPr>
          <a:xfrm>
            <a:off x="685800" y="4562856"/>
            <a:ext cx="13267944" cy="246888"/>
          </a:xfrm>
          <a:prstGeom prst="rect">
            <a:avLst/>
          </a:prstGeom>
          <a:noFill/>
          <a:ln/>
        </p:spPr>
        <p:txBody>
          <a:bodyPr wrap="none" lIns="0" tIns="0" rIns="0" bIns="0" rtlCol="0" anchor="ctr"/>
          <a:lstStyle/>
          <a:p>
            <a:pPr algn="l" indent="0" marL="0">
              <a:lnSpc>
                <a:spcPts val="1920"/>
              </a:lnSpc>
              <a:buNone/>
            </a:pPr>
            <a:endParaRPr lang="en-US" sz="1530" dirty="0"/>
          </a:p>
        </p:txBody>
      </p:sp>
      <p:sp>
        <p:nvSpPr>
          <p:cNvPr id="13" name="Text 7"/>
          <p:cNvSpPr/>
          <p:nvPr/>
        </p:nvSpPr>
        <p:spPr>
          <a:xfrm>
            <a:off x="685800" y="5029200"/>
            <a:ext cx="13267944" cy="1225296"/>
          </a:xfrm>
          <a:prstGeom prst="rect">
            <a:avLst/>
          </a:prstGeom>
          <a:noFill/>
          <a:ln/>
        </p:spPr>
        <p:txBody>
          <a:bodyPr wrap="square" lIns="0" tIns="0" rIns="0" bIns="0" rtlCol="0" anchor="ctr"/>
          <a:lstStyle/>
          <a:p>
            <a:pPr algn="r"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Question 1: AI Fundamentals and Project Scoping (15 Marks)</a:t>
            </a:r>
            <a:endParaRPr lang="en-US" sz="3840" dirty="0"/>
          </a:p>
        </p:txBody>
      </p:sp>
      <p:sp>
        <p:nvSpPr>
          <p:cNvPr id="14" name="Text 8"/>
          <p:cNvSpPr/>
          <p:nvPr/>
        </p:nvSpPr>
        <p:spPr>
          <a:xfrm>
            <a:off x="685800" y="6711696"/>
            <a:ext cx="13267944" cy="246888"/>
          </a:xfrm>
          <a:prstGeom prst="rect">
            <a:avLst/>
          </a:prstGeom>
          <a:noFill/>
          <a:ln/>
        </p:spPr>
        <p:txBody>
          <a:bodyPr wrap="non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a:t>
            </a:r>
            <a:endParaRPr lang="en-US" sz="15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sp>
        <p:nvSpPr>
          <p:cNvPr id="4" name="Text 0"/>
          <p:cNvSpPr/>
          <p:nvPr/>
        </p:nvSpPr>
        <p:spPr>
          <a:xfrm>
            <a:off x="685800" y="3977640"/>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800600"/>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Key difference between AI and ML (2 Marks)</a:t>
            </a:r>
            <a:endParaRPr lang="en-US" sz="3840" dirty="0"/>
          </a:p>
        </p:txBody>
      </p:sp>
      <p:sp>
        <p:nvSpPr>
          <p:cNvPr id="6" name="Text 2"/>
          <p:cNvSpPr/>
          <p:nvPr/>
        </p:nvSpPr>
        <p:spPr>
          <a:xfrm>
            <a:off x="685800" y="5632704"/>
            <a:ext cx="1326794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Artificial Intelligence (AI) is the broad science of making machines act like humans in tasks such as reasoning, problem solving, or decision-making. Machine Learning (ML) is a branch of AI that allows systems to learn from data and improve automatically without being explicitly programmed. In short: AI is the goal, ML is one way to achieve it (Russell &amp; Norvig, 2021).</a:t>
            </a:r>
            <a:endParaRPr lang="en-US" sz="15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sp>
        <p:nvSpPr>
          <p:cNvPr id="4" name="Text 0"/>
          <p:cNvSpPr/>
          <p:nvPr/>
        </p:nvSpPr>
        <p:spPr>
          <a:xfrm>
            <a:off x="685800" y="4096512"/>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928616"/>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Importance of historical overview of AI (1 Mark)</a:t>
            </a:r>
            <a:endParaRPr lang="en-US" sz="3840" dirty="0"/>
          </a:p>
        </p:txBody>
      </p:sp>
      <p:sp>
        <p:nvSpPr>
          <p:cNvPr id="6" name="Text 2"/>
          <p:cNvSpPr/>
          <p:nvPr/>
        </p:nvSpPr>
        <p:spPr>
          <a:xfrm>
            <a:off x="685800" y="5751576"/>
            <a:ext cx="13267944" cy="493776"/>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The history of AI helps new developers understand how ideas and technologies evolved over time. It shows both successes and failures, which prevents repeating mistakes and inspires better innovation (McCorduck, 2004).</a:t>
            </a:r>
            <a:endParaRPr lang="en-US" sz="15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sp>
        <p:nvSpPr>
          <p:cNvPr id="4" name="Text 0"/>
          <p:cNvSpPr/>
          <p:nvPr/>
        </p:nvSpPr>
        <p:spPr>
          <a:xfrm>
            <a:off x="685800" y="366674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AI Foundations (5 Marks)</a:t>
            </a:r>
            <a:endParaRPr lang="en-US" sz="3840" dirty="0"/>
          </a:p>
        </p:txBody>
      </p:sp>
      <p:sp>
        <p:nvSpPr>
          <p:cNvPr id="5" name="Text 1"/>
          <p:cNvSpPr/>
          <p:nvPr/>
        </p:nvSpPr>
        <p:spPr>
          <a:xfrm>
            <a:off x="685800" y="4498848"/>
            <a:ext cx="13267944" cy="1225296"/>
          </a:xfrm>
          <a:prstGeom prst="rect">
            <a:avLst/>
          </a:prstGeom>
          <a:noFill/>
          <a:ln/>
        </p:spPr>
        <p:txBody>
          <a:bodyPr wrap="squar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Importance of AI in electronic devices + example (2 Marks)</a:t>
            </a:r>
            <a:endParaRPr lang="en-US" sz="3840" dirty="0"/>
          </a:p>
        </p:txBody>
      </p:sp>
      <p:sp>
        <p:nvSpPr>
          <p:cNvPr id="6" name="Text 2"/>
          <p:cNvSpPr/>
          <p:nvPr/>
        </p:nvSpPr>
        <p:spPr>
          <a:xfrm>
            <a:off x="685800" y="5934456"/>
            <a:ext cx="1326794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AI makes devices smarter, faster, and more user-friendly. For example, in the healthcare industry, smart wearables like fitness watches use AI to track heart rates and detect irregularities, helping to prevent illnesses early. This improves health and reduces medical costs (Esteva et al., 2019).</a:t>
            </a:r>
            <a:endParaRPr lang="en-US" sz="15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pic>
        <p:nvPicPr>
          <p:cNvPr id="4" name="Image 2" descr="preencoded.png">    </p:cNvPr>
          <p:cNvPicPr>
            <a:picLocks noChangeAspect="1"/>
          </p:cNvPicPr>
          <p:nvPr/>
        </p:nvPicPr>
        <p:blipFill>
          <a:blip r:embed="rId3"/>
          <a:stretch>
            <a:fillRect/>
          </a:stretch>
        </p:blipFill>
        <p:spPr>
          <a:xfrm>
            <a:off x="704088" y="4690872"/>
            <a:ext cx="4270248" cy="2615184"/>
          </a:xfrm>
          <a:prstGeom prst="rect">
            <a:avLst/>
          </a:prstGeom>
        </p:spPr>
      </p:pic>
      <p:pic>
        <p:nvPicPr>
          <p:cNvPr id="5" name="Image 3" descr="preencoded.png">    </p:cNvPr>
          <p:cNvPicPr>
            <a:picLocks noChangeAspect="1"/>
          </p:cNvPicPr>
          <p:nvPr/>
        </p:nvPicPr>
        <p:blipFill>
          <a:blip r:embed="rId4"/>
          <a:stretch>
            <a:fillRect/>
          </a:stretch>
        </p:blipFill>
        <p:spPr>
          <a:xfrm>
            <a:off x="5184648" y="4690872"/>
            <a:ext cx="4270248" cy="2615184"/>
          </a:xfrm>
          <a:prstGeom prst="rect">
            <a:avLst/>
          </a:prstGeom>
        </p:spPr>
      </p:pic>
      <p:pic>
        <p:nvPicPr>
          <p:cNvPr id="6" name="Image 4" descr="preencoded.png">    </p:cNvPr>
          <p:cNvPicPr>
            <a:picLocks noChangeAspect="1"/>
          </p:cNvPicPr>
          <p:nvPr/>
        </p:nvPicPr>
        <p:blipFill>
          <a:blip r:embed="rId5"/>
          <a:stretch>
            <a:fillRect/>
          </a:stretch>
        </p:blipFill>
        <p:spPr>
          <a:xfrm>
            <a:off x="9674352" y="4690872"/>
            <a:ext cx="4270248" cy="2615184"/>
          </a:xfrm>
          <a:prstGeom prst="rect">
            <a:avLst/>
          </a:prstGeom>
        </p:spPr>
      </p:pic>
      <p:pic>
        <p:nvPicPr>
          <p:cNvPr id="7" name="Image 5" descr="preencoded.png">    </p:cNvPr>
          <p:cNvPicPr>
            <a:picLocks noChangeAspect="1"/>
          </p:cNvPicPr>
          <p:nvPr/>
        </p:nvPicPr>
        <p:blipFill>
          <a:blip r:embed="rId6"/>
          <a:stretch>
            <a:fillRect/>
          </a:stretch>
        </p:blipFill>
        <p:spPr>
          <a:xfrm>
            <a:off x="685800" y="5020056"/>
            <a:ext cx="4297680" cy="2295144"/>
          </a:xfrm>
          <a:prstGeom prst="rect">
            <a:avLst/>
          </a:prstGeom>
        </p:spPr>
      </p:pic>
      <p:pic>
        <p:nvPicPr>
          <p:cNvPr id="8" name="Image 6" descr="preencoded.png">    </p:cNvPr>
          <p:cNvPicPr>
            <a:picLocks noChangeAspect="1"/>
          </p:cNvPicPr>
          <p:nvPr/>
        </p:nvPicPr>
        <p:blipFill>
          <a:blip r:embed="rId7"/>
          <a:stretch>
            <a:fillRect/>
          </a:stretch>
        </p:blipFill>
        <p:spPr>
          <a:xfrm>
            <a:off x="5175504" y="5020056"/>
            <a:ext cx="4297680" cy="2295144"/>
          </a:xfrm>
          <a:prstGeom prst="rect">
            <a:avLst/>
          </a:prstGeom>
        </p:spPr>
      </p:pic>
      <p:pic>
        <p:nvPicPr>
          <p:cNvPr id="9" name="Image 7" descr="preencoded.png">    </p:cNvPr>
          <p:cNvPicPr>
            <a:picLocks noChangeAspect="1"/>
          </p:cNvPicPr>
          <p:nvPr/>
        </p:nvPicPr>
        <p:blipFill>
          <a:blip r:embed="rId8"/>
          <a:stretch>
            <a:fillRect/>
          </a:stretch>
        </p:blipFill>
        <p:spPr>
          <a:xfrm>
            <a:off x="9656064" y="5020056"/>
            <a:ext cx="4297680" cy="2295144"/>
          </a:xfrm>
          <a:prstGeom prst="rect">
            <a:avLst/>
          </a:prstGeom>
        </p:spPr>
      </p:pic>
      <p:pic>
        <p:nvPicPr>
          <p:cNvPr id="10" name="Image 8" descr="preencoded.png">    </p:cNvPr>
          <p:cNvPicPr>
            <a:picLocks noChangeAspect="1"/>
          </p:cNvPicPr>
          <p:nvPr/>
        </p:nvPicPr>
        <p:blipFill>
          <a:blip r:embed="rId9"/>
          <a:stretch>
            <a:fillRect/>
          </a:stretch>
        </p:blipFill>
        <p:spPr>
          <a:xfrm>
            <a:off x="685800" y="4919472"/>
            <a:ext cx="4297680" cy="128016"/>
          </a:xfrm>
          <a:prstGeom prst="rect">
            <a:avLst/>
          </a:prstGeom>
        </p:spPr>
      </p:pic>
      <p:pic>
        <p:nvPicPr>
          <p:cNvPr id="11" name="Image 9" descr="preencoded.png">    </p:cNvPr>
          <p:cNvPicPr>
            <a:picLocks noChangeAspect="1"/>
          </p:cNvPicPr>
          <p:nvPr/>
        </p:nvPicPr>
        <p:blipFill>
          <a:blip r:embed="rId10"/>
          <a:stretch>
            <a:fillRect/>
          </a:stretch>
        </p:blipFill>
        <p:spPr>
          <a:xfrm>
            <a:off x="5175504" y="4919472"/>
            <a:ext cx="4297680" cy="128016"/>
          </a:xfrm>
          <a:prstGeom prst="rect">
            <a:avLst/>
          </a:prstGeom>
        </p:spPr>
      </p:pic>
      <p:pic>
        <p:nvPicPr>
          <p:cNvPr id="12" name="Image 10" descr="preencoded.png">    </p:cNvPr>
          <p:cNvPicPr>
            <a:picLocks noChangeAspect="1"/>
          </p:cNvPicPr>
          <p:nvPr/>
        </p:nvPicPr>
        <p:blipFill>
          <a:blip r:embed="rId11"/>
          <a:stretch>
            <a:fillRect/>
          </a:stretch>
        </p:blipFill>
        <p:spPr>
          <a:xfrm>
            <a:off x="9656064" y="4919472"/>
            <a:ext cx="4297680" cy="128016"/>
          </a:xfrm>
          <a:prstGeom prst="rect">
            <a:avLst/>
          </a:prstGeom>
        </p:spPr>
      </p:pic>
      <p:pic>
        <p:nvPicPr>
          <p:cNvPr id="13" name="Image 11" descr="preencoded.png">    </p:cNvPr>
          <p:cNvPicPr>
            <a:picLocks noChangeAspect="1"/>
          </p:cNvPicPr>
          <p:nvPr/>
        </p:nvPicPr>
        <p:blipFill>
          <a:blip r:embed="rId12"/>
          <a:stretch>
            <a:fillRect/>
          </a:stretch>
        </p:blipFill>
        <p:spPr>
          <a:xfrm>
            <a:off x="2542032" y="4690872"/>
            <a:ext cx="585216" cy="585216"/>
          </a:xfrm>
          <a:prstGeom prst="rect">
            <a:avLst/>
          </a:prstGeom>
        </p:spPr>
      </p:pic>
      <p:pic>
        <p:nvPicPr>
          <p:cNvPr id="14" name="Image 12" descr="preencoded.png">    </p:cNvPr>
          <p:cNvPicPr>
            <a:picLocks noChangeAspect="1"/>
          </p:cNvPicPr>
          <p:nvPr/>
        </p:nvPicPr>
        <p:blipFill>
          <a:blip r:embed="rId13"/>
          <a:stretch>
            <a:fillRect/>
          </a:stretch>
        </p:blipFill>
        <p:spPr>
          <a:xfrm>
            <a:off x="7022592" y="4690872"/>
            <a:ext cx="585216" cy="585216"/>
          </a:xfrm>
          <a:prstGeom prst="rect">
            <a:avLst/>
          </a:prstGeom>
        </p:spPr>
      </p:pic>
      <p:pic>
        <p:nvPicPr>
          <p:cNvPr id="15" name="Image 13" descr="preencoded.png">    </p:cNvPr>
          <p:cNvPicPr>
            <a:picLocks noChangeAspect="1"/>
          </p:cNvPicPr>
          <p:nvPr/>
        </p:nvPicPr>
        <p:blipFill>
          <a:blip r:embed="rId14"/>
          <a:stretch>
            <a:fillRect/>
          </a:stretch>
        </p:blipFill>
        <p:spPr>
          <a:xfrm>
            <a:off x="11512296" y="4690872"/>
            <a:ext cx="585216" cy="585216"/>
          </a:xfrm>
          <a:prstGeom prst="rect">
            <a:avLst/>
          </a:prstGeom>
        </p:spPr>
      </p:pic>
      <p:sp>
        <p:nvSpPr>
          <p:cNvPr id="16" name="Text 0"/>
          <p:cNvSpPr/>
          <p:nvPr/>
        </p:nvSpPr>
        <p:spPr>
          <a:xfrm>
            <a:off x="685800" y="302666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840" dirty="0"/>
          </a:p>
        </p:txBody>
      </p:sp>
      <p:sp>
        <p:nvSpPr>
          <p:cNvPr id="17" name="Text 1"/>
          <p:cNvSpPr/>
          <p:nvPr/>
        </p:nvSpPr>
        <p:spPr>
          <a:xfrm>
            <a:off x="685800" y="384962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Social, Economical, and Technical factors (3 Marks)</a:t>
            </a:r>
            <a:endParaRPr lang="en-US" sz="3840" dirty="0"/>
          </a:p>
        </p:txBody>
      </p:sp>
      <p:sp>
        <p:nvSpPr>
          <p:cNvPr id="18" name="Text 2"/>
          <p:cNvSpPr/>
          <p:nvPr/>
        </p:nvSpPr>
        <p:spPr>
          <a:xfrm>
            <a:off x="2752344" y="4773168"/>
            <a:ext cx="173736" cy="438912"/>
          </a:xfrm>
          <a:prstGeom prst="rect">
            <a:avLst/>
          </a:prstGeom>
          <a:noFill/>
          <a:ln/>
        </p:spPr>
        <p:txBody>
          <a:bodyPr wrap="none" lIns="0" tIns="0" rIns="0" bIns="0" rtlCol="0" anchor="ctr"/>
          <a:lstStyle/>
          <a:p>
            <a:pPr algn="l" indent="0" marL="0">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2300" dirty="0"/>
          </a:p>
        </p:txBody>
      </p:sp>
      <p:sp>
        <p:nvSpPr>
          <p:cNvPr id="19" name="Text 3"/>
          <p:cNvSpPr/>
          <p:nvPr/>
        </p:nvSpPr>
        <p:spPr>
          <a:xfrm>
            <a:off x="914400" y="5440680"/>
            <a:ext cx="3849624" cy="310896"/>
          </a:xfrm>
          <a:prstGeom prst="rect">
            <a:avLst/>
          </a:prstGeom>
          <a:noFill/>
          <a:ln/>
        </p:spPr>
        <p:txBody>
          <a:bodyPr wrap="none" lIns="0" tIns="0" rIns="0" bIns="0" rtlCol="0" anchor="ctr"/>
          <a:lstStyle/>
          <a:p>
            <a:pPr algn="l" indent="0" marL="0">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Social factor</a:t>
            </a:r>
            <a:endParaRPr lang="en-US" sz="1920" dirty="0"/>
          </a:p>
        </p:txBody>
      </p:sp>
      <p:sp>
        <p:nvSpPr>
          <p:cNvPr id="20" name="Text 4"/>
          <p:cNvSpPr/>
          <p:nvPr/>
        </p:nvSpPr>
        <p:spPr>
          <a:xfrm>
            <a:off x="914400" y="5925312"/>
            <a:ext cx="3849624" cy="978408"/>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The Smart Surveillance System improves community safety by reducing crime and false alarms (e.g., distinguishing pets from intruders).</a:t>
            </a:r>
            <a:endParaRPr lang="en-US" sz="1530" dirty="0"/>
          </a:p>
        </p:txBody>
      </p:sp>
      <p:sp>
        <p:nvSpPr>
          <p:cNvPr id="21" name="Text 5"/>
          <p:cNvSpPr/>
          <p:nvPr/>
        </p:nvSpPr>
        <p:spPr>
          <a:xfrm>
            <a:off x="5394960" y="5440680"/>
            <a:ext cx="3849624" cy="310896"/>
          </a:xfrm>
          <a:prstGeom prst="rect">
            <a:avLst/>
          </a:prstGeom>
          <a:noFill/>
          <a:ln/>
        </p:spPr>
        <p:txBody>
          <a:bodyPr wrap="none" lIns="0" tIns="0" rIns="0" bIns="0" rtlCol="0" anchor="ctr"/>
          <a:lstStyle/>
          <a:p>
            <a:pPr algn="l" indent="0" marL="0">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Economical factor</a:t>
            </a:r>
            <a:endParaRPr lang="en-US" sz="1920" dirty="0"/>
          </a:p>
        </p:txBody>
      </p:sp>
      <p:sp>
        <p:nvSpPr>
          <p:cNvPr id="22" name="Text 6"/>
          <p:cNvSpPr/>
          <p:nvPr/>
        </p:nvSpPr>
        <p:spPr>
          <a:xfrm>
            <a:off x="5394960" y="5925312"/>
            <a:ext cx="384962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It lowers costs by reducing the need for multiple human security guards, making security more affordable.</a:t>
            </a:r>
            <a:endParaRPr lang="en-US" sz="1530" dirty="0"/>
          </a:p>
        </p:txBody>
      </p:sp>
      <p:sp>
        <p:nvSpPr>
          <p:cNvPr id="23" name="Text 7"/>
          <p:cNvSpPr/>
          <p:nvPr/>
        </p:nvSpPr>
        <p:spPr>
          <a:xfrm>
            <a:off x="7232904" y="4773168"/>
            <a:ext cx="173736" cy="438912"/>
          </a:xfrm>
          <a:prstGeom prst="rect">
            <a:avLst/>
          </a:prstGeom>
          <a:noFill/>
          <a:ln/>
        </p:spPr>
        <p:txBody>
          <a:bodyPr wrap="none" lIns="0" tIns="0" rIns="0" bIns="0" rtlCol="0" anchor="ctr"/>
          <a:lstStyle/>
          <a:p>
            <a:pPr algn="l" indent="0" marL="0">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2300" dirty="0"/>
          </a:p>
        </p:txBody>
      </p:sp>
      <p:sp>
        <p:nvSpPr>
          <p:cNvPr id="24" name="Text 8"/>
          <p:cNvSpPr/>
          <p:nvPr/>
        </p:nvSpPr>
        <p:spPr>
          <a:xfrm>
            <a:off x="9884664" y="5440680"/>
            <a:ext cx="3849624" cy="310896"/>
          </a:xfrm>
          <a:prstGeom prst="rect">
            <a:avLst/>
          </a:prstGeom>
          <a:noFill/>
          <a:ln/>
        </p:spPr>
        <p:txBody>
          <a:bodyPr wrap="none" lIns="0" tIns="0" rIns="0" bIns="0" rtlCol="0" anchor="ctr"/>
          <a:lstStyle/>
          <a:p>
            <a:pPr algn="l" indent="0" marL="0">
              <a:lnSpc>
                <a:spcPts val="2400"/>
              </a:lnSpc>
              <a:buNone/>
            </a:pPr>
            <a:r>
              <a:rPr lang="en-US" sz="1920" dirty="0">
                <a:solidFill>
                  <a:srgbClr val="000000"/>
                </a:solidFill>
                <a:latin typeface="思源黑体-思源黑体-SemiBold" pitchFamily="34" charset="0"/>
                <a:ea typeface="思源黑体-思源黑体-SemiBold" pitchFamily="34" charset="-122"/>
                <a:cs typeface="思源黑体-思源黑体-SemiBold" pitchFamily="34" charset="-120"/>
              </a:rPr>
              <a:t>Technical challenge</a:t>
            </a:r>
            <a:endParaRPr lang="en-US" sz="1920" dirty="0"/>
          </a:p>
        </p:txBody>
      </p:sp>
      <p:sp>
        <p:nvSpPr>
          <p:cNvPr id="25" name="Text 9"/>
          <p:cNvSpPr/>
          <p:nvPr/>
        </p:nvSpPr>
        <p:spPr>
          <a:xfrm>
            <a:off x="9884664" y="5925312"/>
            <a:ext cx="384962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 Ensuring accurate detection in low-light conditions or when pets resemble humans remains a challenge.</a:t>
            </a:r>
            <a:endParaRPr lang="en-US" sz="1530" dirty="0"/>
          </a:p>
        </p:txBody>
      </p:sp>
      <p:sp>
        <p:nvSpPr>
          <p:cNvPr id="26" name="Text 10"/>
          <p:cNvSpPr/>
          <p:nvPr/>
        </p:nvSpPr>
        <p:spPr>
          <a:xfrm>
            <a:off x="11722608" y="4773168"/>
            <a:ext cx="173736" cy="438912"/>
          </a:xfrm>
          <a:prstGeom prst="rect">
            <a:avLst/>
          </a:prstGeom>
          <a:noFill/>
          <a:ln/>
        </p:spPr>
        <p:txBody>
          <a:bodyPr wrap="none" lIns="0" tIns="0" rIns="0" bIns="0" rtlCol="0" anchor="ctr"/>
          <a:lstStyle/>
          <a:p>
            <a:pPr algn="l" indent="0" marL="0">
              <a:lnSpc>
                <a:spcPts val="2760"/>
              </a:lnSpc>
              <a:buNone/>
            </a:pPr>
            <a:r>
              <a:rPr lang="en-US" sz="2300" dirty="0">
                <a:solidFill>
                  <a:srgbClr val="4A4A4A"/>
                </a:solidFill>
                <a:latin typeface="思源黑体-思源黑体-Medium" pitchFamily="34" charset="0"/>
                <a:ea typeface="思源黑体-思源黑体-Medium" pitchFamily="34" charset="-122"/>
                <a:cs typeface="思源黑体-思源黑体-Medium" pitchFamily="34" charset="-120"/>
              </a:rPr>
              <a:t>3</a:t>
            </a:r>
            <a:endParaRPr lang="en-US" sz="2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pic>
        <p:nvPicPr>
          <p:cNvPr id="4" name="Image 2" descr="preencoded.png">    </p:cNvPr>
          <p:cNvPicPr>
            <a:picLocks noChangeAspect="1"/>
          </p:cNvPicPr>
          <p:nvPr/>
        </p:nvPicPr>
        <p:blipFill>
          <a:blip r:embed="rId3"/>
          <a:stretch>
            <a:fillRect/>
          </a:stretch>
        </p:blipFill>
        <p:spPr>
          <a:xfrm>
            <a:off x="685800" y="5504688"/>
            <a:ext cx="4297680" cy="987552"/>
          </a:xfrm>
          <a:prstGeom prst="rect">
            <a:avLst/>
          </a:prstGeom>
        </p:spPr>
      </p:pic>
      <p:pic>
        <p:nvPicPr>
          <p:cNvPr id="5" name="Image 3" descr="preencoded.png">    </p:cNvPr>
          <p:cNvPicPr>
            <a:picLocks noChangeAspect="1"/>
          </p:cNvPicPr>
          <p:nvPr/>
        </p:nvPicPr>
        <p:blipFill>
          <a:blip r:embed="rId4"/>
          <a:stretch>
            <a:fillRect/>
          </a:stretch>
        </p:blipFill>
        <p:spPr>
          <a:xfrm>
            <a:off x="5175504" y="5504688"/>
            <a:ext cx="4297680" cy="987552"/>
          </a:xfrm>
          <a:prstGeom prst="rect">
            <a:avLst/>
          </a:prstGeom>
        </p:spPr>
      </p:pic>
      <p:pic>
        <p:nvPicPr>
          <p:cNvPr id="6" name="Image 4" descr="preencoded.png">    </p:cNvPr>
          <p:cNvPicPr>
            <a:picLocks noChangeAspect="1"/>
          </p:cNvPicPr>
          <p:nvPr/>
        </p:nvPicPr>
        <p:blipFill>
          <a:blip r:embed="rId5"/>
          <a:stretch>
            <a:fillRect/>
          </a:stretch>
        </p:blipFill>
        <p:spPr>
          <a:xfrm>
            <a:off x="9656064" y="5504688"/>
            <a:ext cx="4297680" cy="987552"/>
          </a:xfrm>
          <a:prstGeom prst="rect">
            <a:avLst/>
          </a:prstGeom>
        </p:spPr>
      </p:pic>
      <p:pic>
        <p:nvPicPr>
          <p:cNvPr id="7" name="Image 5" descr="preencoded.png">    </p:cNvPr>
          <p:cNvPicPr>
            <a:picLocks noChangeAspect="1"/>
          </p:cNvPicPr>
          <p:nvPr/>
        </p:nvPicPr>
        <p:blipFill>
          <a:blip r:embed="rId6"/>
          <a:stretch>
            <a:fillRect/>
          </a:stretch>
        </p:blipFill>
        <p:spPr>
          <a:xfrm>
            <a:off x="685800" y="5504688"/>
            <a:ext cx="128016" cy="987552"/>
          </a:xfrm>
          <a:prstGeom prst="rect">
            <a:avLst/>
          </a:prstGeom>
        </p:spPr>
      </p:pic>
      <p:pic>
        <p:nvPicPr>
          <p:cNvPr id="8" name="Image 6" descr="preencoded.png">    </p:cNvPr>
          <p:cNvPicPr>
            <a:picLocks noChangeAspect="1"/>
          </p:cNvPicPr>
          <p:nvPr/>
        </p:nvPicPr>
        <p:blipFill>
          <a:blip r:embed="rId7"/>
          <a:stretch>
            <a:fillRect/>
          </a:stretch>
        </p:blipFill>
        <p:spPr>
          <a:xfrm>
            <a:off x="5175504" y="5504688"/>
            <a:ext cx="128016" cy="987552"/>
          </a:xfrm>
          <a:prstGeom prst="rect">
            <a:avLst/>
          </a:prstGeom>
        </p:spPr>
      </p:pic>
      <p:pic>
        <p:nvPicPr>
          <p:cNvPr id="9" name="Image 7" descr="preencoded.png">    </p:cNvPr>
          <p:cNvPicPr>
            <a:picLocks noChangeAspect="1"/>
          </p:cNvPicPr>
          <p:nvPr/>
        </p:nvPicPr>
        <p:blipFill>
          <a:blip r:embed="rId8"/>
          <a:stretch>
            <a:fillRect/>
          </a:stretch>
        </p:blipFill>
        <p:spPr>
          <a:xfrm>
            <a:off x="9656064" y="5504688"/>
            <a:ext cx="128016" cy="987552"/>
          </a:xfrm>
          <a:prstGeom prst="rect">
            <a:avLst/>
          </a:prstGeom>
        </p:spPr>
      </p:pic>
      <p:sp>
        <p:nvSpPr>
          <p:cNvPr id="10" name="Text 0"/>
          <p:cNvSpPr/>
          <p:nvPr/>
        </p:nvSpPr>
        <p:spPr>
          <a:xfrm>
            <a:off x="685800" y="384962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840" dirty="0"/>
          </a:p>
        </p:txBody>
      </p:sp>
      <p:sp>
        <p:nvSpPr>
          <p:cNvPr id="11" name="Text 1"/>
          <p:cNvSpPr/>
          <p:nvPr/>
        </p:nvSpPr>
        <p:spPr>
          <a:xfrm>
            <a:off x="685800" y="467258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Three critical sources of information (3 Marks)</a:t>
            </a:r>
            <a:endParaRPr lang="en-US" sz="3840" dirty="0"/>
          </a:p>
        </p:txBody>
      </p:sp>
      <p:sp>
        <p:nvSpPr>
          <p:cNvPr id="12" name="Text 2"/>
          <p:cNvSpPr/>
          <p:nvPr/>
        </p:nvSpPr>
        <p:spPr>
          <a:xfrm>
            <a:off x="978408" y="5632704"/>
            <a:ext cx="3776472"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Research papers and journals on AI and computer vision (for the latest techniques).</a:t>
            </a:r>
            <a:endParaRPr lang="en-US" sz="1530" dirty="0"/>
          </a:p>
        </p:txBody>
      </p:sp>
      <p:sp>
        <p:nvSpPr>
          <p:cNvPr id="13" name="Text 3"/>
          <p:cNvSpPr/>
          <p:nvPr/>
        </p:nvSpPr>
        <p:spPr>
          <a:xfrm>
            <a:off x="5468112" y="5632704"/>
            <a:ext cx="3776472"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Hardware manuals and camera datasheets (to understand device limits).</a:t>
            </a:r>
            <a:endParaRPr lang="en-US" sz="1530" dirty="0"/>
          </a:p>
        </p:txBody>
      </p:sp>
      <p:sp>
        <p:nvSpPr>
          <p:cNvPr id="14" name="Text 4"/>
          <p:cNvSpPr/>
          <p:nvPr/>
        </p:nvSpPr>
        <p:spPr>
          <a:xfrm>
            <a:off x="9957816" y="5632704"/>
            <a:ext cx="3776472"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Government regulations/industry standards (to ensure privacy and ethical compliance).</a:t>
            </a:r>
            <a:endParaRPr lang="en-US" sz="153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pic>
        <p:nvPicPr>
          <p:cNvPr id="4" name="Image 2" descr="preencoded.png">    </p:cNvPr>
          <p:cNvPicPr>
            <a:picLocks noChangeAspect="1"/>
          </p:cNvPicPr>
          <p:nvPr/>
        </p:nvPicPr>
        <p:blipFill>
          <a:blip r:embed="rId3"/>
          <a:stretch>
            <a:fillRect/>
          </a:stretch>
        </p:blipFill>
        <p:spPr>
          <a:xfrm>
            <a:off x="685800" y="5861304"/>
            <a:ext cx="6547104" cy="1453896"/>
          </a:xfrm>
          <a:prstGeom prst="rect">
            <a:avLst/>
          </a:prstGeom>
        </p:spPr>
      </p:pic>
      <p:pic>
        <p:nvPicPr>
          <p:cNvPr id="5" name="Image 3" descr="preencoded.png">    </p:cNvPr>
          <p:cNvPicPr>
            <a:picLocks noChangeAspect="1"/>
          </p:cNvPicPr>
          <p:nvPr/>
        </p:nvPicPr>
        <p:blipFill>
          <a:blip r:embed="rId4"/>
          <a:stretch>
            <a:fillRect/>
          </a:stretch>
        </p:blipFill>
        <p:spPr>
          <a:xfrm>
            <a:off x="7415784" y="5861304"/>
            <a:ext cx="6547104" cy="1453896"/>
          </a:xfrm>
          <a:prstGeom prst="rect">
            <a:avLst/>
          </a:prstGeom>
        </p:spPr>
      </p:pic>
      <p:pic>
        <p:nvPicPr>
          <p:cNvPr id="6" name="Image 4" descr="preencoded.png">    </p:cNvPr>
          <p:cNvPicPr>
            <a:picLocks noChangeAspect="1"/>
          </p:cNvPicPr>
          <p:nvPr/>
        </p:nvPicPr>
        <p:blipFill>
          <a:blip r:embed="rId5"/>
          <a:stretch>
            <a:fillRect/>
          </a:stretch>
        </p:blipFill>
        <p:spPr>
          <a:xfrm>
            <a:off x="713232" y="6446520"/>
            <a:ext cx="6483096" cy="841248"/>
          </a:xfrm>
          <a:prstGeom prst="rect">
            <a:avLst/>
          </a:prstGeom>
        </p:spPr>
      </p:pic>
      <p:pic>
        <p:nvPicPr>
          <p:cNvPr id="7" name="Image 5" descr="preencoded.png">    </p:cNvPr>
          <p:cNvPicPr>
            <a:picLocks noChangeAspect="1"/>
          </p:cNvPicPr>
          <p:nvPr/>
        </p:nvPicPr>
        <p:blipFill>
          <a:blip r:embed="rId6"/>
          <a:stretch>
            <a:fillRect/>
          </a:stretch>
        </p:blipFill>
        <p:spPr>
          <a:xfrm>
            <a:off x="7443216" y="6446520"/>
            <a:ext cx="6483096" cy="841248"/>
          </a:xfrm>
          <a:prstGeom prst="rect">
            <a:avLst/>
          </a:prstGeom>
        </p:spPr>
      </p:pic>
      <p:pic>
        <p:nvPicPr>
          <p:cNvPr id="8" name="Image 6" descr="preencoded.png">    </p:cNvPr>
          <p:cNvPicPr>
            <a:picLocks noChangeAspect="1"/>
          </p:cNvPicPr>
          <p:nvPr/>
        </p:nvPicPr>
        <p:blipFill>
          <a:blip r:embed="rId7"/>
          <a:stretch>
            <a:fillRect/>
          </a:stretch>
        </p:blipFill>
        <p:spPr>
          <a:xfrm>
            <a:off x="704088" y="5879592"/>
            <a:ext cx="6510528" cy="594360"/>
          </a:xfrm>
          <a:prstGeom prst="rect">
            <a:avLst/>
          </a:prstGeom>
        </p:spPr>
      </p:pic>
      <p:pic>
        <p:nvPicPr>
          <p:cNvPr id="9" name="Image 7" descr="preencoded.png">    </p:cNvPr>
          <p:cNvPicPr>
            <a:picLocks noChangeAspect="1"/>
          </p:cNvPicPr>
          <p:nvPr/>
        </p:nvPicPr>
        <p:blipFill>
          <a:blip r:embed="rId8"/>
          <a:stretch>
            <a:fillRect/>
          </a:stretch>
        </p:blipFill>
        <p:spPr>
          <a:xfrm>
            <a:off x="7424928" y="5879592"/>
            <a:ext cx="6510528" cy="594360"/>
          </a:xfrm>
          <a:prstGeom prst="rect">
            <a:avLst/>
          </a:prstGeom>
        </p:spPr>
      </p:pic>
      <p:sp>
        <p:nvSpPr>
          <p:cNvPr id="10" name="Text 0"/>
          <p:cNvSpPr/>
          <p:nvPr/>
        </p:nvSpPr>
        <p:spPr>
          <a:xfrm>
            <a:off x="685800" y="3035808"/>
            <a:ext cx="13267944" cy="585216"/>
          </a:xfrm>
          <a:prstGeom prst="rect">
            <a:avLst/>
          </a:prstGeom>
          <a:noFill/>
          <a:ln/>
        </p:spPr>
        <p:txBody>
          <a:bodyPr wrap="none" lIns="0" tIns="0" rIns="0" bIns="0" rtlCol="0" anchor="ctr"/>
          <a:lstStyle/>
          <a:p>
            <a:pPr algn="l" indent="0" marL="0">
              <a:lnSpc>
                <a:spcPts val="4550"/>
              </a:lnSpc>
              <a:buNone/>
            </a:pPr>
            <a:r>
              <a:rPr lang="en-US" sz="3640" dirty="0">
                <a:solidFill>
                  <a:srgbClr val="000000"/>
                </a:solidFill>
                <a:latin typeface="思源黑体-思源黑体-SemiBold" pitchFamily="34" charset="0"/>
                <a:ea typeface="思源黑体-思源黑体-SemiBold" pitchFamily="34" charset="-122"/>
                <a:cs typeface="思源黑体-思源黑体-SemiBold" pitchFamily="34" charset="-120"/>
              </a:rPr>
              <a:t>Project Documentation (10 Marks)</a:t>
            </a:r>
            <a:endParaRPr lang="en-US" sz="3640" dirty="0"/>
          </a:p>
        </p:txBody>
      </p:sp>
      <p:sp>
        <p:nvSpPr>
          <p:cNvPr id="11" name="Text 1"/>
          <p:cNvSpPr/>
          <p:nvPr/>
        </p:nvSpPr>
        <p:spPr>
          <a:xfrm>
            <a:off x="685800" y="3822192"/>
            <a:ext cx="13267944" cy="1161288"/>
          </a:xfrm>
          <a:prstGeom prst="rect">
            <a:avLst/>
          </a:prstGeom>
          <a:noFill/>
          <a:ln/>
        </p:spPr>
        <p:txBody>
          <a:bodyPr wrap="square" lIns="0" tIns="0" rIns="0" bIns="0" rtlCol="0" anchor="ctr"/>
          <a:lstStyle/>
          <a:p>
            <a:pPr algn="l" indent="0" marL="0">
              <a:lnSpc>
                <a:spcPts val="4550"/>
              </a:lnSpc>
              <a:buNone/>
            </a:pPr>
            <a:r>
              <a:rPr lang="en-US" sz="3640" dirty="0">
                <a:solidFill>
                  <a:srgbClr val="000000"/>
                </a:solidFill>
                <a:latin typeface="思源黑体-思源黑体-SemiBold" pitchFamily="34" charset="0"/>
                <a:ea typeface="思源黑体-思源黑体-SemiBold" pitchFamily="34" charset="-122"/>
                <a:cs typeface="思源黑体-思源黑体-SemiBold" pitchFamily="34" charset="-120"/>
              </a:rPr>
              <a:t>Core function of documentation + two key elements (4 Marks)</a:t>
            </a:r>
            <a:endParaRPr lang="en-US" sz="3640" dirty="0"/>
          </a:p>
        </p:txBody>
      </p:sp>
      <p:sp>
        <p:nvSpPr>
          <p:cNvPr id="12" name="Text 2"/>
          <p:cNvSpPr/>
          <p:nvPr/>
        </p:nvSpPr>
        <p:spPr>
          <a:xfrm>
            <a:off x="685800" y="5193792"/>
            <a:ext cx="13267944" cy="466344"/>
          </a:xfrm>
          <a:prstGeom prst="rect">
            <a:avLst/>
          </a:prstGeom>
          <a:noFill/>
          <a:ln/>
        </p:spPr>
        <p:txBody>
          <a:bodyPr wrap="square" lIns="0" tIns="0" rIns="0" bIns="0" rtlCol="0" anchor="ctr"/>
          <a:lstStyle/>
          <a:p>
            <a:pPr algn="l" indent="0" marL="0">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The AI documentation process provides a roadmap for the project, ensuring clarity, collaboration, and accountability. It records essential details that guide development and future maintenance. Two key elements at this stage are:</a:t>
            </a:r>
            <a:endParaRPr lang="en-US" sz="1450" dirty="0"/>
          </a:p>
        </p:txBody>
      </p:sp>
      <p:sp>
        <p:nvSpPr>
          <p:cNvPr id="13" name="Text 3"/>
          <p:cNvSpPr/>
          <p:nvPr/>
        </p:nvSpPr>
        <p:spPr>
          <a:xfrm>
            <a:off x="905256" y="6629400"/>
            <a:ext cx="6117336" cy="237744"/>
          </a:xfrm>
          <a:prstGeom prst="rect">
            <a:avLst/>
          </a:prstGeom>
          <a:noFill/>
          <a:ln/>
        </p:spPr>
        <p:txBody>
          <a:bodyPr wrap="none" lIns="0" tIns="0" rIns="0" bIns="0" rtlCol="0" anchor="ctr"/>
          <a:lstStyle/>
          <a:p>
            <a:pPr algn="l" indent="0" marL="0">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Project goals and scope – what the AI system is meant to achieve.</a:t>
            </a:r>
            <a:endParaRPr lang="en-US" sz="1450" dirty="0"/>
          </a:p>
        </p:txBody>
      </p:sp>
      <p:sp>
        <p:nvSpPr>
          <p:cNvPr id="14" name="Text 4"/>
          <p:cNvSpPr/>
          <p:nvPr/>
        </p:nvSpPr>
        <p:spPr>
          <a:xfrm>
            <a:off x="3895344" y="6007608"/>
            <a:ext cx="137160" cy="329184"/>
          </a:xfrm>
          <a:prstGeom prst="rect">
            <a:avLst/>
          </a:prstGeom>
          <a:noFill/>
          <a:ln/>
        </p:spPr>
        <p:txBody>
          <a:bodyPr wrap="none" lIns="0" tIns="0" rIns="0" bIns="0" rtlCol="0" anchor="ctr"/>
          <a:lstStyle/>
          <a:p>
            <a:pPr algn="l" indent="0" marL="0">
              <a:lnSpc>
                <a:spcPts val="2180"/>
              </a:lnSpc>
              <a:buNone/>
            </a:pPr>
            <a:r>
              <a:rPr lang="en-US" sz="1820" dirty="0">
                <a:solidFill>
                  <a:srgbClr val="4A4A4A"/>
                </a:solidFill>
                <a:latin typeface="思源黑体-思源黑体-Medium" pitchFamily="34" charset="0"/>
                <a:ea typeface="思源黑体-思源黑体-Medium" pitchFamily="34" charset="-122"/>
                <a:cs typeface="思源黑体-思源黑体-Medium" pitchFamily="34" charset="-120"/>
              </a:rPr>
              <a:t>1</a:t>
            </a:r>
            <a:endParaRPr lang="en-US" sz="1820" dirty="0"/>
          </a:p>
        </p:txBody>
      </p:sp>
      <p:sp>
        <p:nvSpPr>
          <p:cNvPr id="15" name="Text 5"/>
          <p:cNvSpPr/>
          <p:nvPr/>
        </p:nvSpPr>
        <p:spPr>
          <a:xfrm>
            <a:off x="7626096" y="6629400"/>
            <a:ext cx="6117336" cy="466344"/>
          </a:xfrm>
          <a:prstGeom prst="rect">
            <a:avLst/>
          </a:prstGeom>
          <a:noFill/>
          <a:ln/>
        </p:spPr>
        <p:txBody>
          <a:bodyPr wrap="square" lIns="0" tIns="0" rIns="0" bIns="0" rtlCol="0" anchor="ctr"/>
          <a:lstStyle/>
          <a:p>
            <a:pPr algn="l" indent="0" marL="0">
              <a:lnSpc>
                <a:spcPts val="1820"/>
              </a:lnSpc>
              <a:buNone/>
            </a:pPr>
            <a:r>
              <a:rPr lang="en-US" sz="1450" dirty="0">
                <a:solidFill>
                  <a:srgbClr val="000000"/>
                </a:solidFill>
                <a:latin typeface="思源黑体-思源黑体-Medium" pitchFamily="34" charset="0"/>
                <a:ea typeface="思源黑体-思源黑体-Medium" pitchFamily="34" charset="-122"/>
                <a:cs typeface="思源黑体-思源黑体-Medium" pitchFamily="34" charset="-120"/>
              </a:rPr>
              <a:t>System requirements – including data type, tools, and AI models to be used.</a:t>
            </a:r>
            <a:endParaRPr lang="en-US" sz="1450" dirty="0"/>
          </a:p>
        </p:txBody>
      </p:sp>
      <p:sp>
        <p:nvSpPr>
          <p:cNvPr id="16" name="Text 6"/>
          <p:cNvSpPr/>
          <p:nvPr/>
        </p:nvSpPr>
        <p:spPr>
          <a:xfrm>
            <a:off x="10616184" y="6007608"/>
            <a:ext cx="137160" cy="329184"/>
          </a:xfrm>
          <a:prstGeom prst="rect">
            <a:avLst/>
          </a:prstGeom>
          <a:noFill/>
          <a:ln/>
        </p:spPr>
        <p:txBody>
          <a:bodyPr wrap="none" lIns="0" tIns="0" rIns="0" bIns="0" rtlCol="0" anchor="ctr"/>
          <a:lstStyle/>
          <a:p>
            <a:pPr algn="l" indent="0" marL="0">
              <a:lnSpc>
                <a:spcPts val="2180"/>
              </a:lnSpc>
              <a:buNone/>
            </a:pPr>
            <a:r>
              <a:rPr lang="en-US" sz="1820" dirty="0">
                <a:solidFill>
                  <a:srgbClr val="4A4A4A"/>
                </a:solidFill>
                <a:latin typeface="思源黑体-思源黑体-Medium" pitchFamily="34" charset="0"/>
                <a:ea typeface="思源黑体-思源黑体-Medium" pitchFamily="34" charset="-122"/>
                <a:cs typeface="思源黑体-思源黑体-Medium" pitchFamily="34" charset="-120"/>
              </a:rPr>
              <a:t>2</a:t>
            </a:r>
            <a:endParaRPr lang="en-US" sz="1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2322576"/>
          </a:xfrm>
          <a:prstGeom prst="rect">
            <a:avLst/>
          </a:prstGeom>
        </p:spPr>
      </p:pic>
      <p:pic>
        <p:nvPicPr>
          <p:cNvPr id="4" name="Image 2" descr="preencoded.png">    </p:cNvPr>
          <p:cNvPicPr>
            <a:picLocks noChangeAspect="1"/>
          </p:cNvPicPr>
          <p:nvPr/>
        </p:nvPicPr>
        <p:blipFill>
          <a:blip r:embed="rId3"/>
          <a:stretch>
            <a:fillRect/>
          </a:stretch>
        </p:blipFill>
        <p:spPr>
          <a:xfrm>
            <a:off x="685800" y="5093208"/>
            <a:ext cx="4297680" cy="987552"/>
          </a:xfrm>
          <a:prstGeom prst="rect">
            <a:avLst/>
          </a:prstGeom>
        </p:spPr>
      </p:pic>
      <p:pic>
        <p:nvPicPr>
          <p:cNvPr id="5" name="Image 3" descr="preencoded.png">    </p:cNvPr>
          <p:cNvPicPr>
            <a:picLocks noChangeAspect="1"/>
          </p:cNvPicPr>
          <p:nvPr/>
        </p:nvPicPr>
        <p:blipFill>
          <a:blip r:embed="rId4"/>
          <a:stretch>
            <a:fillRect/>
          </a:stretch>
        </p:blipFill>
        <p:spPr>
          <a:xfrm>
            <a:off x="5175504" y="5093208"/>
            <a:ext cx="4297680" cy="987552"/>
          </a:xfrm>
          <a:prstGeom prst="rect">
            <a:avLst/>
          </a:prstGeom>
        </p:spPr>
      </p:pic>
      <p:pic>
        <p:nvPicPr>
          <p:cNvPr id="6" name="Image 4" descr="preencoded.png">    </p:cNvPr>
          <p:cNvPicPr>
            <a:picLocks noChangeAspect="1"/>
          </p:cNvPicPr>
          <p:nvPr/>
        </p:nvPicPr>
        <p:blipFill>
          <a:blip r:embed="rId5"/>
          <a:stretch>
            <a:fillRect/>
          </a:stretch>
        </p:blipFill>
        <p:spPr>
          <a:xfrm>
            <a:off x="9656064" y="5093208"/>
            <a:ext cx="4297680" cy="987552"/>
          </a:xfrm>
          <a:prstGeom prst="rect">
            <a:avLst/>
          </a:prstGeom>
        </p:spPr>
      </p:pic>
      <p:sp>
        <p:nvSpPr>
          <p:cNvPr id="7" name="Text 0"/>
          <p:cNvSpPr/>
          <p:nvPr/>
        </p:nvSpPr>
        <p:spPr>
          <a:xfrm>
            <a:off x="685800" y="4261104"/>
            <a:ext cx="13267944" cy="612648"/>
          </a:xfrm>
          <a:prstGeom prst="rect">
            <a:avLst/>
          </a:prstGeom>
          <a:noFill/>
          <a:ln/>
        </p:spPr>
        <p:txBody>
          <a:bodyPr wrap="none" lIns="0" tIns="0" rIns="0" bIns="0" rtlCol="0" anchor="ctr"/>
          <a:lstStyle/>
          <a:p>
            <a:pPr algn="l" indent="0" marL="0">
              <a:lnSpc>
                <a:spcPts val="4800"/>
              </a:lnSpc>
              <a:buNone/>
            </a:pPr>
            <a:r>
              <a:rPr lang="en-US" sz="3840" dirty="0">
                <a:solidFill>
                  <a:srgbClr val="000000"/>
                </a:solidFill>
                <a:latin typeface="思源黑体-思源黑体-SemiBold" pitchFamily="34" charset="0"/>
                <a:ea typeface="思源黑体-思源黑体-SemiBold" pitchFamily="34" charset="-122"/>
                <a:cs typeface="思源黑体-思源黑体-SemiBold" pitchFamily="34" charset="-120"/>
              </a:rPr>
              <a:t>References</a:t>
            </a:r>
            <a:endParaRPr lang="en-US" sz="3840" dirty="0"/>
          </a:p>
        </p:txBody>
      </p:sp>
      <p:sp>
        <p:nvSpPr>
          <p:cNvPr id="8" name="Text 1"/>
          <p:cNvSpPr/>
          <p:nvPr/>
        </p:nvSpPr>
        <p:spPr>
          <a:xfrm>
            <a:off x="914400" y="5221224"/>
            <a:ext cx="384962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Russell, S., &amp; Norvig, P. (2021). Artificial Intelligence: A Modern Approach. Pearson.</a:t>
            </a:r>
            <a:endParaRPr lang="en-US" sz="1530" dirty="0"/>
          </a:p>
        </p:txBody>
      </p:sp>
      <p:sp>
        <p:nvSpPr>
          <p:cNvPr id="9" name="Text 2"/>
          <p:cNvSpPr/>
          <p:nvPr/>
        </p:nvSpPr>
        <p:spPr>
          <a:xfrm>
            <a:off x="5394960" y="5221224"/>
            <a:ext cx="3849624" cy="493776"/>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McCorduck, P. (2004). Machines Who Think. A K Peters.</a:t>
            </a:r>
            <a:endParaRPr lang="en-US" sz="1530" dirty="0"/>
          </a:p>
        </p:txBody>
      </p:sp>
      <p:sp>
        <p:nvSpPr>
          <p:cNvPr id="10" name="Text 3"/>
          <p:cNvSpPr/>
          <p:nvPr/>
        </p:nvSpPr>
        <p:spPr>
          <a:xfrm>
            <a:off x="9884664" y="5221224"/>
            <a:ext cx="3849624" cy="731520"/>
          </a:xfrm>
          <a:prstGeom prst="rect">
            <a:avLst/>
          </a:prstGeom>
          <a:noFill/>
          <a:ln/>
        </p:spPr>
        <p:txBody>
          <a:bodyPr wrap="square" lIns="0" tIns="0" rIns="0" bIns="0" rtlCol="0" anchor="ctr"/>
          <a:lstStyle/>
          <a:p>
            <a:pPr algn="l" indent="0" marL="0">
              <a:lnSpc>
                <a:spcPts val="1920"/>
              </a:lnSpc>
              <a:buNone/>
            </a:pPr>
            <a:r>
              <a:rPr lang="en-US" sz="1530" dirty="0">
                <a:solidFill>
                  <a:srgbClr val="000000"/>
                </a:solidFill>
                <a:latin typeface="思源黑体-思源黑体-Medium" pitchFamily="34" charset="0"/>
                <a:ea typeface="思源黑体-思源黑体-Medium" pitchFamily="34" charset="-122"/>
                <a:cs typeface="思源黑体-思源黑体-Medium" pitchFamily="34" charset="-120"/>
              </a:rPr>
              <a:t>Esteva, A., et al. (2019). "A guide to deep learning in healthcare." Nature Medicine, 25(1), 24–29.</a:t>
            </a:r>
            <a:endParaRPr lang="en-US" sz="15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8238744"/>
          </a:xfrm>
          <a:prstGeom prst="rect">
            <a:avLst/>
          </a:prstGeom>
        </p:spPr>
      </p:pic>
      <p:pic>
        <p:nvPicPr>
          <p:cNvPr id="3" name="Image 1" descr="preencoded.png">    </p:cNvPr>
          <p:cNvPicPr>
            <a:picLocks noChangeAspect="1"/>
          </p:cNvPicPr>
          <p:nvPr/>
        </p:nvPicPr>
        <p:blipFill>
          <a:blip r:embed="rId2"/>
          <a:stretch>
            <a:fillRect/>
          </a:stretch>
        </p:blipFill>
        <p:spPr>
          <a:xfrm>
            <a:off x="0" y="0"/>
            <a:ext cx="14630400" cy="8238744"/>
          </a:xfrm>
          <a:prstGeom prst="rect">
            <a:avLst/>
          </a:prstGeom>
        </p:spPr>
      </p:pic>
      <p:sp>
        <p:nvSpPr>
          <p:cNvPr id="4" name="Text 0"/>
          <p:cNvSpPr/>
          <p:nvPr/>
        </p:nvSpPr>
        <p:spPr>
          <a:xfrm>
            <a:off x="685800" y="3593592"/>
            <a:ext cx="13267944" cy="841248"/>
          </a:xfrm>
          <a:prstGeom prst="rect">
            <a:avLst/>
          </a:prstGeom>
          <a:noFill/>
          <a:ln/>
        </p:spPr>
        <p:txBody>
          <a:bodyPr wrap="none" lIns="0" tIns="0" rIns="0" bIns="0" rtlCol="0" anchor="ctr"/>
          <a:lstStyle/>
          <a:p>
            <a:pPr algn="ctr" indent="0" marL="0">
              <a:lnSpc>
                <a:spcPts val="6620"/>
              </a:lnSpc>
              <a:buNone/>
            </a:pPr>
            <a:r>
              <a:rPr lang="en-US" sz="5290" dirty="0">
                <a:solidFill>
                  <a:srgbClr val="000000"/>
                </a:solidFill>
                <a:latin typeface="思源黑体-思源黑体-SemiBold" pitchFamily="34" charset="0"/>
                <a:ea typeface="思源黑体-思源黑体-SemiBold" pitchFamily="34" charset="-122"/>
                <a:cs typeface="思源黑体-思源黑体-SemiBold" pitchFamily="34" charset="-120"/>
              </a:rPr>
              <a:t>Thank You</a:t>
            </a:r>
            <a:endParaRPr lang="en-US" sz="52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2025-10-02T12:45:54Z</dcterms:created>
  <dcterms:modified xsi:type="dcterms:W3CDTF">2025-10-02T12:45:54Z</dcterms:modified>
</cp:coreProperties>
</file>